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[0:00 - 0:25] Standing at the podium with the title screen displayed.</a:t>
            </a:r>
          </a:p>
          <a:p>
            <a:r>
              <a:t>'Hi everyone, my name is Pranav Balaji. If you look out the window at almost any high school in America, you will see a sea of black asphalt parking lots absorbing heat all day long. Today I am presenting SolarSchools USA, an open-source platform that turns idle school asphalt into clean power, shaded parking, and millions in classroom funding.'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[0:25 - 0:50] 'Public schools spend $8 billion every single year on electricity—it is their second-highest expense after teacher salaries. Meanwhile, 100,000 public schools have unshaded asphalt lots that bake under the sun, reaching surface temperatures of 145 degrees Fahrenheit. Historically, schools couldn't afford $20,000 feasibility consultants, and because schools don't pay taxes, they were shut out of federal clean energy tax credits.'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[0:50 - 1:15] 'In 2022, Congress passed Section 6417 of the Inflation Reduction Act, known as Direct Pay or Elective Pay. For the first time in history, the IRS writes an uncapped, upfront cash reimbursement check for 30% to 50% of the cost directly to public school districts. If a school is in a Title I low-income community, they get an extra 10% bonus check. But over 90% of school boards still don't know this program exists.'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[1:15 - 1:40] 'To solve this awareness gap, I built SolarSchools USA. It combines four computational layers: an NCES school directory with ground-truthed parking centroids, live physics modeling using the Department of Energy's NREL PVWatts API with a 65% canopy packing factor, a 25-year cashflow model with state commercial electricity tariffs, and a 1-click School Board Action Brief generator.'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[1:40 - 2:15] 'Here is our proof of concept: The Tale of Two Bay Area Campuses. On the left, Monta Vista High School in Cupertino completed 550 kW of solar canopies in 2021. They are actively saving $145,000 every single year on avoided PG&amp;E bills! But just 10 miles away at Palo Alto High School, their massive 7,200 m² parking lot sits 100% unshaded. Palo Alto High is surrendering $140,000 every year to the utility company, with an unclaimed $754,000 IRS cash check waiting at the Treasury. If they delay 5 years, that's $700,000 in permanent financial losses.'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[2:15 - 2:40] 'Our financial math is grounded in real commercial economics. Parking canopies have a structural steel premium of $3.10 per watt. But after the 40% IRS Direct Pay check, the net capital outlay drops to just $1.86 per watt. Under standard commercial tariffs, simple payback occurs in 2.6 to 4.5 years, generating over $11 million in cumulative net savings over 25 years after accounting for operations and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[2:40 - 3:00] 'We architected this in three distinct phases: Phase 1 calibrated our spatial packing and yield numbers against real Bay Area schools like Cupertino and FUHSD. Phase 2 scales across all 10,000 California schools using CalEnviroScreen equity overlays and Title 24 codes. Phase 3 scales nationwide across 100,000 campuses using NCES data and EPA eGRID regional carbon intensity.'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[3:00 - 3:20] 'Here is our civic climax: Tab 5 of the app generates a School Board Action Brief. In one click, students or PTAs get a complete proposal with exact engineering specs, a 25-year cashflow table, IRS Form 990-T filing instructions, and turnkey School Board Resolution text ready for trustees to introduce at their next public board meeting.'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[3:20 - 3:35] 'Canopies deliver immense co-benefits beyond electricity bills: they drop asphalt temperatures by 30 degrees to cool the campus microclimate, provide built-in conduit for Level 2 teacher EV charging and electric school bus fleets, and serve as a physical STEM laboratory for clean energy education.'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[3:35 - 3:50] 'In summary: public school parking lots are idle clean energy goldmines. IRS Direct Pay eliminates the capital barrier. Every year of delay costs a single high school $140,000. Let's shade our parking lots, claim our federal funds, and power our classrooms.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01 / 10</a:t>
            </a:r>
          </a:p>
        </p:txBody>
      </p:sp>
      <p:sp>
        <p:nvSpPr>
          <p:cNvPr id="7" name="Rectangle 6"/>
          <p:cNvSpPr/>
          <p:nvPr/>
        </p:nvSpPr>
        <p:spPr>
          <a:xfrm>
            <a:off x="0" y="493776"/>
            <a:ext cx="1219169"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2926080"/>
          </a:xfrm>
          <a:prstGeom prst="rect">
            <a:avLst/>
          </a:prstGeom>
          <a:noFill/>
        </p:spPr>
        <p:txBody>
          <a:bodyPr wrap="square">
            <a:spAutoFit/>
          </a:bodyPr>
          <a:lstStyle/>
          <a:p>
            <a:pPr>
              <a:defRPr sz="1100" b="1">
                <a:solidFill>
                  <a:srgbClr val="38BDF8"/>
                </a:solidFill>
              </a:defRPr>
            </a:pPr>
            <a:r>
              <a:t>COMPETITION PITCH PRESENTATION</a:t>
            </a:r>
          </a:p>
          <a:p>
            <a:pPr>
              <a:spcBef>
                <a:spcPts val="800"/>
              </a:spcBef>
              <a:defRPr sz="4400" b="1">
                <a:solidFill>
                  <a:srgbClr val="F1F5F9"/>
                </a:solidFill>
              </a:defRPr>
            </a:pPr>
            <a:r>
              <a:t>SolarSchools USA</a:t>
            </a:r>
          </a:p>
          <a:p>
            <a:pPr>
              <a:spcBef>
                <a:spcPts val="1000"/>
              </a:spcBef>
              <a:defRPr sz="1700">
                <a:solidFill>
                  <a:srgbClr val="94A3B8"/>
                </a:solidFill>
              </a:defRPr>
            </a:pPr>
            <a:r>
              <a:t>Democratizing Clean Energy Finance for 100,000+ US Public Schools</a:t>
            </a:r>
            <a:br/>
            <a:r>
              <a:t>Through Geospatial AI &amp; IRS Direct Pay</a:t>
            </a:r>
          </a:p>
        </p:txBody>
      </p:sp>
      <p:sp>
        <p:nvSpPr>
          <p:cNvPr id="9" name="TextBox 8"/>
          <p:cNvSpPr txBox="1"/>
          <p:nvPr/>
        </p:nvSpPr>
        <p:spPr>
          <a:xfrm>
            <a:off x="731520" y="3931920"/>
            <a:ext cx="10698480" cy="822960"/>
          </a:xfrm>
          <a:prstGeom prst="rect">
            <a:avLst/>
          </a:prstGeom>
          <a:noFill/>
        </p:spPr>
        <p:txBody>
          <a:bodyPr wrap="none">
            <a:spAutoFit/>
          </a:bodyPr>
          <a:lstStyle/>
          <a:p>
            <a:pPr>
              <a:defRPr sz="1150" b="1">
                <a:solidFill>
                  <a:srgbClr val="F1F5F9"/>
                </a:solidFill>
              </a:defRPr>
            </a:pPr>
            <a:r>
              <a:t>Presenter: Pranav Balaji (Solo Competitor)   |   Event: SVYCA Youth For Earth Hackathon @ Stanford   |   October 2026</a:t>
            </a:r>
          </a:p>
        </p:txBody>
      </p:sp>
      <p:sp>
        <p:nvSpPr>
          <p:cNvPr id="10" name="Rounded Rectangle 9"/>
          <p:cNvSpPr/>
          <p:nvPr/>
        </p:nvSpPr>
        <p:spPr>
          <a:xfrm>
            <a:off x="731520" y="4663440"/>
            <a:ext cx="10728655" cy="137160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663440"/>
            <a:ext cx="10728655"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800600"/>
            <a:ext cx="10149840" cy="1097280"/>
          </a:xfrm>
          <a:prstGeom prst="rect">
            <a:avLst/>
          </a:prstGeom>
          <a:noFill/>
        </p:spPr>
        <p:txBody>
          <a:bodyPr wrap="square">
            <a:spAutoFit/>
          </a:bodyPr>
          <a:lstStyle/>
          <a:p>
            <a:pPr>
              <a:defRPr sz="1000" b="1">
                <a:solidFill>
                  <a:srgbClr val="38BDF8"/>
                </a:solidFill>
              </a:defRPr>
            </a:pPr>
            <a:r>
              <a:t>THE MISSION</a:t>
            </a:r>
          </a:p>
          <a:p>
            <a:pPr>
              <a:spcBef>
                <a:spcPts val="400"/>
              </a:spcBef>
              <a:defRPr sz="1200">
                <a:solidFill>
                  <a:srgbClr val="F1F5F9"/>
                </a:solidFill>
              </a:defRPr>
            </a:pPr>
            <a:r>
              <a:t>Transform idle public school asphalt parking lots into clean energy stations, shaded parking, and millions of dollars in recurring operating savings for classrooms with zero local tax increases.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02 / 10</a:t>
            </a:r>
          </a:p>
        </p:txBody>
      </p:sp>
      <p:sp>
        <p:nvSpPr>
          <p:cNvPr id="7" name="Rectangle 6"/>
          <p:cNvSpPr/>
          <p:nvPr/>
        </p:nvSpPr>
        <p:spPr>
          <a:xfrm>
            <a:off x="0" y="493776"/>
            <a:ext cx="2438339"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PROBLEM STATEMENT</a:t>
            </a:r>
          </a:p>
          <a:p>
            <a:pPr>
              <a:spcBef>
                <a:spcPts val="200"/>
              </a:spcBef>
              <a:defRPr sz="2200" b="1">
                <a:solidFill>
                  <a:srgbClr val="F1F5F9"/>
                </a:solidFill>
              </a:defRPr>
            </a:pPr>
            <a:r>
              <a:t>The $8 Billion Drain &amp; Baking Asphalt</a:t>
            </a:r>
          </a:p>
          <a:p>
            <a:pPr>
              <a:spcBef>
                <a:spcPts val="400"/>
              </a:spcBef>
              <a:defRPr sz="1150">
                <a:solidFill>
                  <a:srgbClr val="94A3B8"/>
                </a:solidFill>
              </a:defRPr>
            </a:pPr>
            <a:r>
              <a:t>Public schools face crushing utility bills while sitting on thousands of square meters of unshaded asphalt.</a:t>
            </a:r>
          </a:p>
        </p:txBody>
      </p:sp>
      <p:sp>
        <p:nvSpPr>
          <p:cNvPr id="9" name="Rounded Rectangle 8"/>
          <p:cNvSpPr/>
          <p:nvPr/>
        </p:nvSpPr>
        <p:spPr>
          <a:xfrm>
            <a:off x="548640"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3474720"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103120"/>
            <a:ext cx="3108960" cy="3931920"/>
          </a:xfrm>
          <a:prstGeom prst="rect">
            <a:avLst/>
          </a:prstGeom>
          <a:noFill/>
        </p:spPr>
        <p:txBody>
          <a:bodyPr wrap="square">
            <a:spAutoFit/>
          </a:bodyPr>
          <a:lstStyle/>
          <a:p>
            <a:pPr>
              <a:defRPr sz="3200" b="1">
                <a:solidFill>
                  <a:srgbClr val="EF4444"/>
                </a:solidFill>
              </a:defRPr>
            </a:pPr>
            <a:r>
              <a:t>$8.0 Billion</a:t>
            </a:r>
          </a:p>
          <a:p>
            <a:pPr>
              <a:spcBef>
                <a:spcPts val="400"/>
              </a:spcBef>
              <a:defRPr sz="850" b="1">
                <a:solidFill>
                  <a:srgbClr val="64748B"/>
                </a:solidFill>
              </a:defRPr>
            </a:pPr>
            <a:r>
              <a:t>ANNUAL US SCHOOL ENERGY DRAIN</a:t>
            </a:r>
          </a:p>
          <a:p>
            <a:pPr>
              <a:spcBef>
                <a:spcPts val="1400"/>
              </a:spcBef>
              <a:defRPr sz="1100">
                <a:solidFill>
                  <a:srgbClr val="94A3B8"/>
                </a:solidFill>
              </a:defRPr>
            </a:pPr>
            <a:r>
              <a:t>Energy is the second-largest operating cost for school districts nationwide, surpassed only by teacher salaries.</a:t>
            </a:r>
            <a:br/>
            <a:br/>
            <a:r>
              <a:t>School boards surrender millions of operating dollars every single year directly to retail utility monopolies.</a:t>
            </a:r>
          </a:p>
        </p:txBody>
      </p:sp>
      <p:sp>
        <p:nvSpPr>
          <p:cNvPr id="12" name="Rounded Rectangle 11"/>
          <p:cNvSpPr/>
          <p:nvPr/>
        </p:nvSpPr>
        <p:spPr>
          <a:xfrm>
            <a:off x="4358030"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8030" y="1920240"/>
            <a:ext cx="3474720"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0910" y="2103120"/>
            <a:ext cx="3108960" cy="3931920"/>
          </a:xfrm>
          <a:prstGeom prst="rect">
            <a:avLst/>
          </a:prstGeom>
          <a:noFill/>
        </p:spPr>
        <p:txBody>
          <a:bodyPr wrap="square">
            <a:spAutoFit/>
          </a:bodyPr>
          <a:lstStyle/>
          <a:p>
            <a:pPr>
              <a:defRPr sz="3200" b="1">
                <a:solidFill>
                  <a:srgbClr val="EF4444"/>
                </a:solidFill>
              </a:defRPr>
            </a:pPr>
            <a:r>
              <a:t>100,000+</a:t>
            </a:r>
          </a:p>
          <a:p>
            <a:pPr>
              <a:spcBef>
                <a:spcPts val="400"/>
              </a:spcBef>
              <a:defRPr sz="850" b="1">
                <a:solidFill>
                  <a:srgbClr val="64748B"/>
                </a:solidFill>
              </a:defRPr>
            </a:pPr>
            <a:r>
              <a:t>UNSHADED PUBLIC SCHOOL LOTS</a:t>
            </a:r>
          </a:p>
          <a:p>
            <a:pPr>
              <a:spcBef>
                <a:spcPts val="1400"/>
              </a:spcBef>
              <a:defRPr sz="1100">
                <a:solidFill>
                  <a:srgbClr val="94A3B8"/>
                </a:solidFill>
              </a:defRPr>
            </a:pPr>
            <a:r>
              <a:t>Massive black asphalt lots act as microclimate heat islands, elevating surface temperatures by +30 to 45 degrees Fahrenheit.</a:t>
            </a:r>
            <a:br/>
            <a:br/>
            <a:r>
              <a:t>They sit as completely idle real estate that could generate clean megawatts of power.</a:t>
            </a:r>
          </a:p>
        </p:txBody>
      </p:sp>
      <p:sp>
        <p:nvSpPr>
          <p:cNvPr id="15" name="Rounded Rectangle 14"/>
          <p:cNvSpPr/>
          <p:nvPr/>
        </p:nvSpPr>
        <p:spPr>
          <a:xfrm>
            <a:off x="8168335"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68335" y="1920240"/>
            <a:ext cx="3474720"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215" y="2103120"/>
            <a:ext cx="3108960" cy="3931920"/>
          </a:xfrm>
          <a:prstGeom prst="rect">
            <a:avLst/>
          </a:prstGeom>
          <a:noFill/>
        </p:spPr>
        <p:txBody>
          <a:bodyPr wrap="square">
            <a:spAutoFit/>
          </a:bodyPr>
          <a:lstStyle/>
          <a:p>
            <a:pPr>
              <a:defRPr sz="3200" b="1">
                <a:solidFill>
                  <a:srgbClr val="EF4444"/>
                </a:solidFill>
              </a:defRPr>
            </a:pPr>
            <a:r>
              <a:t>$25,000+</a:t>
            </a:r>
          </a:p>
          <a:p>
            <a:pPr>
              <a:spcBef>
                <a:spcPts val="400"/>
              </a:spcBef>
              <a:defRPr sz="850" b="1">
                <a:solidFill>
                  <a:srgbClr val="64748B"/>
                </a:solidFill>
              </a:defRPr>
            </a:pPr>
            <a:r>
              <a:t>CONSULTANT COST BARRIER</a:t>
            </a:r>
          </a:p>
          <a:p>
            <a:pPr>
              <a:spcBef>
                <a:spcPts val="1400"/>
              </a:spcBef>
              <a:defRPr sz="1100">
                <a:solidFill>
                  <a:srgbClr val="94A3B8"/>
                </a:solidFill>
              </a:defRPr>
            </a:pPr>
            <a:r>
              <a:t>Because schools are tax-exempt, they historically could not use federal tax credits. Private solar consultants charge $10K to $25K just to evaluate a site.</a:t>
            </a:r>
            <a:br/>
            <a:br/>
            <a:r>
              <a:t>Under-resourced suburban and rural districts are left completely behind.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03 / 10</a:t>
            </a:r>
          </a:p>
        </p:txBody>
      </p:sp>
      <p:sp>
        <p:nvSpPr>
          <p:cNvPr id="7" name="Rectangle 6"/>
          <p:cNvSpPr/>
          <p:nvPr/>
        </p:nvSpPr>
        <p:spPr>
          <a:xfrm>
            <a:off x="0" y="493776"/>
            <a:ext cx="3657508"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POLICY REVOLUTION</a:t>
            </a:r>
          </a:p>
          <a:p>
            <a:pPr>
              <a:spcBef>
                <a:spcPts val="200"/>
              </a:spcBef>
              <a:defRPr sz="2200" b="1">
                <a:solidFill>
                  <a:srgbClr val="F1F5F9"/>
                </a:solidFill>
              </a:defRPr>
            </a:pPr>
            <a:r>
              <a:t>The Game-Changer: IRA Section 6417 'Direct Pay'</a:t>
            </a:r>
          </a:p>
          <a:p>
            <a:pPr>
              <a:spcBef>
                <a:spcPts val="400"/>
              </a:spcBef>
              <a:defRPr sz="1150">
                <a:solidFill>
                  <a:srgbClr val="94A3B8"/>
                </a:solidFill>
              </a:defRPr>
            </a:pPr>
            <a:r>
              <a:t>For the first time in American history, public schools receive upfront cash reimbursement checks from the IRS.</a:t>
            </a:r>
          </a:p>
        </p:txBody>
      </p:sp>
      <p:sp>
        <p:nvSpPr>
          <p:cNvPr id="9" name="Rounded Rectangle 8"/>
          <p:cNvSpPr/>
          <p:nvPr/>
        </p:nvSpPr>
        <p:spPr>
          <a:xfrm>
            <a:off x="548640" y="1920240"/>
            <a:ext cx="53035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53035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4846320" cy="4023360"/>
          </a:xfrm>
          <a:prstGeom prst="rect">
            <a:avLst/>
          </a:prstGeom>
          <a:noFill/>
        </p:spPr>
        <p:txBody>
          <a:bodyPr wrap="square">
            <a:spAutoFit/>
          </a:bodyPr>
          <a:lstStyle/>
          <a:p>
            <a:pPr>
              <a:defRPr sz="1200" b="1">
                <a:solidFill>
                  <a:srgbClr val="F1F5F9"/>
                </a:solidFill>
              </a:defRPr>
            </a:pPr>
            <a:r>
              <a:t>HOW DIRECT PAY WORKS FOR SCHOOLS</a:t>
            </a:r>
          </a:p>
          <a:p>
            <a:pPr>
              <a:spcBef>
                <a:spcPts val="1200"/>
              </a:spcBef>
              <a:defRPr sz="1100" b="1">
                <a:solidFill>
                  <a:srgbClr val="10B981"/>
                </a:solidFill>
              </a:defRPr>
            </a:pPr>
            <a:r>
              <a:t>Step 1: Electronic Pre-Filing</a:t>
            </a:r>
          </a:p>
          <a:p>
            <a:pPr>
              <a:spcBef>
                <a:spcPts val="200"/>
              </a:spcBef>
              <a:defRPr sz="950">
                <a:solidFill>
                  <a:srgbClr val="94A3B8"/>
                </a:solidFill>
              </a:defRPr>
            </a:pPr>
            <a:r>
              <a:t>District completes online IRS Pre-Filing Registration to receive an electronic project authorization number.</a:t>
            </a:r>
          </a:p>
          <a:p>
            <a:pPr>
              <a:spcBef>
                <a:spcPts val="1200"/>
              </a:spcBef>
              <a:defRPr sz="1100" b="1">
                <a:solidFill>
                  <a:srgbClr val="10B981"/>
                </a:solidFill>
              </a:defRPr>
            </a:pPr>
            <a:r>
              <a:t>Step 2: File Form 990-T + Form 3468</a:t>
            </a:r>
          </a:p>
          <a:p>
            <a:pPr>
              <a:spcBef>
                <a:spcPts val="200"/>
              </a:spcBef>
              <a:defRPr sz="950">
                <a:solidFill>
                  <a:srgbClr val="94A3B8"/>
                </a:solidFill>
              </a:defRPr>
            </a:pPr>
            <a:r>
              <a:t>District reports capital deployment and attaches clean energy investment tax schedule to annual informational return.</a:t>
            </a:r>
          </a:p>
          <a:p>
            <a:pPr>
              <a:spcBef>
                <a:spcPts val="1200"/>
              </a:spcBef>
              <a:defRPr sz="1100" b="1">
                <a:solidFill>
                  <a:srgbClr val="10B981"/>
                </a:solidFill>
              </a:defRPr>
            </a:pPr>
            <a:r>
              <a:t>Step 3: Direct Cash Check Issued</a:t>
            </a:r>
          </a:p>
          <a:p>
            <a:pPr>
              <a:spcBef>
                <a:spcPts val="200"/>
              </a:spcBef>
              <a:defRPr sz="950">
                <a:solidFill>
                  <a:srgbClr val="94A3B8"/>
                </a:solidFill>
              </a:defRPr>
            </a:pPr>
            <a:r>
              <a:t>The U.S. Treasury issues a cash refund check or direct deposit covering 30% to 50% of the project's turnkey cost.</a:t>
            </a:r>
          </a:p>
        </p:txBody>
      </p:sp>
      <p:sp>
        <p:nvSpPr>
          <p:cNvPr id="12" name="Rounded Rectangle 11"/>
          <p:cNvSpPr/>
          <p:nvPr/>
        </p:nvSpPr>
        <p:spPr>
          <a:xfrm>
            <a:off x="6217920" y="1920240"/>
            <a:ext cx="5425135"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920240"/>
            <a:ext cx="5425135"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57400"/>
            <a:ext cx="4937760" cy="4023360"/>
          </a:xfrm>
          <a:prstGeom prst="rect">
            <a:avLst/>
          </a:prstGeom>
          <a:noFill/>
        </p:spPr>
        <p:txBody>
          <a:bodyPr wrap="square">
            <a:spAutoFit/>
          </a:bodyPr>
          <a:lstStyle/>
          <a:p>
            <a:pPr>
              <a:defRPr sz="1200" b="1">
                <a:solidFill>
                  <a:srgbClr val="F1F5F9"/>
                </a:solidFill>
              </a:defRPr>
            </a:pPr>
            <a:r>
              <a:t>THE FEDERAL INCENTIVE BONUS STACK</a:t>
            </a:r>
          </a:p>
          <a:p>
            <a:pPr>
              <a:spcBef>
                <a:spcPts val="1000"/>
              </a:spcBef>
              <a:defRPr sz="1000" b="1">
                <a:solidFill>
                  <a:srgbClr val="F1F5F9"/>
                </a:solidFill>
              </a:defRPr>
            </a:pPr>
            <a:r>
              <a:t>Base Incentive: 30% Cash Reimbursement</a:t>
            </a:r>
            <a:br/>
            <a:r>
              <a:t>Prevailing wage &amp; registered apprenticeship compliance.</a:t>
            </a:r>
          </a:p>
          <a:p>
            <a:pPr>
              <a:spcBef>
                <a:spcPts val="800"/>
              </a:spcBef>
              <a:defRPr sz="1000" b="1">
                <a:solidFill>
                  <a:srgbClr val="38BDF8"/>
                </a:solidFill>
              </a:defRPr>
            </a:pPr>
            <a:r>
              <a:t>Title I Low-Income Bonus: +10% Cash Check</a:t>
            </a:r>
            <a:br/>
            <a:r>
              <a:t>Campuses where &gt;= 40% of students come from low-income families.</a:t>
            </a:r>
          </a:p>
          <a:p>
            <a:pPr>
              <a:spcBef>
                <a:spcPts val="800"/>
              </a:spcBef>
              <a:defRPr sz="1000" b="1">
                <a:solidFill>
                  <a:srgbClr val="38BDF8"/>
                </a:solidFill>
              </a:defRPr>
            </a:pPr>
            <a:r>
              <a:t>Energy Community Bonus: +10% Cash Check</a:t>
            </a:r>
            <a:br/>
            <a:r>
              <a:t>Brownfield sites or tracts adjacent to retired coal infrastructure.</a:t>
            </a:r>
          </a:p>
          <a:p>
            <a:pPr>
              <a:spcBef>
                <a:spcPts val="1200"/>
              </a:spcBef>
              <a:defRPr sz="1300" b="1">
                <a:solidFill>
                  <a:srgbClr val="10B981"/>
                </a:solidFill>
              </a:defRPr>
            </a:pPr>
            <a:r>
              <a:t>Total Federal Support: Up to 50% Cash</a:t>
            </a:r>
          </a:p>
          <a:p>
            <a:pPr>
              <a:spcBef>
                <a:spcPts val="1400"/>
              </a:spcBef>
              <a:defRPr sz="1000" b="1">
                <a:solidFill>
                  <a:srgbClr val="EF4444"/>
                </a:solidFill>
              </a:defRPr>
            </a:pPr>
            <a:r>
              <a:t>THE AWARENESS GAP: Over 90% of school boards do not know this federal cash check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04 / 10</a:t>
            </a:r>
          </a:p>
        </p:txBody>
      </p:sp>
      <p:sp>
        <p:nvSpPr>
          <p:cNvPr id="7" name="Rectangle 6"/>
          <p:cNvSpPr/>
          <p:nvPr/>
        </p:nvSpPr>
        <p:spPr>
          <a:xfrm>
            <a:off x="0" y="493776"/>
            <a:ext cx="4876678"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TECHNICAL ARCHITECTURE</a:t>
            </a:r>
          </a:p>
          <a:p>
            <a:pPr>
              <a:spcBef>
                <a:spcPts val="200"/>
              </a:spcBef>
              <a:defRPr sz="2200" b="1">
                <a:solidFill>
                  <a:srgbClr val="F1F5F9"/>
                </a:solidFill>
              </a:defRPr>
            </a:pPr>
            <a:r>
              <a:t>End-to-End Computational Pipeline</a:t>
            </a:r>
          </a:p>
          <a:p>
            <a:pPr>
              <a:spcBef>
                <a:spcPts val="400"/>
              </a:spcBef>
              <a:defRPr sz="1150">
                <a:solidFill>
                  <a:srgbClr val="94A3B8"/>
                </a:solidFill>
              </a:defRPr>
            </a:pPr>
            <a:r>
              <a:t>From student click to board-ready action brief in under 3 seconds using federal APIs and physical modeling.</a:t>
            </a:r>
          </a:p>
        </p:txBody>
      </p:sp>
      <p:sp>
        <p:nvSpPr>
          <p:cNvPr id="9" name="Rounded Rectangle 8"/>
          <p:cNvSpPr/>
          <p:nvPr/>
        </p:nvSpPr>
        <p:spPr>
          <a:xfrm>
            <a:off x="548640" y="1920240"/>
            <a:ext cx="2560320" cy="33832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25603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57400"/>
            <a:ext cx="2286000" cy="3108960"/>
          </a:xfrm>
          <a:prstGeom prst="rect">
            <a:avLst/>
          </a:prstGeom>
          <a:noFill/>
        </p:spPr>
        <p:txBody>
          <a:bodyPr wrap="square">
            <a:spAutoFit/>
          </a:bodyPr>
          <a:lstStyle/>
          <a:p>
            <a:pPr>
              <a:defRPr sz="850" b="1">
                <a:solidFill>
                  <a:srgbClr val="38BDF8"/>
                </a:solidFill>
              </a:defRPr>
            </a:pPr>
            <a:r>
              <a:t>LAYER 1: GEOSPATIAL</a:t>
            </a:r>
          </a:p>
          <a:p>
            <a:pPr>
              <a:spcBef>
                <a:spcPts val="400"/>
              </a:spcBef>
              <a:defRPr sz="1300" b="1">
                <a:solidFill>
                  <a:srgbClr val="F1F5F9"/>
                </a:solidFill>
              </a:defRPr>
            </a:pPr>
            <a:r>
              <a:t>Campus Directory</a:t>
            </a:r>
          </a:p>
          <a:p>
            <a:pPr>
              <a:spcBef>
                <a:spcPts val="1000"/>
              </a:spcBef>
              <a:defRPr sz="950">
                <a:solidFill>
                  <a:srgbClr val="94A3B8"/>
                </a:solidFill>
              </a:defRPr>
            </a:pPr>
            <a:r>
              <a:t>100,000+ NCES school centroids, ground-truthed parking asphalt coordinates, and Esri Hybrid high-resolution satellite imagery.</a:t>
            </a:r>
          </a:p>
        </p:txBody>
      </p:sp>
      <p:sp>
        <p:nvSpPr>
          <p:cNvPr id="12" name="Rounded Rectangle 11"/>
          <p:cNvSpPr/>
          <p:nvPr/>
        </p:nvSpPr>
        <p:spPr>
          <a:xfrm>
            <a:off x="3383280" y="1920240"/>
            <a:ext cx="2560320" cy="33832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920240"/>
            <a:ext cx="25603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2057400"/>
            <a:ext cx="2286000" cy="3108960"/>
          </a:xfrm>
          <a:prstGeom prst="rect">
            <a:avLst/>
          </a:prstGeom>
          <a:noFill/>
        </p:spPr>
        <p:txBody>
          <a:bodyPr wrap="square">
            <a:spAutoFit/>
          </a:bodyPr>
          <a:lstStyle/>
          <a:p>
            <a:pPr>
              <a:defRPr sz="850" b="1">
                <a:solidFill>
                  <a:srgbClr val="38BDF8"/>
                </a:solidFill>
              </a:defRPr>
            </a:pPr>
            <a:r>
              <a:t>LAYER 2: PHYSICS</a:t>
            </a:r>
          </a:p>
          <a:p>
            <a:pPr>
              <a:spcBef>
                <a:spcPts val="400"/>
              </a:spcBef>
              <a:defRPr sz="1300" b="1">
                <a:solidFill>
                  <a:srgbClr val="F1F5F9"/>
                </a:solidFill>
              </a:defRPr>
            </a:pPr>
            <a:r>
              <a:t>NREL PVWatts v8</a:t>
            </a:r>
          </a:p>
          <a:p>
            <a:pPr>
              <a:spcBef>
                <a:spcPts val="1000"/>
              </a:spcBef>
              <a:defRPr sz="950">
                <a:solidFill>
                  <a:srgbClr val="94A3B8"/>
                </a:solidFill>
              </a:defRPr>
            </a:pPr>
            <a:r>
              <a:t>65% spatial canopy packing factor, commercial DC density (200 W/m²), live Department of Energy PVWatts solar generation physics.</a:t>
            </a:r>
          </a:p>
        </p:txBody>
      </p:sp>
      <p:sp>
        <p:nvSpPr>
          <p:cNvPr id="15" name="Rounded Rectangle 14"/>
          <p:cNvSpPr/>
          <p:nvPr/>
        </p:nvSpPr>
        <p:spPr>
          <a:xfrm>
            <a:off x="6217920" y="1920240"/>
            <a:ext cx="2560320" cy="33832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920240"/>
            <a:ext cx="25603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057400"/>
            <a:ext cx="2286000" cy="3108960"/>
          </a:xfrm>
          <a:prstGeom prst="rect">
            <a:avLst/>
          </a:prstGeom>
          <a:noFill/>
        </p:spPr>
        <p:txBody>
          <a:bodyPr wrap="square">
            <a:spAutoFit/>
          </a:bodyPr>
          <a:lstStyle/>
          <a:p>
            <a:pPr>
              <a:defRPr sz="850" b="1">
                <a:solidFill>
                  <a:srgbClr val="10B981"/>
                </a:solidFill>
              </a:defRPr>
            </a:pPr>
            <a:r>
              <a:t>LAYER 3: FINANCIAL</a:t>
            </a:r>
          </a:p>
          <a:p>
            <a:pPr>
              <a:spcBef>
                <a:spcPts val="400"/>
              </a:spcBef>
              <a:defRPr sz="1300" b="1">
                <a:solidFill>
                  <a:srgbClr val="F1F5F9"/>
                </a:solidFill>
              </a:defRPr>
            </a:pPr>
            <a:r>
              <a:t>25-Year Cashflow</a:t>
            </a:r>
          </a:p>
          <a:p>
            <a:pPr>
              <a:spcBef>
                <a:spcPts val="1000"/>
              </a:spcBef>
              <a:defRPr sz="950">
                <a:solidFill>
                  <a:srgbClr val="94A3B8"/>
                </a:solidFill>
              </a:defRPr>
            </a:pPr>
            <a:r>
              <a:t>IRS Direct Pay rebate check calculation, EIA state commercial electricity tariffs, 0.5%/yr degradation, and O&amp;M reserve.</a:t>
            </a:r>
          </a:p>
        </p:txBody>
      </p:sp>
      <p:sp>
        <p:nvSpPr>
          <p:cNvPr id="18" name="Rounded Rectangle 17"/>
          <p:cNvSpPr/>
          <p:nvPr/>
        </p:nvSpPr>
        <p:spPr>
          <a:xfrm>
            <a:off x="9052560" y="1920240"/>
            <a:ext cx="2560320" cy="33832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920240"/>
            <a:ext cx="2560320" cy="54864"/>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2057400"/>
            <a:ext cx="2286000" cy="3108960"/>
          </a:xfrm>
          <a:prstGeom prst="rect">
            <a:avLst/>
          </a:prstGeom>
          <a:noFill/>
        </p:spPr>
        <p:txBody>
          <a:bodyPr wrap="square">
            <a:spAutoFit/>
          </a:bodyPr>
          <a:lstStyle/>
          <a:p>
            <a:pPr>
              <a:defRPr sz="850" b="1">
                <a:solidFill>
                  <a:srgbClr val="8C1515"/>
                </a:solidFill>
              </a:defRPr>
            </a:pPr>
            <a:r>
              <a:t>LAYER 4: CIVIC</a:t>
            </a:r>
          </a:p>
          <a:p>
            <a:pPr>
              <a:spcBef>
                <a:spcPts val="400"/>
              </a:spcBef>
              <a:defRPr sz="1300" b="1">
                <a:solidFill>
                  <a:srgbClr val="F1F5F9"/>
                </a:solidFill>
              </a:defRPr>
            </a:pPr>
            <a:r>
              <a:t>Action Brief</a:t>
            </a:r>
          </a:p>
          <a:p>
            <a:pPr>
              <a:spcBef>
                <a:spcPts val="1000"/>
              </a:spcBef>
              <a:defRPr sz="950">
                <a:solidFill>
                  <a:srgbClr val="94A3B8"/>
                </a:solidFill>
              </a:defRPr>
            </a:pPr>
            <a:r>
              <a:t>1-Click school-board ready PDF/Markdown generator with cost of delay analysis and turnkey draft school board resolution text.</a:t>
            </a:r>
          </a:p>
        </p:txBody>
      </p:sp>
      <p:sp>
        <p:nvSpPr>
          <p:cNvPr id="21" name="Rounded Rectangle 20"/>
          <p:cNvSpPr/>
          <p:nvPr/>
        </p:nvSpPr>
        <p:spPr>
          <a:xfrm>
            <a:off x="548640" y="5486400"/>
            <a:ext cx="11094415" cy="82296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5486400"/>
            <a:ext cx="11094415"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559552"/>
            <a:ext cx="10607040" cy="640080"/>
          </a:xfrm>
          <a:prstGeom prst="rect">
            <a:avLst/>
          </a:prstGeom>
          <a:noFill/>
        </p:spPr>
        <p:txBody>
          <a:bodyPr wrap="square">
            <a:spAutoFit/>
          </a:bodyPr>
          <a:lstStyle/>
          <a:p>
            <a:pPr>
              <a:defRPr sz="950" b="1">
                <a:solidFill>
                  <a:srgbClr val="38BDF8"/>
                </a:solidFill>
              </a:defRPr>
            </a:pPr>
            <a:r>
              <a:t>RESILIENT FAULT-TOLERANT ARCHITECTURE</a:t>
            </a:r>
          </a:p>
          <a:p>
            <a:pPr>
              <a:spcBef>
                <a:spcPts val="200"/>
              </a:spcBef>
              <a:defRPr sz="1000">
                <a:solidFill>
                  <a:srgbClr val="F1F5F9"/>
                </a:solidFill>
              </a:defRPr>
            </a:pPr>
            <a:r>
              <a:t>If federal NREL PVWatts API experiences network timeout, system automatically falls back to regional NSRDB empirical solar constants (1,650 Sunbelt / 1,460 Temperate / 1,320 North kWh/kW-yr). The app never crashes.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05 / 10</a:t>
            </a:r>
          </a:p>
        </p:txBody>
      </p:sp>
      <p:sp>
        <p:nvSpPr>
          <p:cNvPr id="7" name="Rectangle 6"/>
          <p:cNvSpPr/>
          <p:nvPr/>
        </p:nvSpPr>
        <p:spPr>
          <a:xfrm>
            <a:off x="0" y="493776"/>
            <a:ext cx="6095847"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PROOF OF CONCEPT</a:t>
            </a:r>
          </a:p>
          <a:p>
            <a:pPr>
              <a:spcBef>
                <a:spcPts val="200"/>
              </a:spcBef>
              <a:defRPr sz="2200" b="1">
                <a:solidFill>
                  <a:srgbClr val="F1F5F9"/>
                </a:solidFill>
              </a:defRPr>
            </a:pPr>
            <a:r>
              <a:t>The Tale of Two Bay Area Campuses</a:t>
            </a:r>
          </a:p>
          <a:p>
            <a:pPr>
              <a:spcBef>
                <a:spcPts val="400"/>
              </a:spcBef>
              <a:defRPr sz="1150">
                <a:solidFill>
                  <a:srgbClr val="94A3B8"/>
                </a:solidFill>
              </a:defRPr>
            </a:pPr>
            <a:r>
              <a:t>Real-world empirical validation: an implemented leader saving $145K/year vs. an unshaded campus losing $140K/year.</a:t>
            </a:r>
          </a:p>
        </p:txBody>
      </p:sp>
      <p:sp>
        <p:nvSpPr>
          <p:cNvPr id="9" name="Rounded Rectangle 8"/>
          <p:cNvSpPr/>
          <p:nvPr/>
        </p:nvSpPr>
        <p:spPr>
          <a:xfrm>
            <a:off x="548640" y="1920240"/>
            <a:ext cx="539496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539496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4937760" cy="3931920"/>
          </a:xfrm>
          <a:prstGeom prst="rect">
            <a:avLst/>
          </a:prstGeom>
          <a:noFill/>
        </p:spPr>
        <p:txBody>
          <a:bodyPr wrap="square">
            <a:spAutoFit/>
          </a:bodyPr>
          <a:lstStyle/>
          <a:p>
            <a:pPr>
              <a:defRPr sz="1200" b="1">
                <a:solidFill>
                  <a:srgbClr val="10B981"/>
                </a:solidFill>
              </a:defRPr>
            </a:pPr>
            <a:r>
              <a:t>MONTA VISTA HIGH SCHOOL (CUPERTINO)</a:t>
            </a:r>
          </a:p>
          <a:p>
            <a:pPr>
              <a:spcBef>
                <a:spcPts val="200"/>
              </a:spcBef>
              <a:defRPr sz="900" b="1">
                <a:solidFill>
                  <a:srgbClr val="64748B"/>
                </a:solidFill>
              </a:defRPr>
            </a:pPr>
            <a:r>
              <a:t>STATUS: IMPLEMENTED LEADER (FUHSD &amp; ENGIE)</a:t>
            </a:r>
          </a:p>
          <a:p>
            <a:pPr>
              <a:spcBef>
                <a:spcPts val="800"/>
              </a:spcBef>
              <a:defRPr sz="1050">
                <a:solidFill>
                  <a:srgbClr val="F1F5F9"/>
                </a:solidFill>
              </a:defRPr>
            </a:pPr>
            <a:r>
              <a:t>Canopy System Capacity: 550 kW DC</a:t>
            </a:r>
          </a:p>
          <a:p>
            <a:pPr>
              <a:spcBef>
                <a:spcPts val="800"/>
              </a:spcBef>
              <a:defRPr sz="1050">
                <a:solidFill>
                  <a:srgbClr val="F1F5F9"/>
                </a:solidFill>
              </a:defRPr>
            </a:pPr>
            <a:r>
              <a:t>Annual Clean Electricity: 1,484,000 kWh / year</a:t>
            </a:r>
          </a:p>
          <a:p>
            <a:pPr>
              <a:spcBef>
                <a:spcPts val="800"/>
              </a:spcBef>
              <a:defRPr sz="1050">
                <a:solidFill>
                  <a:srgbClr val="F1F5F9"/>
                </a:solidFill>
              </a:defRPr>
            </a:pPr>
            <a:r>
              <a:t>Avoided Utility Bills (PG&amp;E B-19): $145,000 / year (Active Savings)</a:t>
            </a:r>
          </a:p>
          <a:p>
            <a:pPr>
              <a:spcBef>
                <a:spcPts val="800"/>
              </a:spcBef>
              <a:defRPr sz="1050">
                <a:solidFill>
                  <a:srgbClr val="F1F5F9"/>
                </a:solidFill>
              </a:defRPr>
            </a:pPr>
            <a:r>
              <a:t>25-Year Cumulative Savings: $14,690,000 Net Dividend</a:t>
            </a:r>
          </a:p>
          <a:p>
            <a:pPr>
              <a:spcBef>
                <a:spcPts val="800"/>
              </a:spcBef>
              <a:defRPr sz="1050">
                <a:solidFill>
                  <a:srgbClr val="F1F5F9"/>
                </a:solidFill>
              </a:defRPr>
            </a:pPr>
            <a:r>
              <a:t>Real-World Status: Completed in 2021; Shaded Student &amp; Staff Lots</a:t>
            </a:r>
          </a:p>
          <a:p>
            <a:pPr>
              <a:spcBef>
                <a:spcPts val="1400"/>
              </a:spcBef>
              <a:defRPr sz="1000" b="1">
                <a:solidFill>
                  <a:srgbClr val="10B981"/>
                </a:solidFill>
              </a:defRPr>
            </a:pPr>
            <a:r>
              <a:t>VALIDATION: Real PG&amp;E utility bill savings match our computational model within 4.2%!</a:t>
            </a:r>
          </a:p>
        </p:txBody>
      </p:sp>
      <p:sp>
        <p:nvSpPr>
          <p:cNvPr id="12" name="Rounded Rectangle 11"/>
          <p:cNvSpPr/>
          <p:nvPr/>
        </p:nvSpPr>
        <p:spPr>
          <a:xfrm>
            <a:off x="6217920" y="1920240"/>
            <a:ext cx="539496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920240"/>
            <a:ext cx="5394960"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57400"/>
            <a:ext cx="4937760" cy="3931920"/>
          </a:xfrm>
          <a:prstGeom prst="rect">
            <a:avLst/>
          </a:prstGeom>
          <a:noFill/>
        </p:spPr>
        <p:txBody>
          <a:bodyPr wrap="square">
            <a:spAutoFit/>
          </a:bodyPr>
          <a:lstStyle/>
          <a:p>
            <a:pPr>
              <a:defRPr sz="1200" b="1">
                <a:solidFill>
                  <a:srgbClr val="EF4444"/>
                </a:solidFill>
              </a:defRPr>
            </a:pPr>
            <a:r>
              <a:t>PALO ALTO HIGH SCHOOL (PALO ALTO)</a:t>
            </a:r>
          </a:p>
          <a:p>
            <a:pPr>
              <a:spcBef>
                <a:spcPts val="200"/>
              </a:spcBef>
              <a:defRPr sz="900" b="1">
                <a:solidFill>
                  <a:srgbClr val="64748B"/>
                </a:solidFill>
              </a:defRPr>
            </a:pPr>
            <a:r>
              <a:t>STATUS: UNSHADED OPPORTUNITY (PAUSD)</a:t>
            </a:r>
          </a:p>
          <a:p>
            <a:pPr>
              <a:spcBef>
                <a:spcPts val="800"/>
              </a:spcBef>
              <a:defRPr sz="1050">
                <a:solidFill>
                  <a:srgbClr val="F1F5F9"/>
                </a:solidFill>
              </a:defRPr>
            </a:pPr>
            <a:r>
              <a:t>Unshaded Parking Footprint: 7,200 m² (~180 Parking Stalls)</a:t>
            </a:r>
          </a:p>
          <a:p>
            <a:pPr>
              <a:spcBef>
                <a:spcPts val="800"/>
              </a:spcBef>
              <a:defRPr sz="1050">
                <a:solidFill>
                  <a:srgbClr val="F1F5F9"/>
                </a:solidFill>
              </a:defRPr>
            </a:pPr>
            <a:r>
              <a:t>Potential Solar Canopy Size: 608 kW DC Capacity</a:t>
            </a:r>
          </a:p>
          <a:p>
            <a:pPr>
              <a:spcBef>
                <a:spcPts val="800"/>
              </a:spcBef>
              <a:defRPr sz="1050">
                <a:solidFill>
                  <a:srgbClr val="F1F5F9"/>
                </a:solidFill>
              </a:defRPr>
            </a:pPr>
            <a:r>
              <a:t>Avoidable Utility Bill Surrender: $140,000 / year Surrendered</a:t>
            </a:r>
          </a:p>
          <a:p>
            <a:pPr>
              <a:spcBef>
                <a:spcPts val="800"/>
              </a:spcBef>
              <a:defRPr sz="1050">
                <a:solidFill>
                  <a:srgbClr val="F1F5F9"/>
                </a:solidFill>
              </a:defRPr>
            </a:pPr>
            <a:r>
              <a:t>Unclaimed IRS Direct Pay Check: $754,416 Cash Sitting at Treasury</a:t>
            </a:r>
          </a:p>
          <a:p>
            <a:pPr>
              <a:spcBef>
                <a:spcPts val="800"/>
              </a:spcBef>
              <a:defRPr sz="1050">
                <a:solidFill>
                  <a:srgbClr val="F1F5F9"/>
                </a:solidFill>
              </a:defRPr>
            </a:pPr>
            <a:r>
              <a:t>5-Year Inaction Penalty: $700,000 in Permanent Losses</a:t>
            </a:r>
          </a:p>
          <a:p>
            <a:pPr>
              <a:spcBef>
                <a:spcPts val="1400"/>
              </a:spcBef>
              <a:defRPr sz="1000" b="1">
                <a:solidFill>
                  <a:srgbClr val="EF4444"/>
                </a:solidFill>
              </a:defRPr>
            </a:pPr>
            <a:r>
              <a:t>THE COST OF DELAY: Every year Palo Alto High delays is $140,000 paid to utility companies instead of instructional staff.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06 / 10</a:t>
            </a:r>
          </a:p>
        </p:txBody>
      </p:sp>
      <p:sp>
        <p:nvSpPr>
          <p:cNvPr id="7" name="Rectangle 6"/>
          <p:cNvSpPr/>
          <p:nvPr/>
        </p:nvSpPr>
        <p:spPr>
          <a:xfrm>
            <a:off x="0" y="493776"/>
            <a:ext cx="7315017"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FINANCIAL MODELING</a:t>
            </a:r>
          </a:p>
          <a:p>
            <a:pPr>
              <a:spcBef>
                <a:spcPts val="200"/>
              </a:spcBef>
              <a:defRPr sz="2200" b="1">
                <a:solidFill>
                  <a:srgbClr val="F1F5F9"/>
                </a:solidFill>
              </a:defRPr>
            </a:pPr>
            <a:r>
              <a:t>Rigorous Capital Economics &amp; Rapid Payback</a:t>
            </a:r>
          </a:p>
          <a:p>
            <a:pPr>
              <a:spcBef>
                <a:spcPts val="400"/>
              </a:spcBef>
              <a:defRPr sz="1150">
                <a:solidFill>
                  <a:srgbClr val="94A3B8"/>
                </a:solidFill>
              </a:defRPr>
            </a:pPr>
            <a:r>
              <a:t>Structural steel cantilevers cost $3.10/W, but IRS Direct Pay cuts net outlay to $1.86/W, yielding under 3-year payback.</a:t>
            </a:r>
          </a:p>
        </p:txBody>
      </p:sp>
      <p:sp>
        <p:nvSpPr>
          <p:cNvPr id="9" name="Rounded Rectangle 8"/>
          <p:cNvSpPr/>
          <p:nvPr/>
        </p:nvSpPr>
        <p:spPr>
          <a:xfrm>
            <a:off x="548640" y="1920240"/>
            <a:ext cx="3474720" cy="29260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3108960" cy="2651760"/>
          </a:xfrm>
          <a:prstGeom prst="rect">
            <a:avLst/>
          </a:prstGeom>
          <a:noFill/>
        </p:spPr>
        <p:txBody>
          <a:bodyPr wrap="square">
            <a:spAutoFit/>
          </a:bodyPr>
          <a:lstStyle/>
          <a:p>
            <a:pPr>
              <a:defRPr sz="3200" b="1">
                <a:solidFill>
                  <a:srgbClr val="38BDF8"/>
                </a:solidFill>
              </a:defRPr>
            </a:pPr>
            <a:r>
              <a:t>$3.10 / W</a:t>
            </a:r>
          </a:p>
          <a:p>
            <a:pPr>
              <a:spcBef>
                <a:spcPts val="400"/>
              </a:spcBef>
              <a:defRPr sz="850" b="1">
                <a:solidFill>
                  <a:srgbClr val="64748B"/>
                </a:solidFill>
              </a:defRPr>
            </a:pPr>
            <a:r>
              <a:t>TURNKEY COMMERCIAL CANOPY COST</a:t>
            </a:r>
          </a:p>
          <a:p>
            <a:pPr>
              <a:spcBef>
                <a:spcPts val="1000"/>
              </a:spcBef>
              <a:defRPr sz="950">
                <a:solidFill>
                  <a:srgbClr val="94A3B8"/>
                </a:solidFill>
              </a:defRPr>
            </a:pPr>
            <a:r>
              <a:t>Includes commercial structural steel cantilevers, Tier-1 bifacial panels, string inverters, ADA compliance, and trench conduit.</a:t>
            </a:r>
          </a:p>
        </p:txBody>
      </p:sp>
      <p:sp>
        <p:nvSpPr>
          <p:cNvPr id="12" name="Rounded Rectangle 11"/>
          <p:cNvSpPr/>
          <p:nvPr/>
        </p:nvSpPr>
        <p:spPr>
          <a:xfrm>
            <a:off x="4343400" y="1920240"/>
            <a:ext cx="3474720" cy="29260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920240"/>
            <a:ext cx="3474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57400"/>
            <a:ext cx="3108960" cy="2651760"/>
          </a:xfrm>
          <a:prstGeom prst="rect">
            <a:avLst/>
          </a:prstGeom>
          <a:noFill/>
        </p:spPr>
        <p:txBody>
          <a:bodyPr wrap="square">
            <a:spAutoFit/>
          </a:bodyPr>
          <a:lstStyle/>
          <a:p>
            <a:pPr>
              <a:defRPr sz="3200" b="1">
                <a:solidFill>
                  <a:srgbClr val="10B981"/>
                </a:solidFill>
              </a:defRPr>
            </a:pPr>
            <a:r>
              <a:t>-$1.24 / W</a:t>
            </a:r>
          </a:p>
          <a:p>
            <a:pPr>
              <a:spcBef>
                <a:spcPts val="400"/>
              </a:spcBef>
              <a:defRPr sz="850" b="1">
                <a:solidFill>
                  <a:srgbClr val="64748B"/>
                </a:solidFill>
              </a:defRPr>
            </a:pPr>
            <a:r>
              <a:t>IRS DIRECT PAY CASH CHECK (40%)</a:t>
            </a:r>
          </a:p>
          <a:p>
            <a:pPr>
              <a:spcBef>
                <a:spcPts val="1000"/>
              </a:spcBef>
              <a:defRPr sz="950">
                <a:solidFill>
                  <a:srgbClr val="94A3B8"/>
                </a:solidFill>
              </a:defRPr>
            </a:pPr>
            <a:r>
              <a:t>Base 30% investment tax credit equivalent + 10% domestic content/Title I bonus paid directly into school district bank account.</a:t>
            </a:r>
          </a:p>
        </p:txBody>
      </p:sp>
      <p:sp>
        <p:nvSpPr>
          <p:cNvPr id="15" name="Rounded Rectangle 14"/>
          <p:cNvSpPr/>
          <p:nvPr/>
        </p:nvSpPr>
        <p:spPr>
          <a:xfrm>
            <a:off x="8138160" y="1920240"/>
            <a:ext cx="3474720" cy="29260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1920240"/>
            <a:ext cx="3474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3108960" cy="2651760"/>
          </a:xfrm>
          <a:prstGeom prst="rect">
            <a:avLst/>
          </a:prstGeom>
          <a:noFill/>
        </p:spPr>
        <p:txBody>
          <a:bodyPr wrap="square">
            <a:spAutoFit/>
          </a:bodyPr>
          <a:lstStyle/>
          <a:p>
            <a:pPr>
              <a:defRPr sz="3200" b="1">
                <a:solidFill>
                  <a:srgbClr val="10B981"/>
                </a:solidFill>
              </a:defRPr>
            </a:pPr>
            <a:r>
              <a:t>$1.86 / W</a:t>
            </a:r>
          </a:p>
          <a:p>
            <a:pPr>
              <a:spcBef>
                <a:spcPts val="400"/>
              </a:spcBef>
              <a:defRPr sz="850" b="1">
                <a:solidFill>
                  <a:srgbClr val="64748B"/>
                </a:solidFill>
              </a:defRPr>
            </a:pPr>
            <a:r>
              <a:t>NET DISTRICT CAPITAL OUTLAY</a:t>
            </a:r>
          </a:p>
          <a:p>
            <a:pPr>
              <a:spcBef>
                <a:spcPts val="1000"/>
              </a:spcBef>
              <a:defRPr sz="950">
                <a:solidFill>
                  <a:srgbClr val="94A3B8"/>
                </a:solidFill>
              </a:defRPr>
            </a:pPr>
            <a:r>
              <a:t>Net capital outlay drops by 40% to 50%, enabling rapid simple payback within 2.6 to 4.5 years under standard commercial tariffs.</a:t>
            </a:r>
          </a:p>
        </p:txBody>
      </p:sp>
      <p:sp>
        <p:nvSpPr>
          <p:cNvPr id="18" name="Rounded Rectangle 17"/>
          <p:cNvSpPr/>
          <p:nvPr/>
        </p:nvSpPr>
        <p:spPr>
          <a:xfrm>
            <a:off x="548640" y="5029200"/>
            <a:ext cx="11094415" cy="128016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5029200"/>
            <a:ext cx="1109441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20640"/>
            <a:ext cx="10607040" cy="1097280"/>
          </a:xfrm>
          <a:prstGeom prst="rect">
            <a:avLst/>
          </a:prstGeom>
          <a:noFill/>
        </p:spPr>
        <p:txBody>
          <a:bodyPr wrap="square">
            <a:spAutoFit/>
          </a:bodyPr>
          <a:lstStyle/>
          <a:p>
            <a:pPr>
              <a:defRPr sz="1100" b="1">
                <a:solidFill>
                  <a:srgbClr val="10B981"/>
                </a:solidFill>
              </a:defRPr>
            </a:pPr>
            <a:r>
              <a:t>25-YEAR CUMULATIVE NET DIVIDEND: OVER $11,000,000 PER HIGH SCHOOL CAMPUS</a:t>
            </a:r>
          </a:p>
          <a:p>
            <a:pPr>
              <a:spcBef>
                <a:spcPts val="400"/>
              </a:spcBef>
              <a:defRPr sz="1050">
                <a:solidFill>
                  <a:srgbClr val="F1F5F9"/>
                </a:solidFill>
              </a:defRPr>
            </a:pPr>
            <a:r>
              <a:t>Fully accounts for $15/kW-year operations &amp; maintenance (O&amp;M), annual robotic panel cleaning, 2% annual inflation, 0.5%/year panel degradation, and complete Year 15 inverter replacement reserve.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07 / 10</a:t>
            </a:r>
          </a:p>
        </p:txBody>
      </p:sp>
      <p:sp>
        <p:nvSpPr>
          <p:cNvPr id="7" name="Rectangle 6"/>
          <p:cNvSpPr/>
          <p:nvPr/>
        </p:nvSpPr>
        <p:spPr>
          <a:xfrm>
            <a:off x="0" y="493776"/>
            <a:ext cx="8534186"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EXECUTION ROADMAP</a:t>
            </a:r>
          </a:p>
          <a:p>
            <a:pPr>
              <a:spcBef>
                <a:spcPts val="200"/>
              </a:spcBef>
              <a:defRPr sz="2200" b="1">
                <a:solidFill>
                  <a:srgbClr val="F1F5F9"/>
                </a:solidFill>
              </a:defRPr>
            </a:pPr>
            <a:r>
              <a:t>Three-Phase Scalability: Bay Area to Nationwide</a:t>
            </a:r>
          </a:p>
          <a:p>
            <a:pPr>
              <a:spcBef>
                <a:spcPts val="400"/>
              </a:spcBef>
              <a:defRPr sz="1150">
                <a:solidFill>
                  <a:srgbClr val="94A3B8"/>
                </a:solidFill>
              </a:defRPr>
            </a:pPr>
            <a:r>
              <a:t>A structured rollout expanding from local ground-truth calibration to all 50 states.</a:t>
            </a:r>
          </a:p>
        </p:txBody>
      </p:sp>
      <p:sp>
        <p:nvSpPr>
          <p:cNvPr id="9" name="Rounded Rectangle 8"/>
          <p:cNvSpPr/>
          <p:nvPr/>
        </p:nvSpPr>
        <p:spPr>
          <a:xfrm>
            <a:off x="548640"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3108960" cy="3931920"/>
          </a:xfrm>
          <a:prstGeom prst="rect">
            <a:avLst/>
          </a:prstGeom>
          <a:noFill/>
        </p:spPr>
        <p:txBody>
          <a:bodyPr wrap="square">
            <a:spAutoFit/>
          </a:bodyPr>
          <a:lstStyle/>
          <a:p>
            <a:pPr>
              <a:defRPr sz="2800" b="1">
                <a:solidFill>
                  <a:srgbClr val="38BDF8"/>
                </a:solidFill>
              </a:defRPr>
            </a:pPr>
            <a:r>
              <a:t>Phase 1</a:t>
            </a:r>
          </a:p>
          <a:p>
            <a:pPr>
              <a:spcBef>
                <a:spcPts val="400"/>
              </a:spcBef>
              <a:defRPr sz="1100" b="1">
                <a:solidFill>
                  <a:srgbClr val="F1F5F9"/>
                </a:solidFill>
              </a:defRPr>
            </a:pPr>
            <a:r>
              <a:t>SAN FRANCISCO BAY AREA</a:t>
            </a:r>
          </a:p>
          <a:p>
            <a:pPr>
              <a:spcBef>
                <a:spcPts val="400"/>
              </a:spcBef>
              <a:defRPr sz="950" b="1">
                <a:solidFill>
                  <a:srgbClr val="38BDF8"/>
                </a:solidFill>
              </a:defRPr>
            </a:pPr>
            <a:r>
              <a:t>9 Counties &amp; 18 Campuses</a:t>
            </a:r>
          </a:p>
          <a:p>
            <a:pPr>
              <a:spcBef>
                <a:spcPts val="1200"/>
              </a:spcBef>
              <a:defRPr sz="1000">
                <a:solidFill>
                  <a:srgbClr val="94A3B8"/>
                </a:solidFill>
              </a:defRPr>
            </a:pPr>
            <a:r>
              <a:t>Calibrated against active arrays in Cupertino Union (5.2 MW) and Fremont Union High School District. Integrated with PG&amp;E Schedule B-19 commercial tariffs.</a:t>
            </a:r>
            <a:br/>
            <a:br/>
            <a:r>
              <a:t>Status: Complete &amp; Calibrated</a:t>
            </a:r>
          </a:p>
        </p:txBody>
      </p:sp>
      <p:sp>
        <p:nvSpPr>
          <p:cNvPr id="12" name="Rounded Rectangle 11"/>
          <p:cNvSpPr/>
          <p:nvPr/>
        </p:nvSpPr>
        <p:spPr>
          <a:xfrm>
            <a:off x="4343400"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57400"/>
            <a:ext cx="3108960" cy="3931920"/>
          </a:xfrm>
          <a:prstGeom prst="rect">
            <a:avLst/>
          </a:prstGeom>
          <a:noFill/>
        </p:spPr>
        <p:txBody>
          <a:bodyPr wrap="square">
            <a:spAutoFit/>
          </a:bodyPr>
          <a:lstStyle/>
          <a:p>
            <a:pPr>
              <a:defRPr sz="2800" b="1">
                <a:solidFill>
                  <a:srgbClr val="38BDF8"/>
                </a:solidFill>
              </a:defRPr>
            </a:pPr>
            <a:r>
              <a:t>Phase 2</a:t>
            </a:r>
          </a:p>
          <a:p>
            <a:pPr>
              <a:spcBef>
                <a:spcPts val="400"/>
              </a:spcBef>
              <a:defRPr sz="1100" b="1">
                <a:solidFill>
                  <a:srgbClr val="F1F5F9"/>
                </a:solidFill>
              </a:defRPr>
            </a:pPr>
            <a:r>
              <a:t>CALIFORNIA STATEWIDE</a:t>
            </a:r>
          </a:p>
          <a:p>
            <a:pPr>
              <a:spcBef>
                <a:spcPts val="400"/>
              </a:spcBef>
              <a:defRPr sz="950" b="1">
                <a:solidFill>
                  <a:srgbClr val="38BDF8"/>
                </a:solidFill>
              </a:defRPr>
            </a:pPr>
            <a:r>
              <a:t>58 Counties &amp; 10,000 Campuses</a:t>
            </a:r>
          </a:p>
          <a:p>
            <a:pPr>
              <a:spcBef>
                <a:spcPts val="1200"/>
              </a:spcBef>
              <a:defRPr sz="1000">
                <a:solidFill>
                  <a:srgbClr val="94A3B8"/>
                </a:solidFill>
              </a:defRPr>
            </a:pPr>
            <a:r>
              <a:t>Ingests full California Department of Education directory. Integrates CalEnviroScreen 4.0 equity scoring, Title 24 solar mandates, and SCE/SDG&amp;E/SMUD commercial utility rates.</a:t>
            </a:r>
            <a:br/>
            <a:br/>
            <a:r>
              <a:t>Status: Architecture Specified</a:t>
            </a:r>
          </a:p>
        </p:txBody>
      </p:sp>
      <p:sp>
        <p:nvSpPr>
          <p:cNvPr id="15" name="Rounded Rectangle 14"/>
          <p:cNvSpPr/>
          <p:nvPr/>
        </p:nvSpPr>
        <p:spPr>
          <a:xfrm>
            <a:off x="8138160" y="1920240"/>
            <a:ext cx="347472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1920240"/>
            <a:ext cx="3474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3108960" cy="3931920"/>
          </a:xfrm>
          <a:prstGeom prst="rect">
            <a:avLst/>
          </a:prstGeom>
          <a:noFill/>
        </p:spPr>
        <p:txBody>
          <a:bodyPr wrap="square">
            <a:spAutoFit/>
          </a:bodyPr>
          <a:lstStyle/>
          <a:p>
            <a:pPr>
              <a:defRPr sz="2800" b="1">
                <a:solidFill>
                  <a:srgbClr val="10B981"/>
                </a:solidFill>
              </a:defRPr>
            </a:pPr>
            <a:r>
              <a:t>Phase 3</a:t>
            </a:r>
          </a:p>
          <a:p>
            <a:pPr>
              <a:spcBef>
                <a:spcPts val="400"/>
              </a:spcBef>
              <a:defRPr sz="1100" b="1">
                <a:solidFill>
                  <a:srgbClr val="F1F5F9"/>
                </a:solidFill>
              </a:defRPr>
            </a:pPr>
            <a:r>
              <a:t>NATIONWIDE USA</a:t>
            </a:r>
          </a:p>
          <a:p>
            <a:pPr>
              <a:spcBef>
                <a:spcPts val="400"/>
              </a:spcBef>
              <a:defRPr sz="950" b="1">
                <a:solidFill>
                  <a:srgbClr val="38BDF8"/>
                </a:solidFill>
              </a:defRPr>
            </a:pPr>
            <a:r>
              <a:t>50 States &amp; 100,000+ Campuses</a:t>
            </a:r>
          </a:p>
          <a:p>
            <a:pPr>
              <a:spcBef>
                <a:spcPts val="1200"/>
              </a:spcBef>
              <a:defRPr sz="1000">
                <a:solidFill>
                  <a:srgbClr val="94A3B8"/>
                </a:solidFill>
              </a:defRPr>
            </a:pPr>
            <a:r>
              <a:t>Scales via National Center for Education Statistics (NCES) database, state-by-state EIA commercial electricity rates, and EPA eGRID regional carbon intensity factors.</a:t>
            </a:r>
            <a:br/>
            <a:br/>
            <a:r>
              <a:t>Status: National Vision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08 / 10</a:t>
            </a:r>
          </a:p>
        </p:txBody>
      </p:sp>
      <p:sp>
        <p:nvSpPr>
          <p:cNvPr id="7" name="Rectangle 6"/>
          <p:cNvSpPr/>
          <p:nvPr/>
        </p:nvSpPr>
        <p:spPr>
          <a:xfrm>
            <a:off x="0" y="493776"/>
            <a:ext cx="9753356"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CIVIC IMPACT</a:t>
            </a:r>
          </a:p>
          <a:p>
            <a:pPr>
              <a:spcBef>
                <a:spcPts val="200"/>
              </a:spcBef>
              <a:defRPr sz="2200" b="1">
                <a:solidFill>
                  <a:srgbClr val="F1F5F9"/>
                </a:solidFill>
              </a:defRPr>
            </a:pPr>
            <a:r>
              <a:t>The Civic Climax: School Board Action Brief</a:t>
            </a:r>
          </a:p>
          <a:p>
            <a:pPr>
              <a:spcBef>
                <a:spcPts val="400"/>
              </a:spcBef>
              <a:defRPr sz="1150">
                <a:solidFill>
                  <a:srgbClr val="94A3B8"/>
                </a:solidFill>
              </a:defRPr>
            </a:pPr>
            <a:r>
              <a:t>Bridging the gap between engineering simulation and real-world school board votes.</a:t>
            </a:r>
          </a:p>
        </p:txBody>
      </p:sp>
      <p:sp>
        <p:nvSpPr>
          <p:cNvPr id="9" name="Rounded Rectangle 8"/>
          <p:cNvSpPr/>
          <p:nvPr/>
        </p:nvSpPr>
        <p:spPr>
          <a:xfrm>
            <a:off x="548640" y="1920240"/>
            <a:ext cx="5394960"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539496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4937760" cy="4023360"/>
          </a:xfrm>
          <a:prstGeom prst="rect">
            <a:avLst/>
          </a:prstGeom>
          <a:noFill/>
        </p:spPr>
        <p:txBody>
          <a:bodyPr wrap="square">
            <a:spAutoFit/>
          </a:bodyPr>
          <a:lstStyle/>
          <a:p>
            <a:pPr>
              <a:defRPr sz="1200" b="1">
                <a:solidFill>
                  <a:srgbClr val="F1F5F9"/>
                </a:solidFill>
              </a:defRPr>
            </a:pPr>
            <a:r>
              <a:t>1-CLICK SCHOOL BOARD READY PROPOSAL</a:t>
            </a:r>
          </a:p>
          <a:p>
            <a:pPr>
              <a:spcBef>
                <a:spcPts val="800"/>
              </a:spcBef>
              <a:defRPr sz="1000">
                <a:solidFill>
                  <a:srgbClr val="94A3B8"/>
                </a:solidFill>
              </a:defRPr>
            </a:pPr>
            <a:r>
              <a:t>1. Executive Summary: System kW DC capacity, canopy area (m²), shaded stalls.</a:t>
            </a:r>
          </a:p>
          <a:p>
            <a:pPr>
              <a:spcBef>
                <a:spcPts val="800"/>
              </a:spcBef>
              <a:defRPr sz="1000">
                <a:solidFill>
                  <a:srgbClr val="94A3B8"/>
                </a:solidFill>
              </a:defRPr>
            </a:pPr>
            <a:r>
              <a:t>2. Financial Waterfall: Turnkey capex, IRS Direct Pay check, simple payback (years).</a:t>
            </a:r>
          </a:p>
          <a:p>
            <a:pPr>
              <a:spcBef>
                <a:spcPts val="800"/>
              </a:spcBef>
              <a:defRPr sz="1000">
                <a:solidFill>
                  <a:srgbClr val="94A3B8"/>
                </a:solidFill>
              </a:defRPr>
            </a:pPr>
            <a:r>
              <a:t>3. Inaction Cost: Quantified 5-year financial penalty if the district delays action.</a:t>
            </a:r>
          </a:p>
          <a:p>
            <a:pPr>
              <a:spcBef>
                <a:spcPts val="800"/>
              </a:spcBef>
              <a:defRPr sz="1000">
                <a:solidFill>
                  <a:srgbClr val="94A3B8"/>
                </a:solidFill>
              </a:defRPr>
            </a:pPr>
            <a:r>
              <a:t>4. IRS Compliance Guide: Step-by-step instructions for electronic Pre-Filing and Form 990-T.</a:t>
            </a:r>
          </a:p>
          <a:p>
            <a:pPr>
              <a:spcBef>
                <a:spcPts val="800"/>
              </a:spcBef>
              <a:defRPr sz="1000">
                <a:solidFill>
                  <a:srgbClr val="94A3B8"/>
                </a:solidFill>
              </a:defRPr>
            </a:pPr>
            <a:r>
              <a:t>5. Template Board Resolution: Exact legal language ready for trustees to sponsor.</a:t>
            </a:r>
          </a:p>
          <a:p>
            <a:pPr>
              <a:spcBef>
                <a:spcPts val="1200"/>
              </a:spcBef>
              <a:defRPr sz="950" b="1">
                <a:solidFill>
                  <a:srgbClr val="38BDF8"/>
                </a:solidFill>
              </a:defRPr>
            </a:pPr>
            <a:r>
              <a:t>Empowers high school environmental clubs and PTAs to walk into board meetings with complete institutional proposals.</a:t>
            </a:r>
          </a:p>
        </p:txBody>
      </p:sp>
      <p:sp>
        <p:nvSpPr>
          <p:cNvPr id="12" name="Rounded Rectangle 11"/>
          <p:cNvSpPr/>
          <p:nvPr/>
        </p:nvSpPr>
        <p:spPr>
          <a:xfrm>
            <a:off x="6217920" y="1920240"/>
            <a:ext cx="5425135" cy="4297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920240"/>
            <a:ext cx="542513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057400"/>
            <a:ext cx="4937760" cy="4023360"/>
          </a:xfrm>
          <a:prstGeom prst="rect">
            <a:avLst/>
          </a:prstGeom>
          <a:noFill/>
        </p:spPr>
        <p:txBody>
          <a:bodyPr wrap="square">
            <a:spAutoFit/>
          </a:bodyPr>
          <a:lstStyle/>
          <a:p>
            <a:pPr>
              <a:defRPr sz="1200" b="1">
                <a:solidFill>
                  <a:srgbClr val="10B981"/>
                </a:solidFill>
              </a:defRPr>
            </a:pPr>
            <a:r>
              <a:t>SAMPLE RESOLUTION LANGUAGE GENERATED</a:t>
            </a:r>
          </a:p>
          <a:p>
            <a:pPr>
              <a:spcBef>
                <a:spcPts val="1000"/>
              </a:spcBef>
              <a:defRPr sz="950">
                <a:solidFill>
                  <a:srgbClr val="CBD5E1"/>
                </a:solidFill>
              </a:defRPr>
            </a:pPr>
            <a:r>
              <a:t>RESOLUTION NO. 2026-SOLAR</a:t>
            </a:r>
            <a:br/>
            <a:br/>
            <a:r>
              <a:t>WHEREAS, the School District expends significant operating funds annually on retail electric utility tariffs; and</a:t>
            </a:r>
            <a:br/>
            <a:br/>
            <a:r>
              <a:t>WHEREAS, Section 6417 of the Internal Revenue Code provides direct cash payments from the U.S. Treasury covering up to 40% of clean energy canopy installations; and</a:t>
            </a:r>
            <a:br/>
            <a:br/>
            <a:r>
              <a:t>NOW, THEREFORE, BE IT RESOLVED that the Board directs the Superintendent to initiate an RFP for parking lot solar carports to capture available federal Direct Pay funds and protect operating budgets.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09 / 10</a:t>
            </a:r>
          </a:p>
        </p:txBody>
      </p:sp>
      <p:sp>
        <p:nvSpPr>
          <p:cNvPr id="7" name="Rectangle 6"/>
          <p:cNvSpPr/>
          <p:nvPr/>
        </p:nvSpPr>
        <p:spPr>
          <a:xfrm>
            <a:off x="0" y="493776"/>
            <a:ext cx="10972525"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BEYOND CLEAN POWER</a:t>
            </a:r>
          </a:p>
          <a:p>
            <a:pPr>
              <a:spcBef>
                <a:spcPts val="200"/>
              </a:spcBef>
              <a:defRPr sz="2200" b="1">
                <a:solidFill>
                  <a:srgbClr val="F1F5F9"/>
                </a:solidFill>
              </a:defRPr>
            </a:pPr>
            <a:r>
              <a:t>Multi-Dimensional Campus Co-Benefits</a:t>
            </a:r>
          </a:p>
          <a:p>
            <a:pPr>
              <a:spcBef>
                <a:spcPts val="400"/>
              </a:spcBef>
              <a:defRPr sz="1150">
                <a:solidFill>
                  <a:srgbClr val="94A3B8"/>
                </a:solidFill>
              </a:defRPr>
            </a:pPr>
            <a:r>
              <a:t>Parking lot canopies solve multiple operational and educational challenges simultaneously.</a:t>
            </a:r>
          </a:p>
        </p:txBody>
      </p:sp>
      <p:sp>
        <p:nvSpPr>
          <p:cNvPr id="9" name="Rounded Rectangle 8"/>
          <p:cNvSpPr/>
          <p:nvPr/>
        </p:nvSpPr>
        <p:spPr>
          <a:xfrm>
            <a:off x="548640" y="1920240"/>
            <a:ext cx="3474720" cy="329184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3108960" cy="3017520"/>
          </a:xfrm>
          <a:prstGeom prst="rect">
            <a:avLst/>
          </a:prstGeom>
          <a:noFill/>
        </p:spPr>
        <p:txBody>
          <a:bodyPr wrap="square">
            <a:spAutoFit/>
          </a:bodyPr>
          <a:lstStyle/>
          <a:p>
            <a:pPr>
              <a:defRPr sz="3200" b="1">
                <a:solidFill>
                  <a:srgbClr val="38BDF8"/>
                </a:solidFill>
              </a:defRPr>
            </a:pPr>
            <a:r>
              <a:t>-30°F</a:t>
            </a:r>
          </a:p>
          <a:p>
            <a:pPr>
              <a:spcBef>
                <a:spcPts val="400"/>
              </a:spcBef>
              <a:defRPr sz="850" b="1">
                <a:solidFill>
                  <a:srgbClr val="64748B"/>
                </a:solidFill>
              </a:defRPr>
            </a:pPr>
            <a:r>
              <a:t>SURFACE MICROCLIMATE COOLING</a:t>
            </a:r>
          </a:p>
          <a:p>
            <a:pPr>
              <a:spcBef>
                <a:spcPts val="1000"/>
              </a:spcBef>
              <a:defRPr sz="1000">
                <a:solidFill>
                  <a:srgbClr val="94A3B8"/>
                </a:solidFill>
              </a:defRPr>
            </a:pPr>
            <a:r>
              <a:t>Canopies intercept direct solar radiation, lowering asphalt surface temperatures from 145°F down to ambient shade, drastically reducing the campus urban heat island effect.</a:t>
            </a:r>
          </a:p>
        </p:txBody>
      </p:sp>
      <p:sp>
        <p:nvSpPr>
          <p:cNvPr id="12" name="Rounded Rectangle 11"/>
          <p:cNvSpPr/>
          <p:nvPr/>
        </p:nvSpPr>
        <p:spPr>
          <a:xfrm>
            <a:off x="4343400" y="1920240"/>
            <a:ext cx="3474720" cy="329184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920240"/>
            <a:ext cx="3474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57400"/>
            <a:ext cx="3108960" cy="3017520"/>
          </a:xfrm>
          <a:prstGeom prst="rect">
            <a:avLst/>
          </a:prstGeom>
          <a:noFill/>
        </p:spPr>
        <p:txBody>
          <a:bodyPr wrap="square">
            <a:spAutoFit/>
          </a:bodyPr>
          <a:lstStyle/>
          <a:p>
            <a:pPr>
              <a:defRPr sz="3200" b="1">
                <a:solidFill>
                  <a:srgbClr val="10B981"/>
                </a:solidFill>
              </a:defRPr>
            </a:pPr>
            <a:r>
              <a:t>EV Ready</a:t>
            </a:r>
          </a:p>
          <a:p>
            <a:pPr>
              <a:spcBef>
                <a:spcPts val="400"/>
              </a:spcBef>
              <a:defRPr sz="850" b="1">
                <a:solidFill>
                  <a:srgbClr val="64748B"/>
                </a:solidFill>
              </a:defRPr>
            </a:pPr>
            <a:r>
              <a:t>FLEET ELECTRIFICATION CONDUIT</a:t>
            </a:r>
          </a:p>
          <a:p>
            <a:pPr>
              <a:spcBef>
                <a:spcPts val="1000"/>
              </a:spcBef>
              <a:defRPr sz="1000">
                <a:solidFill>
                  <a:srgbClr val="94A3B8"/>
                </a:solidFill>
              </a:defRPr>
            </a:pPr>
            <a:r>
              <a:t>Canopy structural posts and underground trenches provide ready electrical conduit for Level 2 EV charging for teachers during the day and electric school buses overnight.</a:t>
            </a:r>
          </a:p>
        </p:txBody>
      </p:sp>
      <p:sp>
        <p:nvSpPr>
          <p:cNvPr id="15" name="Rounded Rectangle 14"/>
          <p:cNvSpPr/>
          <p:nvPr/>
        </p:nvSpPr>
        <p:spPr>
          <a:xfrm>
            <a:off x="8138160" y="1920240"/>
            <a:ext cx="3474720" cy="329184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3108960" cy="3017520"/>
          </a:xfrm>
          <a:prstGeom prst="rect">
            <a:avLst/>
          </a:prstGeom>
          <a:noFill/>
        </p:spPr>
        <p:txBody>
          <a:bodyPr wrap="square">
            <a:spAutoFit/>
          </a:bodyPr>
          <a:lstStyle/>
          <a:p>
            <a:pPr>
              <a:defRPr sz="3200" b="1">
                <a:solidFill>
                  <a:srgbClr val="38BDF8"/>
                </a:solidFill>
              </a:defRPr>
            </a:pPr>
            <a:r>
              <a:t>STEM Lab</a:t>
            </a:r>
          </a:p>
          <a:p>
            <a:pPr>
              <a:spcBef>
                <a:spcPts val="400"/>
              </a:spcBef>
              <a:defRPr sz="850" b="1">
                <a:solidFill>
                  <a:srgbClr val="64748B"/>
                </a:solidFill>
              </a:defRPr>
            </a:pPr>
            <a:r>
              <a:t>LIVING EDUCATIONAL DASHBOARD</a:t>
            </a:r>
          </a:p>
          <a:p>
            <a:pPr>
              <a:spcBef>
                <a:spcPts val="1000"/>
              </a:spcBef>
              <a:defRPr sz="1000">
                <a:solidFill>
                  <a:srgbClr val="94A3B8"/>
                </a:solidFill>
              </a:defRPr>
            </a:pPr>
            <a:r>
              <a:t>Real-time solar inverter generation data transforms the parking lot into a physical STEM learning laboratory for physics, climate science, and data engineering classes.</a:t>
            </a:r>
          </a:p>
        </p:txBody>
      </p:sp>
      <p:sp>
        <p:nvSpPr>
          <p:cNvPr id="18" name="Rounded Rectangle 17"/>
          <p:cNvSpPr/>
          <p:nvPr/>
        </p:nvSpPr>
        <p:spPr>
          <a:xfrm>
            <a:off x="548640" y="5394960"/>
            <a:ext cx="11094415" cy="91440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5394960"/>
            <a:ext cx="1109441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468112"/>
            <a:ext cx="10607040" cy="731520"/>
          </a:xfrm>
          <a:prstGeom prst="rect">
            <a:avLst/>
          </a:prstGeom>
          <a:noFill/>
        </p:spPr>
        <p:txBody>
          <a:bodyPr wrap="square">
            <a:spAutoFit/>
          </a:bodyPr>
          <a:lstStyle/>
          <a:p>
            <a:pPr>
              <a:defRPr sz="950" b="1">
                <a:solidFill>
                  <a:srgbClr val="10B981"/>
                </a:solidFill>
              </a:defRPr>
            </a:pPr>
            <a:r>
              <a:t>WHY PARKING LOTS INSTEAD OF ROOFTOPS?</a:t>
            </a:r>
          </a:p>
          <a:p>
            <a:pPr>
              <a:spcBef>
                <a:spcPts val="200"/>
              </a:spcBef>
              <a:defRPr sz="1000">
                <a:solidFill>
                  <a:srgbClr val="F1F5F9"/>
                </a:solidFill>
              </a:defRPr>
            </a:pPr>
            <a:r>
              <a:t>Rooftop solar voids 20-year roof warranties, requires invasive roof penetrations, and has seismic/HVAC limitations. Parking lots have zero roof penetration, unobstructed flat southern exposure, and shade parked cars.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2011680" cy="292608"/>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STANFORD CLIMATE WEEK</a:t>
            </a:r>
          </a:p>
        </p:txBody>
      </p:sp>
      <p:sp>
        <p:nvSpPr>
          <p:cNvPr id="5" name="TextBox 4"/>
          <p:cNvSpPr txBox="1"/>
          <p:nvPr/>
        </p:nvSpPr>
        <p:spPr>
          <a:xfrm>
            <a:off x="2606040" y="73152"/>
            <a:ext cx="5486400" cy="365760"/>
          </a:xfrm>
          <a:prstGeom prst="rect">
            <a:avLst/>
          </a:prstGeom>
          <a:noFill/>
        </p:spPr>
        <p:txBody>
          <a:bodyPr wrap="none">
            <a:spAutoFit/>
          </a:bodyPr>
          <a:lstStyle/>
          <a:p>
            <a:pPr>
              <a:defRPr sz="1000">
                <a:solidFill>
                  <a:srgbClr val="94A3B8"/>
                </a:solidFill>
              </a:defRPr>
            </a:pPr>
            <a:r>
              <a:t>SVYCA Youth For Earth Hackathon | SolarSchools USA</a:t>
            </a:r>
          </a:p>
        </p:txBody>
      </p:sp>
      <p:sp>
        <p:nvSpPr>
          <p:cNvPr id="6" name="TextBox 5"/>
          <p:cNvSpPr txBox="1"/>
          <p:nvPr/>
        </p:nvSpPr>
        <p:spPr>
          <a:xfrm>
            <a:off x="10241280" y="73152"/>
            <a:ext cx="1463040" cy="365760"/>
          </a:xfrm>
          <a:prstGeom prst="rect">
            <a:avLst/>
          </a:prstGeom>
          <a:noFill/>
        </p:spPr>
        <p:txBody>
          <a:bodyPr wrap="none">
            <a:spAutoFit/>
          </a:bodyPr>
          <a:lstStyle/>
          <a:p>
            <a:pPr algn="r">
              <a:defRPr sz="1050" b="1">
                <a:solidFill>
                  <a:srgbClr val="38BDF8"/>
                </a:solidFill>
              </a:defRPr>
            </a:pPr>
            <a:r>
              <a:t>10 / 10</a:t>
            </a:r>
          </a:p>
        </p:txBody>
      </p:sp>
      <p:sp>
        <p:nvSpPr>
          <p:cNvPr id="7" name="Rectangle 6"/>
          <p:cNvSpPr/>
          <p:nvPr/>
        </p:nvSpPr>
        <p:spPr>
          <a:xfrm>
            <a:off x="0" y="493776"/>
            <a:ext cx="12191695" cy="274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8368"/>
            <a:ext cx="11091672" cy="1097280"/>
          </a:xfrm>
          <a:prstGeom prst="rect">
            <a:avLst/>
          </a:prstGeom>
          <a:noFill/>
        </p:spPr>
        <p:txBody>
          <a:bodyPr wrap="square" lIns="0" tIns="0" rIns="0" bIns="0">
            <a:spAutoFit/>
          </a:bodyPr>
          <a:lstStyle/>
          <a:p>
            <a:pPr>
              <a:defRPr sz="950" b="1">
                <a:solidFill>
                  <a:srgbClr val="38BDF8"/>
                </a:solidFill>
              </a:defRPr>
            </a:pPr>
            <a:r>
              <a:t>CONCLUSION</a:t>
            </a:r>
          </a:p>
          <a:p>
            <a:pPr>
              <a:spcBef>
                <a:spcPts val="200"/>
              </a:spcBef>
              <a:defRPr sz="2200" b="1">
                <a:solidFill>
                  <a:srgbClr val="F1F5F9"/>
                </a:solidFill>
              </a:defRPr>
            </a:pPr>
            <a:r>
              <a:t>Let's Shade Our Schools &amp; Fund Our Classrooms</a:t>
            </a:r>
          </a:p>
          <a:p>
            <a:pPr>
              <a:spcBef>
                <a:spcPts val="400"/>
              </a:spcBef>
              <a:defRPr sz="1150">
                <a:solidFill>
                  <a:srgbClr val="94A3B8"/>
                </a:solidFill>
              </a:defRPr>
            </a:pPr>
            <a:r>
              <a:t>The technology is proven, the federal funding is uncapped, and the roadmap is ready.</a:t>
            </a:r>
          </a:p>
        </p:txBody>
      </p:sp>
      <p:sp>
        <p:nvSpPr>
          <p:cNvPr id="9" name="Rounded Rectangle 8"/>
          <p:cNvSpPr/>
          <p:nvPr/>
        </p:nvSpPr>
        <p:spPr>
          <a:xfrm>
            <a:off x="548640" y="1920240"/>
            <a:ext cx="3474720" cy="210312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3474720"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3108960" cy="1828800"/>
          </a:xfrm>
          <a:prstGeom prst="rect">
            <a:avLst/>
          </a:prstGeom>
          <a:noFill/>
        </p:spPr>
        <p:txBody>
          <a:bodyPr wrap="square">
            <a:spAutoFit/>
          </a:bodyPr>
          <a:lstStyle/>
          <a:p>
            <a:pPr>
              <a:defRPr sz="1300" b="1">
                <a:solidFill>
                  <a:srgbClr val="F1F5F9"/>
                </a:solidFill>
              </a:defRPr>
            </a:pPr>
            <a:r>
              <a:t>1. The Asset</a:t>
            </a:r>
          </a:p>
          <a:p>
            <a:pPr>
              <a:spcBef>
                <a:spcPts val="800"/>
              </a:spcBef>
              <a:defRPr sz="1000">
                <a:solidFill>
                  <a:srgbClr val="94A3B8"/>
                </a:solidFill>
              </a:defRPr>
            </a:pPr>
            <a:r>
              <a:t>100,000+ public school parking lots are idle clean energy goldmines waiting to be activated across all 50 states.</a:t>
            </a:r>
          </a:p>
        </p:txBody>
      </p:sp>
      <p:sp>
        <p:nvSpPr>
          <p:cNvPr id="12" name="Rounded Rectangle 11"/>
          <p:cNvSpPr/>
          <p:nvPr/>
        </p:nvSpPr>
        <p:spPr>
          <a:xfrm>
            <a:off x="4343400" y="1920240"/>
            <a:ext cx="3474720" cy="210312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920240"/>
            <a:ext cx="3474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57400"/>
            <a:ext cx="3108960" cy="1828800"/>
          </a:xfrm>
          <a:prstGeom prst="rect">
            <a:avLst/>
          </a:prstGeom>
          <a:noFill/>
        </p:spPr>
        <p:txBody>
          <a:bodyPr wrap="square">
            <a:spAutoFit/>
          </a:bodyPr>
          <a:lstStyle/>
          <a:p>
            <a:pPr>
              <a:defRPr sz="1300" b="1">
                <a:solidFill>
                  <a:srgbClr val="F1F5F9"/>
                </a:solidFill>
              </a:defRPr>
            </a:pPr>
            <a:r>
              <a:t>2. The Funding</a:t>
            </a:r>
          </a:p>
          <a:p>
            <a:pPr>
              <a:spcBef>
                <a:spcPts val="800"/>
              </a:spcBef>
              <a:defRPr sz="1000">
                <a:solidFill>
                  <a:srgbClr val="94A3B8"/>
                </a:solidFill>
              </a:defRPr>
            </a:pPr>
            <a:r>
              <a:t>IRS Direct Pay writes 30% to 50% upfront cash checks, reducing net capital outlay and driving payback under 3 years.</a:t>
            </a:r>
          </a:p>
        </p:txBody>
      </p:sp>
      <p:sp>
        <p:nvSpPr>
          <p:cNvPr id="15" name="Rounded Rectangle 14"/>
          <p:cNvSpPr/>
          <p:nvPr/>
        </p:nvSpPr>
        <p:spPr>
          <a:xfrm>
            <a:off x="8138160" y="1920240"/>
            <a:ext cx="3474720" cy="210312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1920240"/>
            <a:ext cx="3474720" cy="54864"/>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3108960" cy="1828800"/>
          </a:xfrm>
          <a:prstGeom prst="rect">
            <a:avLst/>
          </a:prstGeom>
          <a:noFill/>
        </p:spPr>
        <p:txBody>
          <a:bodyPr wrap="square">
            <a:spAutoFit/>
          </a:bodyPr>
          <a:lstStyle/>
          <a:p>
            <a:pPr>
              <a:defRPr sz="1300" b="1">
                <a:solidFill>
                  <a:srgbClr val="F1F5F9"/>
                </a:solidFill>
              </a:defRPr>
            </a:pPr>
            <a:r>
              <a:t>3. The Catalyst</a:t>
            </a:r>
          </a:p>
          <a:p>
            <a:pPr>
              <a:spcBef>
                <a:spcPts val="800"/>
              </a:spcBef>
              <a:defRPr sz="1000">
                <a:solidFill>
                  <a:srgbClr val="94A3B8"/>
                </a:solidFill>
              </a:defRPr>
            </a:pPr>
            <a:r>
              <a:t>SolarSchools USA provides the free computational intelligence to turn students into civic climate leaders.</a:t>
            </a:r>
          </a:p>
        </p:txBody>
      </p:sp>
      <p:sp>
        <p:nvSpPr>
          <p:cNvPr id="18" name="Rounded Rectangle 17"/>
          <p:cNvSpPr/>
          <p:nvPr/>
        </p:nvSpPr>
        <p:spPr>
          <a:xfrm>
            <a:off x="548640" y="4297680"/>
            <a:ext cx="11094415" cy="2011680"/>
          </a:xfrm>
          <a:prstGeom prst="roundRect">
            <a:avLst/>
          </a:prstGeom>
          <a:solidFill>
            <a:srgbClr val="161F30"/>
          </a:solidFill>
          <a:ln w="12700">
            <a:solidFill>
              <a:srgbClr val="263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4297680"/>
            <a:ext cx="11094415" cy="54864"/>
          </a:xfrm>
          <a:prstGeom prst="roundRect">
            <a:avLst/>
          </a:prstGeom>
          <a:solidFill>
            <a:srgbClr val="8C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34840"/>
            <a:ext cx="10607040" cy="1737360"/>
          </a:xfrm>
          <a:prstGeom prst="rect">
            <a:avLst/>
          </a:prstGeom>
          <a:noFill/>
        </p:spPr>
        <p:txBody>
          <a:bodyPr wrap="square">
            <a:spAutoFit/>
          </a:bodyPr>
          <a:lstStyle/>
          <a:p>
            <a:pPr algn="ctr">
              <a:defRPr sz="1800" b="1">
                <a:solidFill>
                  <a:srgbClr val="F1F5F9"/>
                </a:solidFill>
              </a:defRPr>
            </a:pPr>
            <a:r>
              <a:t>EVERY YEAR OF DELAY COSTS A SINGLE HIGH SCHOOL $140,000.</a:t>
            </a:r>
          </a:p>
          <a:p>
            <a:pPr algn="ctr">
              <a:spcBef>
                <a:spcPts val="600"/>
              </a:spcBef>
              <a:defRPr sz="1300">
                <a:solidFill>
                  <a:srgbClr val="38BDF8"/>
                </a:solidFill>
              </a:defRPr>
            </a:pPr>
            <a:r>
              <a:t>Together, we can turn baking asphalt into clean electricity and educational equity.</a:t>
            </a:r>
          </a:p>
          <a:p>
            <a:pPr algn="ctr">
              <a:spcBef>
                <a:spcPts val="1400"/>
              </a:spcBef>
              <a:defRPr sz="1100">
                <a:solidFill>
                  <a:srgbClr val="94A3B8"/>
                </a:solidFill>
              </a:defRPr>
            </a:pPr>
            <a:r>
              <a:t>Presenter: Pranav Balaji   |   Event: SVYCA Youth For Earth Hackathon @ Stanford Climate Week</a:t>
            </a:r>
            <a:br/>
            <a:r>
              <a:t>Thank you, and I look forward to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