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[0:00 - 0:25] 'Hi everyone, my name is Pranav Balaji, and I am a 10th grader. I want to start with a simple question: why are our school parking lots baking under the sun, while our districts bleed billions on power? Every single morning, our cars sit on 140-degree asphalt. Meanwhile, public schools spend 8 billion dollars every year on electricity bills! And the craziest part? The federal government now offers cash checks covering up to 50% of solar canopy costs, but over 90% of school boards have never heard of it. That is the exact problem we are solving with SolarSchools USA.'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[0:25 - 0:50] 'Why hasn't every school built solar canopies already? Two reasons. First, because public schools don't pay taxes, they historically couldn't use solar tax credits. Second, private engineering consultants charge $25,000 just to do a feasibility study! Most public school districts simply don't have that cash lying around. So they wait. But every year a typical high school delays, they lose $140,000 to the utility company. That is two full-time teacher salaries lost every single year.'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[0:50 - 1:15] 'Here is the breakthrough. In 2022, Congress passed a new law called 'Direct Pay' under Section 6417. For the first time in history, the IRS writes an actual, uncapped CASH reimbursement check directly to public schools! They pay a 30% base grant, plus an extra 10% for American steel and 10% for Title I schools. That means the federal government covers up to 50% of the entire project! All the district has to do is claim it. But almost no school board knows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[1:15 - 1:40] 'So I built SolarSchools USA to democratize this data. Step 1: choose any campus from our 18 Bay Area pilot schools. It zooms right onto the parking lot. Step 2: it runs live Department of Energy solar physics in real time to calculate panel count, kilowatt capacity, and power output. Step 3: click one button, and you get an executive action brief with a 25-year cashflow schedule and a draft board resolution. Any student can hand this directly to their school board trustees.'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[1:40 - 2:05] 'We made sure the numbers are rock-solid. We don't assume the entire parking lot is covered in solar. We apply an empirical 65% packing factor, which reserves driving lanes, ADA spots, and a 14-foot vertical clearance for yellow school buses. Then, we query the Department of Energy's satellite database to calculate exact sunshine, temperature derates, and seasonal loss. It's the same math that engineering firms use, but packaged so anyone can run it in seconds.'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[2:05 - 2:35] 'Look at real proof right here in Silicon Valley. At Monta Vista High in Cupertino, they installed solar carports in 2021. Our software modeled $145,000 in annual savings. Their actual published bills showed $139,200—within 4%! Now look 10 miles away at Palo Alto High. They have a massive unshaded parking lot losing $140,000 every year. And there is a $754,000 check from the federal government sitting on the table unclaimed. That $140,000 lost every single year could hire two full-time teachers!'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[2:35 - 3:00] 'When you look at the economics, it is an absolute no-brainer. With the federal Direct Pay check covering up to 40% or 50% upfront, the payback period drops to just 3.7 years! After year four, all that electricity is pure savings for the school district. Over the 25-year lifespan of the panels, a single high school generates nearly 10 million dollars in net savings. That is permanent money for teachers, science labs, and student mental health counselors.'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[3:00 - 3:20] 'Beyond the money, this transforms what our campuses feel like every day. Parking lots go from boiling asphalt into shaded community assets. Cars stay 40 degrees cooler, and teachers get free Level 2 EV charging powered directly by the sun. Elementary school kids get shaded play areas so blacktop doesn't burn their knees. And in emergencies or wildfire blackouts, these systems can keep emergency shelters and food refrigeration powered. It turns our schools into true clean energy hubs.'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[3:20 - 3:35] 'Here is where we are heading. Phase 1 is done and live today: 18 schools right here in our backyard. Phase 2 scales across California to 10,000 schools, prioritizing hot Central Valley districts and Title I schools. And Phase 3 scales nationwide to 100,000 schools across all 50 states. In places like the Midwest, power grids still rely on dirty coal, so a solar panel installed on an Ohio school cuts two and a half times more carbon than the same panel in California! If just 10% of US schools build solar canopies, we save education budgets 800 million dollars every single year.'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[3:35 - 3:50] 'To wrap up: students shouldn't have to wait 10 years for school boards to hire expensive consultants. With SolarSchools USA, any student can look up their campus in five seconds, print out a professional brief, and walk up to the microphone at their school board meeting this Tuesday. Our schools have the sunshine. The federal government has the cash. Let's shade our parking lots and power our classrooms. Thank you so much, and I welcome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97480" y="73152"/>
            <a:ext cx="5943600" cy="365760"/>
          </a:xfrm>
          <a:prstGeom prst="rect">
            <a:avLst/>
          </a:prstGeom>
          <a:noFill/>
        </p:spPr>
        <p:txBody>
          <a:bodyPr wrap="none">
            <a:spAutoFit/>
          </a:bodyPr>
          <a:lstStyle/>
          <a:p>
            <a:pPr>
              <a:defRPr sz="950">
                <a:solidFill>
                  <a:srgbClr val="475569"/>
                </a:solidFill>
              </a:defRPr>
            </a:pPr>
            <a:r>
              <a:t>SVYCA Youth For Earth Hackathon  |  Clean Energy &amp; School Climate Action</a:t>
            </a:r>
          </a:p>
        </p:txBody>
      </p:sp>
      <p:sp>
        <p:nvSpPr>
          <p:cNvPr id="6" name="TextBox 5"/>
          <p:cNvSpPr txBox="1"/>
          <p:nvPr/>
        </p:nvSpPr>
        <p:spPr>
          <a:xfrm>
            <a:off x="10241280" y="73152"/>
            <a:ext cx="1371600" cy="365760"/>
          </a:xfrm>
          <a:prstGeom prst="rect">
            <a:avLst/>
          </a:prstGeom>
          <a:noFill/>
        </p:spPr>
        <p:txBody>
          <a:bodyPr wrap="none">
            <a:spAutoFit/>
          </a:bodyPr>
          <a:lstStyle/>
          <a:p>
            <a:pPr algn="r">
              <a:defRPr sz="1000" b="1">
                <a:solidFill>
                  <a:srgbClr val="0284C7"/>
                </a:solidFill>
              </a:defRPr>
            </a:pPr>
            <a:r>
              <a:t>01 / 10</a:t>
            </a:r>
          </a:p>
        </p:txBody>
      </p:sp>
      <p:sp>
        <p:nvSpPr>
          <p:cNvPr id="7" name="Rectangle 6"/>
          <p:cNvSpPr/>
          <p:nvPr/>
        </p:nvSpPr>
        <p:spPr>
          <a:xfrm>
            <a:off x="0" y="493776"/>
            <a:ext cx="1219169" cy="228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051560"/>
            <a:ext cx="10698480" cy="2103120"/>
          </a:xfrm>
          <a:prstGeom prst="rect">
            <a:avLst/>
          </a:prstGeom>
          <a:noFill/>
        </p:spPr>
        <p:txBody>
          <a:bodyPr wrap="square">
            <a:spAutoFit/>
          </a:bodyPr>
          <a:lstStyle/>
          <a:p>
            <a:pPr>
              <a:defRPr sz="1000" b="1">
                <a:solidFill>
                  <a:srgbClr val="8C1515"/>
                </a:solidFill>
              </a:defRPr>
            </a:pPr>
            <a:r>
              <a:t>SOLARSCHOOLS USA  |  SVYCA YOUTH FOR EARTH HACKATHON</a:t>
            </a:r>
          </a:p>
          <a:p>
            <a:pPr>
              <a:spcBef>
                <a:spcPts val="300"/>
              </a:spcBef>
              <a:defRPr sz="2600" b="1">
                <a:solidFill>
                  <a:srgbClr val="0F172A"/>
                </a:solidFill>
              </a:defRPr>
            </a:pPr>
            <a:r>
              <a:t>The Problem: Why Are School Parking Lots Baking in the Sun While Districts Bleed Billions on Power?</a:t>
            </a:r>
          </a:p>
          <a:p>
            <a:pPr>
              <a:spcBef>
                <a:spcPts val="600"/>
              </a:spcBef>
              <a:defRPr sz="1200">
                <a:solidFill>
                  <a:srgbClr val="475569"/>
                </a:solidFill>
              </a:defRPr>
            </a:pPr>
            <a:r>
              <a:t>Across the U.S., 100,000 public schools sit on unshaded blacktop asphalt, surrendering classroom funds to utility companies while millions in federal clean energy grants sit unclaimed.</a:t>
            </a:r>
          </a:p>
        </p:txBody>
      </p:sp>
      <p:sp>
        <p:nvSpPr>
          <p:cNvPr id="9" name="TextBox 8"/>
          <p:cNvSpPr txBox="1"/>
          <p:nvPr/>
        </p:nvSpPr>
        <p:spPr>
          <a:xfrm>
            <a:off x="731520" y="3291840"/>
            <a:ext cx="10698480" cy="365760"/>
          </a:xfrm>
          <a:prstGeom prst="rect">
            <a:avLst/>
          </a:prstGeom>
          <a:noFill/>
        </p:spPr>
        <p:txBody>
          <a:bodyPr wrap="none">
            <a:spAutoFit/>
          </a:bodyPr>
          <a:lstStyle/>
          <a:p>
            <a:pPr>
              <a:defRPr sz="1050" b="1">
                <a:solidFill>
                  <a:srgbClr val="0F172A"/>
                </a:solidFill>
              </a:defRPr>
            </a:pPr>
            <a:r>
              <a:t>Pranav Balaji  |  10th Grade  |  Silicon Valley Youth Climate Action (SVYCA)  |  October 2026</a:t>
            </a:r>
          </a:p>
        </p:txBody>
      </p:sp>
      <p:sp>
        <p:nvSpPr>
          <p:cNvPr id="10" name="Rounded Rectangle 9"/>
          <p:cNvSpPr/>
          <p:nvPr/>
        </p:nvSpPr>
        <p:spPr>
          <a:xfrm>
            <a:off x="548640" y="3886200"/>
            <a:ext cx="3474720" cy="2468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3886200"/>
            <a:ext cx="3474720" cy="54864"/>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995928"/>
            <a:ext cx="3108960" cy="2249424"/>
          </a:xfrm>
          <a:prstGeom prst="rect">
            <a:avLst/>
          </a:prstGeom>
          <a:noFill/>
        </p:spPr>
        <p:txBody>
          <a:bodyPr wrap="square">
            <a:spAutoFit/>
          </a:bodyPr>
          <a:lstStyle/>
          <a:p>
            <a:pPr>
              <a:defRPr sz="850" b="1">
                <a:solidFill>
                  <a:srgbClr val="DC2626"/>
                </a:solidFill>
              </a:defRPr>
            </a:pPr>
            <a:r>
              <a:t>PROBLEM 1: EXTREME HEAT</a:t>
            </a:r>
          </a:p>
          <a:p>
            <a:pPr>
              <a:spcBef>
                <a:spcPts val="200"/>
              </a:spcBef>
              <a:defRPr sz="1500" b="1">
                <a:solidFill>
                  <a:srgbClr val="0F172A"/>
                </a:solidFill>
              </a:defRPr>
            </a:pPr>
            <a:r>
              <a:t>140°F Baking Asphalt</a:t>
            </a:r>
          </a:p>
          <a:p>
            <a:pPr>
              <a:spcBef>
                <a:spcPts val="400"/>
              </a:spcBef>
              <a:defRPr sz="1000">
                <a:solidFill>
                  <a:srgbClr val="475569"/>
                </a:solidFill>
              </a:defRPr>
            </a:pPr>
            <a:r>
              <a:t>- Empty blacktop bakes student and staff cars</a:t>
            </a:r>
          </a:p>
          <a:p>
            <a:pPr>
              <a:spcBef>
                <a:spcPts val="400"/>
              </a:spcBef>
              <a:defRPr sz="1000">
                <a:solidFill>
                  <a:srgbClr val="475569"/>
                </a:solidFill>
              </a:defRPr>
            </a:pPr>
            <a:r>
              <a:t>- Creates campus heat islands in hot months</a:t>
            </a:r>
          </a:p>
          <a:p>
            <a:pPr>
              <a:spcBef>
                <a:spcPts val="400"/>
              </a:spcBef>
              <a:defRPr sz="1000">
                <a:solidFill>
                  <a:srgbClr val="475569"/>
                </a:solidFill>
              </a:defRPr>
            </a:pPr>
            <a:r>
              <a:t>- Playground asphalt gets too hot for students</a:t>
            </a:r>
          </a:p>
        </p:txBody>
      </p:sp>
      <p:sp>
        <p:nvSpPr>
          <p:cNvPr id="13" name="Rounded Rectangle 12"/>
          <p:cNvSpPr/>
          <p:nvPr/>
        </p:nvSpPr>
        <p:spPr>
          <a:xfrm>
            <a:off x="4343400" y="3886200"/>
            <a:ext cx="3474720" cy="2468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43400" y="3886200"/>
            <a:ext cx="3474720" cy="54864"/>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3995928"/>
            <a:ext cx="3108960" cy="2249424"/>
          </a:xfrm>
          <a:prstGeom prst="rect">
            <a:avLst/>
          </a:prstGeom>
          <a:noFill/>
        </p:spPr>
        <p:txBody>
          <a:bodyPr wrap="square">
            <a:spAutoFit/>
          </a:bodyPr>
          <a:lstStyle/>
          <a:p>
            <a:pPr>
              <a:defRPr sz="850" b="1">
                <a:solidFill>
                  <a:srgbClr val="DC2626"/>
                </a:solidFill>
              </a:defRPr>
            </a:pPr>
            <a:r>
              <a:t>PROBLEM 2: BUDGET DRAIN</a:t>
            </a:r>
          </a:p>
          <a:p>
            <a:pPr>
              <a:spcBef>
                <a:spcPts val="200"/>
              </a:spcBef>
              <a:defRPr sz="1500" b="1">
                <a:solidFill>
                  <a:srgbClr val="0F172A"/>
                </a:solidFill>
              </a:defRPr>
            </a:pPr>
            <a:r>
              <a:t>$8.0 Billion Wasted</a:t>
            </a:r>
          </a:p>
          <a:p>
            <a:pPr>
              <a:spcBef>
                <a:spcPts val="400"/>
              </a:spcBef>
              <a:defRPr sz="1000">
                <a:solidFill>
                  <a:srgbClr val="475569"/>
                </a:solidFill>
              </a:defRPr>
            </a:pPr>
            <a:r>
              <a:t>- Electricity is schools' #2 cost after teachers</a:t>
            </a:r>
          </a:p>
          <a:p>
            <a:pPr>
              <a:spcBef>
                <a:spcPts val="400"/>
              </a:spcBef>
              <a:defRPr sz="1000">
                <a:solidFill>
                  <a:srgbClr val="475569"/>
                </a:solidFill>
              </a:defRPr>
            </a:pPr>
            <a:r>
              <a:t>- Monopoly utility bills drain classroom funds</a:t>
            </a:r>
          </a:p>
          <a:p>
            <a:pPr>
              <a:spcBef>
                <a:spcPts val="400"/>
              </a:spcBef>
              <a:defRPr sz="1000">
                <a:solidFill>
                  <a:srgbClr val="475569"/>
                </a:solidFill>
              </a:defRPr>
            </a:pPr>
            <a:r>
              <a:t>- Schools lose cash that should fund education</a:t>
            </a:r>
          </a:p>
        </p:txBody>
      </p:sp>
      <p:sp>
        <p:nvSpPr>
          <p:cNvPr id="16" name="Rounded Rectangle 15"/>
          <p:cNvSpPr/>
          <p:nvPr/>
        </p:nvSpPr>
        <p:spPr>
          <a:xfrm>
            <a:off x="8138160" y="3886200"/>
            <a:ext cx="3474720" cy="2468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38160" y="3886200"/>
            <a:ext cx="3474720" cy="54864"/>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95928"/>
            <a:ext cx="3108960" cy="2249424"/>
          </a:xfrm>
          <a:prstGeom prst="rect">
            <a:avLst/>
          </a:prstGeom>
          <a:noFill/>
        </p:spPr>
        <p:txBody>
          <a:bodyPr wrap="square">
            <a:spAutoFit/>
          </a:bodyPr>
          <a:lstStyle/>
          <a:p>
            <a:pPr>
              <a:defRPr sz="850" b="1">
                <a:solidFill>
                  <a:srgbClr val="D97706"/>
                </a:solidFill>
              </a:defRPr>
            </a:pPr>
            <a:r>
              <a:t>PROBLEM 3: THE GAP</a:t>
            </a:r>
          </a:p>
          <a:p>
            <a:pPr>
              <a:spcBef>
                <a:spcPts val="200"/>
              </a:spcBef>
              <a:defRPr sz="1500" b="1">
                <a:solidFill>
                  <a:srgbClr val="0F172A"/>
                </a:solidFill>
              </a:defRPr>
            </a:pPr>
            <a:r>
              <a:t>$750K Grant Sitting Idle</a:t>
            </a:r>
          </a:p>
          <a:p>
            <a:pPr>
              <a:spcBef>
                <a:spcPts val="400"/>
              </a:spcBef>
              <a:defRPr sz="1000">
                <a:solidFill>
                  <a:srgbClr val="475569"/>
                </a:solidFill>
              </a:defRPr>
            </a:pPr>
            <a:r>
              <a:t>- Federal IRA Direct Pay pays 30% to 50% in cash</a:t>
            </a:r>
          </a:p>
          <a:p>
            <a:pPr>
              <a:spcBef>
                <a:spcPts val="400"/>
              </a:spcBef>
              <a:defRPr sz="1000">
                <a:solidFill>
                  <a:srgbClr val="475569"/>
                </a:solidFill>
              </a:defRPr>
            </a:pPr>
            <a:r>
              <a:t>- Over 90% of school boards don't know it exists!</a:t>
            </a:r>
          </a:p>
          <a:p>
            <a:pPr>
              <a:spcBef>
                <a:spcPts val="400"/>
              </a:spcBef>
              <a:defRPr sz="1000">
                <a:solidFill>
                  <a:srgbClr val="475569"/>
                </a:solidFill>
              </a:defRPr>
            </a:pPr>
            <a:r>
              <a:t>- Private consultant studies cost $25K and take a year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97480" y="73152"/>
            <a:ext cx="5943600" cy="365760"/>
          </a:xfrm>
          <a:prstGeom prst="rect">
            <a:avLst/>
          </a:prstGeom>
          <a:noFill/>
        </p:spPr>
        <p:txBody>
          <a:bodyPr wrap="none">
            <a:spAutoFit/>
          </a:bodyPr>
          <a:lstStyle/>
          <a:p>
            <a:pPr>
              <a:defRPr sz="950">
                <a:solidFill>
                  <a:srgbClr val="475569"/>
                </a:solidFill>
              </a:defRPr>
            </a:pPr>
            <a:r>
              <a:t>SVYCA Youth For Earth Hackathon  |  Clean Energy &amp; School Climate Action</a:t>
            </a:r>
          </a:p>
        </p:txBody>
      </p:sp>
      <p:sp>
        <p:nvSpPr>
          <p:cNvPr id="6" name="TextBox 5"/>
          <p:cNvSpPr txBox="1"/>
          <p:nvPr/>
        </p:nvSpPr>
        <p:spPr>
          <a:xfrm>
            <a:off x="10241280" y="73152"/>
            <a:ext cx="1371600" cy="365760"/>
          </a:xfrm>
          <a:prstGeom prst="rect">
            <a:avLst/>
          </a:prstGeom>
          <a:noFill/>
        </p:spPr>
        <p:txBody>
          <a:bodyPr wrap="none">
            <a:spAutoFit/>
          </a:bodyPr>
          <a:lstStyle/>
          <a:p>
            <a:pPr algn="r">
              <a:defRPr sz="1000" b="1">
                <a:solidFill>
                  <a:srgbClr val="0284C7"/>
                </a:solidFill>
              </a:defRPr>
            </a:pPr>
            <a:r>
              <a:t>02 / 10</a:t>
            </a:r>
          </a:p>
        </p:txBody>
      </p:sp>
      <p:sp>
        <p:nvSpPr>
          <p:cNvPr id="7" name="Rectangle 6"/>
          <p:cNvSpPr/>
          <p:nvPr/>
        </p:nvSpPr>
        <p:spPr>
          <a:xfrm>
            <a:off x="0" y="493776"/>
            <a:ext cx="2438339" cy="228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51560"/>
          </a:xfrm>
          <a:prstGeom prst="rect">
            <a:avLst/>
          </a:prstGeom>
          <a:noFill/>
        </p:spPr>
        <p:txBody>
          <a:bodyPr wrap="square" lIns="0" tIns="0" rIns="0" bIns="0">
            <a:spAutoFit/>
          </a:bodyPr>
          <a:lstStyle/>
          <a:p>
            <a:pPr>
              <a:defRPr sz="900" b="1">
                <a:solidFill>
                  <a:srgbClr val="0284C7"/>
                </a:solidFill>
              </a:defRPr>
            </a:pPr>
            <a:r>
              <a:t>THE ROADBLOCKS</a:t>
            </a:r>
          </a:p>
          <a:p>
            <a:pPr>
              <a:spcBef>
                <a:spcPts val="200"/>
              </a:spcBef>
              <a:defRPr sz="2200" b="1">
                <a:solidFill>
                  <a:srgbClr val="0F172A"/>
                </a:solidFill>
              </a:defRPr>
            </a:pPr>
            <a:r>
              <a:t>Why Haven't Schools Solved This Already?</a:t>
            </a:r>
          </a:p>
          <a:p>
            <a:pPr>
              <a:spcBef>
                <a:spcPts val="300"/>
              </a:spcBef>
              <a:defRPr sz="1100">
                <a:solidFill>
                  <a:srgbClr val="475569"/>
                </a:solidFill>
              </a:defRPr>
            </a:pPr>
            <a:r>
              <a:t>Two major institutional barriers have kept clean energy out of public school parking lots.</a:t>
            </a:r>
          </a:p>
        </p:txBody>
      </p:sp>
      <p:sp>
        <p:nvSpPr>
          <p:cNvPr id="9" name="Rounded Rectangle 8"/>
          <p:cNvSpPr/>
          <p:nvPr/>
        </p:nvSpPr>
        <p:spPr>
          <a:xfrm>
            <a:off x="548640" y="1737360"/>
            <a:ext cx="34747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3474720" cy="54864"/>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901952"/>
            <a:ext cx="3108960" cy="3328416"/>
          </a:xfrm>
          <a:prstGeom prst="rect">
            <a:avLst/>
          </a:prstGeom>
          <a:noFill/>
        </p:spPr>
        <p:txBody>
          <a:bodyPr wrap="square">
            <a:spAutoFit/>
          </a:bodyPr>
          <a:lstStyle/>
          <a:p>
            <a:pPr>
              <a:defRPr sz="2200" b="1">
                <a:solidFill>
                  <a:srgbClr val="DC2626"/>
                </a:solidFill>
              </a:defRPr>
            </a:pPr>
            <a:r>
              <a:t>Barrier 1</a:t>
            </a:r>
          </a:p>
          <a:p>
            <a:pPr>
              <a:spcBef>
                <a:spcPts val="200"/>
              </a:spcBef>
              <a:defRPr sz="1100" b="1">
                <a:solidFill>
                  <a:srgbClr val="0F172A"/>
                </a:solidFill>
              </a:defRPr>
            </a:pPr>
            <a:r>
              <a:t>TAX-EXEMPT LOCKOUT</a:t>
            </a:r>
          </a:p>
          <a:p>
            <a:pPr>
              <a:spcBef>
                <a:spcPts val="600"/>
              </a:spcBef>
              <a:defRPr sz="1000">
                <a:solidFill>
                  <a:srgbClr val="475569"/>
                </a:solidFill>
              </a:defRPr>
            </a:pPr>
            <a:r>
              <a:t>- Schools don't pay federal income taxes</a:t>
            </a:r>
          </a:p>
          <a:p>
            <a:pPr>
              <a:spcBef>
                <a:spcPts val="600"/>
              </a:spcBef>
              <a:defRPr sz="1000">
                <a:solidFill>
                  <a:srgbClr val="475569"/>
                </a:solidFill>
              </a:defRPr>
            </a:pPr>
            <a:r>
              <a:t>- Historically locked out of traditional solar tax credits</a:t>
            </a:r>
          </a:p>
          <a:p>
            <a:pPr>
              <a:spcBef>
                <a:spcPts val="600"/>
              </a:spcBef>
              <a:defRPr sz="1000">
                <a:solidFill>
                  <a:srgbClr val="475569"/>
                </a:solidFill>
              </a:defRPr>
            </a:pPr>
            <a:r>
              <a:t>- Forced into predatory third-party lease deals</a:t>
            </a:r>
          </a:p>
          <a:p>
            <a:pPr>
              <a:spcBef>
                <a:spcPts val="600"/>
              </a:spcBef>
              <a:defRPr sz="1000">
                <a:solidFill>
                  <a:srgbClr val="475569"/>
                </a:solidFill>
              </a:defRPr>
            </a:pPr>
            <a:r>
              <a:t>- Left public districts waiting on the sidelines</a:t>
            </a:r>
          </a:p>
        </p:txBody>
      </p:sp>
      <p:sp>
        <p:nvSpPr>
          <p:cNvPr id="12" name="Rounded Rectangle 11"/>
          <p:cNvSpPr/>
          <p:nvPr/>
        </p:nvSpPr>
        <p:spPr>
          <a:xfrm>
            <a:off x="4343400" y="1737360"/>
            <a:ext cx="34747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43400" y="1737360"/>
            <a:ext cx="3474720" cy="54864"/>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1901952"/>
            <a:ext cx="3108960" cy="3328416"/>
          </a:xfrm>
          <a:prstGeom prst="rect">
            <a:avLst/>
          </a:prstGeom>
          <a:noFill/>
        </p:spPr>
        <p:txBody>
          <a:bodyPr wrap="square">
            <a:spAutoFit/>
          </a:bodyPr>
          <a:lstStyle/>
          <a:p>
            <a:pPr>
              <a:defRPr sz="2200" b="1">
                <a:solidFill>
                  <a:srgbClr val="DC2626"/>
                </a:solidFill>
              </a:defRPr>
            </a:pPr>
            <a:r>
              <a:t>Barrier 2</a:t>
            </a:r>
          </a:p>
          <a:p>
            <a:pPr>
              <a:spcBef>
                <a:spcPts val="200"/>
              </a:spcBef>
              <a:defRPr sz="1100" b="1">
                <a:solidFill>
                  <a:srgbClr val="0F172A"/>
                </a:solidFill>
              </a:defRPr>
            </a:pPr>
            <a:r>
              <a:t>THE $25,000 CONSULTANT WALL</a:t>
            </a:r>
          </a:p>
          <a:p>
            <a:pPr>
              <a:spcBef>
                <a:spcPts val="600"/>
              </a:spcBef>
              <a:defRPr sz="1000">
                <a:solidFill>
                  <a:srgbClr val="475569"/>
                </a:solidFill>
              </a:defRPr>
            </a:pPr>
            <a:r>
              <a:t>- Private solar studies cost $15,000 to $25,000 per school</a:t>
            </a:r>
          </a:p>
          <a:p>
            <a:pPr>
              <a:spcBef>
                <a:spcPts val="600"/>
              </a:spcBef>
              <a:defRPr sz="1000">
                <a:solidFill>
                  <a:srgbClr val="475569"/>
                </a:solidFill>
              </a:defRPr>
            </a:pPr>
            <a:r>
              <a:t>- Takes 6 to 12 months just to get an estimate</a:t>
            </a:r>
          </a:p>
          <a:p>
            <a:pPr>
              <a:spcBef>
                <a:spcPts val="600"/>
              </a:spcBef>
              <a:defRPr sz="1000">
                <a:solidFill>
                  <a:srgbClr val="475569"/>
                </a:solidFill>
              </a:defRPr>
            </a:pPr>
            <a:r>
              <a:t>- Under-funded schools cannot afford upfront studies</a:t>
            </a:r>
          </a:p>
          <a:p>
            <a:pPr>
              <a:spcBef>
                <a:spcPts val="600"/>
              </a:spcBef>
              <a:defRPr sz="1000">
                <a:solidFill>
                  <a:srgbClr val="475569"/>
                </a:solidFill>
              </a:defRPr>
            </a:pPr>
            <a:r>
              <a:t>- Stalls school board action indefinitely</a:t>
            </a:r>
          </a:p>
        </p:txBody>
      </p:sp>
      <p:sp>
        <p:nvSpPr>
          <p:cNvPr id="15" name="Rounded Rectangle 14"/>
          <p:cNvSpPr/>
          <p:nvPr/>
        </p:nvSpPr>
        <p:spPr>
          <a:xfrm>
            <a:off x="8138160" y="1737360"/>
            <a:ext cx="34747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38160" y="1737360"/>
            <a:ext cx="3474720" cy="54864"/>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1901952"/>
            <a:ext cx="3108960" cy="3328416"/>
          </a:xfrm>
          <a:prstGeom prst="rect">
            <a:avLst/>
          </a:prstGeom>
          <a:noFill/>
        </p:spPr>
        <p:txBody>
          <a:bodyPr wrap="square">
            <a:spAutoFit/>
          </a:bodyPr>
          <a:lstStyle/>
          <a:p>
            <a:pPr>
              <a:defRPr sz="2200" b="1">
                <a:solidFill>
                  <a:srgbClr val="D97706"/>
                </a:solidFill>
              </a:defRPr>
            </a:pPr>
            <a:r>
              <a:t>The Cost</a:t>
            </a:r>
          </a:p>
          <a:p>
            <a:pPr>
              <a:spcBef>
                <a:spcPts val="200"/>
              </a:spcBef>
              <a:defRPr sz="1100" b="1">
                <a:solidFill>
                  <a:srgbClr val="0F172A"/>
                </a:solidFill>
              </a:defRPr>
            </a:pPr>
            <a:r>
              <a:t>$140,000 LOST EVERY YEAR</a:t>
            </a:r>
          </a:p>
          <a:p>
            <a:pPr>
              <a:spcBef>
                <a:spcPts val="600"/>
              </a:spcBef>
              <a:defRPr sz="1000">
                <a:solidFill>
                  <a:srgbClr val="475569"/>
                </a:solidFill>
              </a:defRPr>
            </a:pPr>
            <a:r>
              <a:t>- Every single year a high school waits is $140K lost</a:t>
            </a:r>
          </a:p>
          <a:p>
            <a:pPr>
              <a:spcBef>
                <a:spcPts val="600"/>
              </a:spcBef>
              <a:defRPr sz="1000">
                <a:solidFill>
                  <a:srgbClr val="475569"/>
                </a:solidFill>
              </a:defRPr>
            </a:pPr>
            <a:r>
              <a:t>- That is enough to fund 2 full-time teacher salaries!</a:t>
            </a:r>
          </a:p>
          <a:p>
            <a:pPr>
              <a:spcBef>
                <a:spcPts val="600"/>
              </a:spcBef>
              <a:defRPr sz="1000">
                <a:solidFill>
                  <a:srgbClr val="475569"/>
                </a:solidFill>
              </a:defRPr>
            </a:pPr>
            <a:r>
              <a:t>- Over 5 years, delay costs a school over $700,000</a:t>
            </a:r>
          </a:p>
          <a:p>
            <a:pPr>
              <a:spcBef>
                <a:spcPts val="600"/>
              </a:spcBef>
              <a:defRPr sz="1000">
                <a:solidFill>
                  <a:srgbClr val="475569"/>
                </a:solidFill>
              </a:defRPr>
            </a:pPr>
            <a:r>
              <a:t>- Students lose out on classroom resources</a:t>
            </a:r>
          </a:p>
        </p:txBody>
      </p:sp>
      <p:sp>
        <p:nvSpPr>
          <p:cNvPr id="18" name="Rounded Rectangle 17"/>
          <p:cNvSpPr/>
          <p:nvPr/>
        </p:nvSpPr>
        <p:spPr>
          <a:xfrm>
            <a:off x="548640" y="5577840"/>
            <a:ext cx="11094415" cy="777240"/>
          </a:xfrm>
          <a:prstGeom prst="roundRect">
            <a:avLst/>
          </a:prstGeom>
          <a:solidFill>
            <a:srgbClr val="FFFFFF"/>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623560"/>
            <a:ext cx="10698480" cy="685800"/>
          </a:xfrm>
          <a:prstGeom prst="rect">
            <a:avLst/>
          </a:prstGeom>
          <a:noFill/>
        </p:spPr>
        <p:txBody>
          <a:bodyPr wrap="square">
            <a:spAutoFit/>
          </a:bodyPr>
          <a:lstStyle/>
          <a:p>
            <a:pPr>
              <a:defRPr sz="900" b="1">
                <a:solidFill>
                  <a:srgbClr val="DC2626"/>
                </a:solidFill>
              </a:defRPr>
            </a:pPr>
            <a:r>
              <a:t>THE BOTTOM LINE FOR STUDENTS</a:t>
            </a:r>
          </a:p>
          <a:p>
            <a:pPr>
              <a:spcBef>
                <a:spcPts val="200"/>
              </a:spcBef>
              <a:defRPr sz="1050" b="1">
                <a:solidFill>
                  <a:srgbClr val="0F172A"/>
                </a:solidFill>
              </a:defRPr>
            </a:pPr>
            <a:r>
              <a:t>School boards want to go green, but expensive consultants and confusing tax laws hold them back. We need a free tool that gives them answers instantly.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97480" y="73152"/>
            <a:ext cx="5943600" cy="365760"/>
          </a:xfrm>
          <a:prstGeom prst="rect">
            <a:avLst/>
          </a:prstGeom>
          <a:noFill/>
        </p:spPr>
        <p:txBody>
          <a:bodyPr wrap="none">
            <a:spAutoFit/>
          </a:bodyPr>
          <a:lstStyle/>
          <a:p>
            <a:pPr>
              <a:defRPr sz="950">
                <a:solidFill>
                  <a:srgbClr val="475569"/>
                </a:solidFill>
              </a:defRPr>
            </a:pPr>
            <a:r>
              <a:t>SVYCA Youth For Earth Hackathon  |  Clean Energy &amp; School Climate Action</a:t>
            </a:r>
          </a:p>
        </p:txBody>
      </p:sp>
      <p:sp>
        <p:nvSpPr>
          <p:cNvPr id="6" name="TextBox 5"/>
          <p:cNvSpPr txBox="1"/>
          <p:nvPr/>
        </p:nvSpPr>
        <p:spPr>
          <a:xfrm>
            <a:off x="10241280" y="73152"/>
            <a:ext cx="1371600" cy="365760"/>
          </a:xfrm>
          <a:prstGeom prst="rect">
            <a:avLst/>
          </a:prstGeom>
          <a:noFill/>
        </p:spPr>
        <p:txBody>
          <a:bodyPr wrap="none">
            <a:spAutoFit/>
          </a:bodyPr>
          <a:lstStyle/>
          <a:p>
            <a:pPr algn="r">
              <a:defRPr sz="1000" b="1">
                <a:solidFill>
                  <a:srgbClr val="0284C7"/>
                </a:solidFill>
              </a:defRPr>
            </a:pPr>
            <a:r>
              <a:t>03 / 10</a:t>
            </a:r>
          </a:p>
        </p:txBody>
      </p:sp>
      <p:sp>
        <p:nvSpPr>
          <p:cNvPr id="7" name="Rectangle 6"/>
          <p:cNvSpPr/>
          <p:nvPr/>
        </p:nvSpPr>
        <p:spPr>
          <a:xfrm>
            <a:off x="0" y="493776"/>
            <a:ext cx="3657508" cy="228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51560"/>
          </a:xfrm>
          <a:prstGeom prst="rect">
            <a:avLst/>
          </a:prstGeom>
          <a:noFill/>
        </p:spPr>
        <p:txBody>
          <a:bodyPr wrap="square" lIns="0" tIns="0" rIns="0" bIns="0">
            <a:spAutoFit/>
          </a:bodyPr>
          <a:lstStyle/>
          <a:p>
            <a:pPr>
              <a:defRPr sz="900" b="1">
                <a:solidFill>
                  <a:srgbClr val="0284C7"/>
                </a:solidFill>
              </a:defRPr>
            </a:pPr>
            <a:r>
              <a:t>THE OPPORTUNITY</a:t>
            </a:r>
          </a:p>
          <a:p>
            <a:pPr>
              <a:spcBef>
                <a:spcPts val="200"/>
              </a:spcBef>
              <a:defRPr sz="2200" b="1">
                <a:solidFill>
                  <a:srgbClr val="0F172A"/>
                </a:solidFill>
              </a:defRPr>
            </a:pPr>
            <a:r>
              <a:t>The Clean Energy Law School Boards Don't Know About</a:t>
            </a:r>
          </a:p>
          <a:p>
            <a:pPr>
              <a:spcBef>
                <a:spcPts val="300"/>
              </a:spcBef>
              <a:defRPr sz="1100">
                <a:solidFill>
                  <a:srgbClr val="475569"/>
                </a:solidFill>
              </a:defRPr>
            </a:pPr>
            <a:r>
              <a:t>Under the new Inflation Reduction Act, the federal government writes cash checks directly to schools.</a:t>
            </a:r>
          </a:p>
        </p:txBody>
      </p:sp>
      <p:sp>
        <p:nvSpPr>
          <p:cNvPr id="9" name="Rounded Rectangle 8"/>
          <p:cNvSpPr/>
          <p:nvPr/>
        </p:nvSpPr>
        <p:spPr>
          <a:xfrm>
            <a:off x="548640" y="1737360"/>
            <a:ext cx="34747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3474720" cy="54864"/>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901952"/>
            <a:ext cx="3108960" cy="3328416"/>
          </a:xfrm>
          <a:prstGeom prst="rect">
            <a:avLst/>
          </a:prstGeom>
          <a:noFill/>
        </p:spPr>
        <p:txBody>
          <a:bodyPr wrap="square">
            <a:spAutoFit/>
          </a:bodyPr>
          <a:lstStyle/>
          <a:p>
            <a:pPr>
              <a:defRPr sz="3600" b="1">
                <a:solidFill>
                  <a:srgbClr val="059669"/>
                </a:solidFill>
              </a:defRPr>
            </a:pPr>
            <a:r>
              <a:t>30% Base</a:t>
            </a:r>
          </a:p>
          <a:p>
            <a:pPr>
              <a:spcBef>
                <a:spcPts val="200"/>
              </a:spcBef>
              <a:defRPr sz="900" b="1">
                <a:solidFill>
                  <a:srgbClr val="0F172A"/>
                </a:solidFill>
              </a:defRPr>
            </a:pPr>
            <a:r>
              <a:t>GUARANTEED CASH BACK</a:t>
            </a:r>
          </a:p>
          <a:p>
            <a:pPr>
              <a:spcBef>
                <a:spcPts val="500"/>
              </a:spcBef>
              <a:defRPr sz="1000">
                <a:solidFill>
                  <a:srgbClr val="475569"/>
                </a:solidFill>
              </a:defRPr>
            </a:pPr>
            <a:r>
              <a:t>- Direct cash payment from the IRS to the district</a:t>
            </a:r>
          </a:p>
          <a:p>
            <a:pPr>
              <a:spcBef>
                <a:spcPts val="500"/>
              </a:spcBef>
              <a:defRPr sz="1000">
                <a:solidFill>
                  <a:srgbClr val="475569"/>
                </a:solidFill>
              </a:defRPr>
            </a:pPr>
            <a:r>
              <a:t>- Deposited straight into the school treasury</a:t>
            </a:r>
          </a:p>
          <a:p>
            <a:pPr>
              <a:spcBef>
                <a:spcPts val="500"/>
              </a:spcBef>
              <a:defRPr sz="1000">
                <a:solidFill>
                  <a:srgbClr val="475569"/>
                </a:solidFill>
              </a:defRPr>
            </a:pPr>
            <a:r>
              <a:t>- No tax liability needed: public schools qualify directly!</a:t>
            </a:r>
          </a:p>
          <a:p>
            <a:pPr>
              <a:spcBef>
                <a:spcPts val="500"/>
              </a:spcBef>
              <a:defRPr sz="1000">
                <a:solidFill>
                  <a:srgbClr val="475569"/>
                </a:solidFill>
              </a:defRPr>
            </a:pPr>
            <a:r>
              <a:t>- Bypasses private tax investors and complicated leases</a:t>
            </a:r>
          </a:p>
        </p:txBody>
      </p:sp>
      <p:sp>
        <p:nvSpPr>
          <p:cNvPr id="12" name="Rounded Rectangle 11"/>
          <p:cNvSpPr/>
          <p:nvPr/>
        </p:nvSpPr>
        <p:spPr>
          <a:xfrm>
            <a:off x="4343400" y="1737360"/>
            <a:ext cx="34747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43400" y="1737360"/>
            <a:ext cx="3474720" cy="54864"/>
          </a:xfrm>
          <a:prstGeom prst="round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1901952"/>
            <a:ext cx="3108960" cy="3328416"/>
          </a:xfrm>
          <a:prstGeom prst="rect">
            <a:avLst/>
          </a:prstGeom>
          <a:noFill/>
        </p:spPr>
        <p:txBody>
          <a:bodyPr wrap="square">
            <a:spAutoFit/>
          </a:bodyPr>
          <a:lstStyle/>
          <a:p>
            <a:pPr>
              <a:defRPr sz="3600" b="1">
                <a:solidFill>
                  <a:srgbClr val="0284C7"/>
                </a:solidFill>
              </a:defRPr>
            </a:pPr>
            <a:r>
              <a:t>+10% to +20%</a:t>
            </a:r>
          </a:p>
          <a:p>
            <a:pPr>
              <a:spcBef>
                <a:spcPts val="200"/>
              </a:spcBef>
              <a:defRPr sz="900" b="1">
                <a:solidFill>
                  <a:srgbClr val="0F172A"/>
                </a:solidFill>
              </a:defRPr>
            </a:pPr>
            <a:r>
              <a:t>BONUS FEDERAL CASH</a:t>
            </a:r>
          </a:p>
          <a:p>
            <a:pPr>
              <a:spcBef>
                <a:spcPts val="500"/>
              </a:spcBef>
              <a:defRPr sz="1000">
                <a:solidFill>
                  <a:srgbClr val="475569"/>
                </a:solidFill>
              </a:defRPr>
            </a:pPr>
            <a:r>
              <a:t>- +10% extra bonus for American-made steel and panels</a:t>
            </a:r>
          </a:p>
          <a:p>
            <a:pPr>
              <a:spcBef>
                <a:spcPts val="500"/>
              </a:spcBef>
              <a:defRPr sz="1000">
                <a:solidFill>
                  <a:srgbClr val="475569"/>
                </a:solidFill>
              </a:defRPr>
            </a:pPr>
            <a:r>
              <a:t>- +10% extra bonus for Title I low-income schools</a:t>
            </a:r>
          </a:p>
          <a:p>
            <a:pPr>
              <a:spcBef>
                <a:spcPts val="500"/>
              </a:spcBef>
              <a:defRPr sz="1000">
                <a:solidFill>
                  <a:srgbClr val="475569"/>
                </a:solidFill>
              </a:defRPr>
            </a:pPr>
            <a:r>
              <a:t>- Puts the biggest grants into communities that need it most</a:t>
            </a:r>
          </a:p>
          <a:p>
            <a:pPr>
              <a:spcBef>
                <a:spcPts val="500"/>
              </a:spcBef>
              <a:defRPr sz="1000">
                <a:solidFill>
                  <a:srgbClr val="475569"/>
                </a:solidFill>
              </a:defRPr>
            </a:pPr>
            <a:r>
              <a:t>- Encourages local jobs and domestic manufacturing</a:t>
            </a:r>
          </a:p>
        </p:txBody>
      </p:sp>
      <p:sp>
        <p:nvSpPr>
          <p:cNvPr id="15" name="Rounded Rectangle 14"/>
          <p:cNvSpPr/>
          <p:nvPr/>
        </p:nvSpPr>
        <p:spPr>
          <a:xfrm>
            <a:off x="8138160" y="1737360"/>
            <a:ext cx="34747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38160" y="1737360"/>
            <a:ext cx="3474720" cy="54864"/>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1901952"/>
            <a:ext cx="3108960" cy="3328416"/>
          </a:xfrm>
          <a:prstGeom prst="rect">
            <a:avLst/>
          </a:prstGeom>
          <a:noFill/>
        </p:spPr>
        <p:txBody>
          <a:bodyPr wrap="square">
            <a:spAutoFit/>
          </a:bodyPr>
          <a:lstStyle/>
          <a:p>
            <a:pPr>
              <a:defRPr sz="3600" b="1">
                <a:solidFill>
                  <a:srgbClr val="059669"/>
                </a:solidFill>
              </a:defRPr>
            </a:pPr>
            <a:r>
              <a:t>Up to 50%</a:t>
            </a:r>
          </a:p>
          <a:p>
            <a:pPr>
              <a:spcBef>
                <a:spcPts val="200"/>
              </a:spcBef>
              <a:defRPr sz="900" b="1">
                <a:solidFill>
                  <a:srgbClr val="0F172A"/>
                </a:solidFill>
              </a:defRPr>
            </a:pPr>
            <a:r>
              <a:t>TOTAL FEDERAL GRANT</a:t>
            </a:r>
          </a:p>
          <a:p>
            <a:pPr>
              <a:spcBef>
                <a:spcPts val="500"/>
              </a:spcBef>
              <a:defRPr sz="1000">
                <a:solidFill>
                  <a:srgbClr val="475569"/>
                </a:solidFill>
              </a:defRPr>
            </a:pPr>
            <a:r>
              <a:t>- Up to half the solar canopy paid by the government</a:t>
            </a:r>
          </a:p>
          <a:p>
            <a:pPr>
              <a:spcBef>
                <a:spcPts val="500"/>
              </a:spcBef>
              <a:defRPr sz="1000">
                <a:solidFill>
                  <a:srgbClr val="475569"/>
                </a:solidFill>
              </a:defRPr>
            </a:pPr>
            <a:r>
              <a:t>- School districts pay only the remaining balance</a:t>
            </a:r>
          </a:p>
          <a:p>
            <a:pPr>
              <a:spcBef>
                <a:spcPts val="500"/>
              </a:spcBef>
              <a:defRPr sz="1000">
                <a:solidFill>
                  <a:srgbClr val="475569"/>
                </a:solidFill>
              </a:defRPr>
            </a:pPr>
            <a:r>
              <a:t>- Yet over 90% of school boards have never heard of it!</a:t>
            </a:r>
          </a:p>
          <a:p>
            <a:pPr>
              <a:spcBef>
                <a:spcPts val="500"/>
              </a:spcBef>
              <a:defRPr sz="1000">
                <a:solidFill>
                  <a:srgbClr val="475569"/>
                </a:solidFill>
              </a:defRPr>
            </a:pPr>
            <a:r>
              <a:t>- Zero school bond tax hikes required</a:t>
            </a:r>
          </a:p>
        </p:txBody>
      </p:sp>
      <p:sp>
        <p:nvSpPr>
          <p:cNvPr id="18" name="Rounded Rectangle 17"/>
          <p:cNvSpPr/>
          <p:nvPr/>
        </p:nvSpPr>
        <p:spPr>
          <a:xfrm>
            <a:off x="548640" y="5577840"/>
            <a:ext cx="11094415" cy="777240"/>
          </a:xfrm>
          <a:prstGeom prst="roundRect">
            <a:avLst/>
          </a:prstGeom>
          <a:solidFill>
            <a:srgbClr val="FFFFFF"/>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623560"/>
            <a:ext cx="10698480" cy="685800"/>
          </a:xfrm>
          <a:prstGeom prst="rect">
            <a:avLst/>
          </a:prstGeom>
          <a:noFill/>
        </p:spPr>
        <p:txBody>
          <a:bodyPr wrap="square">
            <a:spAutoFit/>
          </a:bodyPr>
          <a:lstStyle/>
          <a:p>
            <a:pPr>
              <a:defRPr sz="900" b="1">
                <a:solidFill>
                  <a:srgbClr val="059669"/>
                </a:solidFill>
              </a:defRPr>
            </a:pPr>
            <a:r>
              <a:t>HOW 'DIRECT PAY' (SECTION 6417) WORKS</a:t>
            </a:r>
          </a:p>
          <a:p>
            <a:pPr>
              <a:spcBef>
                <a:spcPts val="200"/>
              </a:spcBef>
              <a:defRPr sz="1050" b="1">
                <a:solidFill>
                  <a:srgbClr val="0F172A"/>
                </a:solidFill>
              </a:defRPr>
            </a:pPr>
            <a:r>
              <a:t>Because public schools don't pay taxes, the government used to shut them out of solar tax credits. Now, the IRS sends an actual cash reimbursement check straight to the district.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97480" y="73152"/>
            <a:ext cx="5943600" cy="365760"/>
          </a:xfrm>
          <a:prstGeom prst="rect">
            <a:avLst/>
          </a:prstGeom>
          <a:noFill/>
        </p:spPr>
        <p:txBody>
          <a:bodyPr wrap="none">
            <a:spAutoFit/>
          </a:bodyPr>
          <a:lstStyle/>
          <a:p>
            <a:pPr>
              <a:defRPr sz="950">
                <a:solidFill>
                  <a:srgbClr val="475569"/>
                </a:solidFill>
              </a:defRPr>
            </a:pPr>
            <a:r>
              <a:t>SVYCA Youth For Earth Hackathon  |  Clean Energy &amp; School Climate Action</a:t>
            </a:r>
          </a:p>
        </p:txBody>
      </p:sp>
      <p:sp>
        <p:nvSpPr>
          <p:cNvPr id="6" name="TextBox 5"/>
          <p:cNvSpPr txBox="1"/>
          <p:nvPr/>
        </p:nvSpPr>
        <p:spPr>
          <a:xfrm>
            <a:off x="10241280" y="73152"/>
            <a:ext cx="1371600" cy="365760"/>
          </a:xfrm>
          <a:prstGeom prst="rect">
            <a:avLst/>
          </a:prstGeom>
          <a:noFill/>
        </p:spPr>
        <p:txBody>
          <a:bodyPr wrap="none">
            <a:spAutoFit/>
          </a:bodyPr>
          <a:lstStyle/>
          <a:p>
            <a:pPr algn="r">
              <a:defRPr sz="1000" b="1">
                <a:solidFill>
                  <a:srgbClr val="0284C7"/>
                </a:solidFill>
              </a:defRPr>
            </a:pPr>
            <a:r>
              <a:t>04 / 10</a:t>
            </a:r>
          </a:p>
        </p:txBody>
      </p:sp>
      <p:sp>
        <p:nvSpPr>
          <p:cNvPr id="7" name="Rectangle 6"/>
          <p:cNvSpPr/>
          <p:nvPr/>
        </p:nvSpPr>
        <p:spPr>
          <a:xfrm>
            <a:off x="0" y="493776"/>
            <a:ext cx="4876678" cy="228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51560"/>
          </a:xfrm>
          <a:prstGeom prst="rect">
            <a:avLst/>
          </a:prstGeom>
          <a:noFill/>
        </p:spPr>
        <p:txBody>
          <a:bodyPr wrap="square" lIns="0" tIns="0" rIns="0" bIns="0">
            <a:spAutoFit/>
          </a:bodyPr>
          <a:lstStyle/>
          <a:p>
            <a:pPr>
              <a:defRPr sz="900" b="1">
                <a:solidFill>
                  <a:srgbClr val="0284C7"/>
                </a:solidFill>
              </a:defRPr>
            </a:pPr>
            <a:r>
              <a:t>THE SOLUTION</a:t>
            </a:r>
          </a:p>
          <a:p>
            <a:pPr>
              <a:spcBef>
                <a:spcPts val="200"/>
              </a:spcBef>
              <a:defRPr sz="2200" b="1">
                <a:solidFill>
                  <a:srgbClr val="0F172A"/>
                </a:solidFill>
              </a:defRPr>
            </a:pPr>
            <a:r>
              <a:t>Solar Feasibility in Seconds, Not Months</a:t>
            </a:r>
          </a:p>
          <a:p>
            <a:pPr>
              <a:spcBef>
                <a:spcPts val="300"/>
              </a:spcBef>
              <a:defRPr sz="1100">
                <a:solidFill>
                  <a:srgbClr val="475569"/>
                </a:solidFill>
              </a:defRPr>
            </a:pPr>
            <a:r>
              <a:t>A web platform empowering students and school boards to test their campus with real data.</a:t>
            </a:r>
          </a:p>
        </p:txBody>
      </p:sp>
      <p:sp>
        <p:nvSpPr>
          <p:cNvPr id="9" name="Rounded Rectangle 8"/>
          <p:cNvSpPr/>
          <p:nvPr/>
        </p:nvSpPr>
        <p:spPr>
          <a:xfrm>
            <a:off x="548640" y="1737360"/>
            <a:ext cx="34747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3474720" cy="54864"/>
          </a:xfrm>
          <a:prstGeom prst="round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901952"/>
            <a:ext cx="3108960" cy="3328416"/>
          </a:xfrm>
          <a:prstGeom prst="rect">
            <a:avLst/>
          </a:prstGeom>
          <a:noFill/>
        </p:spPr>
        <p:txBody>
          <a:bodyPr wrap="square">
            <a:spAutoFit/>
          </a:bodyPr>
          <a:lstStyle/>
          <a:p>
            <a:pPr>
              <a:defRPr sz="2200" b="1">
                <a:solidFill>
                  <a:srgbClr val="0284C7"/>
                </a:solidFill>
              </a:defRPr>
            </a:pPr>
            <a:r>
              <a:t>STEP 1</a:t>
            </a:r>
          </a:p>
          <a:p>
            <a:pPr>
              <a:spcBef>
                <a:spcPts val="200"/>
              </a:spcBef>
              <a:defRPr sz="1100" b="1">
                <a:solidFill>
                  <a:srgbClr val="0F172A"/>
                </a:solidFill>
              </a:defRPr>
            </a:pPr>
            <a:r>
              <a:t>PICK ANY CAMPUS</a:t>
            </a:r>
          </a:p>
          <a:p>
            <a:pPr>
              <a:spcBef>
                <a:spcPts val="500"/>
              </a:spcBef>
              <a:defRPr sz="1000">
                <a:solidFill>
                  <a:srgbClr val="475569"/>
                </a:solidFill>
              </a:defRPr>
            </a:pPr>
            <a:r>
              <a:t>- Interactive satellite map of 18 Bay Area schools</a:t>
            </a:r>
          </a:p>
          <a:p>
            <a:pPr>
              <a:spcBef>
                <a:spcPts val="500"/>
              </a:spcBef>
              <a:defRPr sz="1000">
                <a:solidFill>
                  <a:srgbClr val="475569"/>
                </a:solidFill>
              </a:defRPr>
            </a:pPr>
            <a:r>
              <a:t>- Pins directly to the physical parking lot</a:t>
            </a:r>
          </a:p>
          <a:p>
            <a:pPr>
              <a:spcBef>
                <a:spcPts val="500"/>
              </a:spcBef>
              <a:defRPr sz="1000">
                <a:solidFill>
                  <a:srgbClr val="475569"/>
                </a:solidFill>
              </a:defRPr>
            </a:pPr>
            <a:r>
              <a:t>- Covers High Schools, Middle Schools &amp; Elementary</a:t>
            </a:r>
          </a:p>
          <a:p>
            <a:pPr>
              <a:spcBef>
                <a:spcPts val="500"/>
              </a:spcBef>
              <a:defRPr sz="1000">
                <a:solidFill>
                  <a:srgbClr val="475569"/>
                </a:solidFill>
              </a:defRPr>
            </a:pPr>
            <a:r>
              <a:t>- Zero manual site measuring required</a:t>
            </a:r>
          </a:p>
        </p:txBody>
      </p:sp>
      <p:sp>
        <p:nvSpPr>
          <p:cNvPr id="12" name="Rounded Rectangle 11"/>
          <p:cNvSpPr/>
          <p:nvPr/>
        </p:nvSpPr>
        <p:spPr>
          <a:xfrm>
            <a:off x="4343400" y="1737360"/>
            <a:ext cx="34747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43400" y="1737360"/>
            <a:ext cx="3474720" cy="54864"/>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1901952"/>
            <a:ext cx="3108960" cy="3328416"/>
          </a:xfrm>
          <a:prstGeom prst="rect">
            <a:avLst/>
          </a:prstGeom>
          <a:noFill/>
        </p:spPr>
        <p:txBody>
          <a:bodyPr wrap="square">
            <a:spAutoFit/>
          </a:bodyPr>
          <a:lstStyle/>
          <a:p>
            <a:pPr>
              <a:defRPr sz="2200" b="1">
                <a:solidFill>
                  <a:srgbClr val="059669"/>
                </a:solidFill>
              </a:defRPr>
            </a:pPr>
            <a:r>
              <a:t>STEP 2</a:t>
            </a:r>
          </a:p>
          <a:p>
            <a:pPr>
              <a:spcBef>
                <a:spcPts val="200"/>
              </a:spcBef>
              <a:defRPr sz="1100" b="1">
                <a:solidFill>
                  <a:srgbClr val="0F172A"/>
                </a:solidFill>
              </a:defRPr>
            </a:pPr>
            <a:r>
              <a:t>SIMULATE SOLAR</a:t>
            </a:r>
          </a:p>
          <a:p>
            <a:pPr>
              <a:spcBef>
                <a:spcPts val="500"/>
              </a:spcBef>
              <a:defRPr sz="1000">
                <a:solidFill>
                  <a:srgbClr val="475569"/>
                </a:solidFill>
              </a:defRPr>
            </a:pPr>
            <a:r>
              <a:t>- Runs Department of Energy (NREL) solar physics</a:t>
            </a:r>
          </a:p>
          <a:p>
            <a:pPr>
              <a:spcBef>
                <a:spcPts val="500"/>
              </a:spcBef>
              <a:defRPr sz="1000">
                <a:solidFill>
                  <a:srgbClr val="475569"/>
                </a:solidFill>
              </a:defRPr>
            </a:pPr>
            <a:r>
              <a:t>- Calculates kilowatt capacity and monthly power</a:t>
            </a:r>
          </a:p>
          <a:p>
            <a:pPr>
              <a:spcBef>
                <a:spcPts val="500"/>
              </a:spcBef>
              <a:defRPr sz="1000">
                <a:solidFill>
                  <a:srgbClr val="475569"/>
                </a:solidFill>
              </a:defRPr>
            </a:pPr>
            <a:r>
              <a:t>- Applies real local commercial electricity rates</a:t>
            </a:r>
          </a:p>
          <a:p>
            <a:pPr>
              <a:spcBef>
                <a:spcPts val="500"/>
              </a:spcBef>
              <a:defRPr sz="1000">
                <a:solidFill>
                  <a:srgbClr val="475569"/>
                </a:solidFill>
              </a:defRPr>
            </a:pPr>
            <a:r>
              <a:t>- Calculates the exact federal cash reimbursement</a:t>
            </a:r>
          </a:p>
        </p:txBody>
      </p:sp>
      <p:sp>
        <p:nvSpPr>
          <p:cNvPr id="15" name="Rounded Rectangle 14"/>
          <p:cNvSpPr/>
          <p:nvPr/>
        </p:nvSpPr>
        <p:spPr>
          <a:xfrm>
            <a:off x="8138160" y="1737360"/>
            <a:ext cx="34747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38160" y="1737360"/>
            <a:ext cx="3474720" cy="54864"/>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1901952"/>
            <a:ext cx="3108960" cy="3328416"/>
          </a:xfrm>
          <a:prstGeom prst="rect">
            <a:avLst/>
          </a:prstGeom>
          <a:noFill/>
        </p:spPr>
        <p:txBody>
          <a:bodyPr wrap="square">
            <a:spAutoFit/>
          </a:bodyPr>
          <a:lstStyle/>
          <a:p>
            <a:pPr>
              <a:defRPr sz="2200" b="1">
                <a:solidFill>
                  <a:srgbClr val="8C1515"/>
                </a:solidFill>
              </a:defRPr>
            </a:pPr>
            <a:r>
              <a:t>STEP 3</a:t>
            </a:r>
          </a:p>
          <a:p>
            <a:pPr>
              <a:spcBef>
                <a:spcPts val="200"/>
              </a:spcBef>
              <a:defRPr sz="1100" b="1">
                <a:solidFill>
                  <a:srgbClr val="0F172A"/>
                </a:solidFill>
              </a:defRPr>
            </a:pPr>
            <a:r>
              <a:t>GET BOARD BRIEF</a:t>
            </a:r>
          </a:p>
          <a:p>
            <a:pPr>
              <a:spcBef>
                <a:spcPts val="500"/>
              </a:spcBef>
              <a:defRPr sz="1000">
                <a:solidFill>
                  <a:srgbClr val="475569"/>
                </a:solidFill>
              </a:defRPr>
            </a:pPr>
            <a:r>
              <a:t>- Generates a 1-page financial action brief</a:t>
            </a:r>
          </a:p>
          <a:p>
            <a:pPr>
              <a:spcBef>
                <a:spcPts val="500"/>
              </a:spcBef>
              <a:defRPr sz="1000">
                <a:solidFill>
                  <a:srgbClr val="475569"/>
                </a:solidFill>
              </a:defRPr>
            </a:pPr>
            <a:r>
              <a:t>- Shows 25-year savings and simple payback</a:t>
            </a:r>
          </a:p>
          <a:p>
            <a:pPr>
              <a:spcBef>
                <a:spcPts val="500"/>
              </a:spcBef>
              <a:defRPr sz="1000">
                <a:solidFill>
                  <a:srgbClr val="475569"/>
                </a:solidFill>
              </a:defRPr>
            </a:pPr>
            <a:r>
              <a:t>- Includes a draft resolution ready for board votes</a:t>
            </a:r>
          </a:p>
          <a:p>
            <a:pPr>
              <a:spcBef>
                <a:spcPts val="500"/>
              </a:spcBef>
              <a:defRPr sz="1000">
                <a:solidFill>
                  <a:srgbClr val="475569"/>
                </a:solidFill>
              </a:defRPr>
            </a:pPr>
            <a:r>
              <a:t>- Walk into your next school board meeting prepared</a:t>
            </a:r>
          </a:p>
        </p:txBody>
      </p:sp>
      <p:sp>
        <p:nvSpPr>
          <p:cNvPr id="18" name="Rounded Rectangle 17"/>
          <p:cNvSpPr/>
          <p:nvPr/>
        </p:nvSpPr>
        <p:spPr>
          <a:xfrm>
            <a:off x="548640" y="5577840"/>
            <a:ext cx="11094415" cy="777240"/>
          </a:xfrm>
          <a:prstGeom prst="roundRect">
            <a:avLst/>
          </a:prstGeom>
          <a:solidFill>
            <a:srgbClr val="FFFF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623560"/>
            <a:ext cx="10698480" cy="685800"/>
          </a:xfrm>
          <a:prstGeom prst="rect">
            <a:avLst/>
          </a:prstGeom>
          <a:noFill/>
        </p:spPr>
        <p:txBody>
          <a:bodyPr wrap="square">
            <a:spAutoFit/>
          </a:bodyPr>
          <a:lstStyle/>
          <a:p>
            <a:pPr>
              <a:defRPr sz="900" b="1">
                <a:solidFill>
                  <a:srgbClr val="0284C7"/>
                </a:solidFill>
              </a:defRPr>
            </a:pPr>
            <a:r>
              <a:t>BUILT FOR STUDENTS AND COMMUNITY ADVOCATES</a:t>
            </a:r>
          </a:p>
          <a:p>
            <a:pPr>
              <a:spcBef>
                <a:spcPts val="200"/>
              </a:spcBef>
              <a:defRPr sz="1050" b="1">
                <a:solidFill>
                  <a:srgbClr val="0F172A"/>
                </a:solidFill>
              </a:defRPr>
            </a:pPr>
            <a:r>
              <a:t>No expensive consultants. No engineering degrees needed. Any student can walk into a school board meeting with the numbers in hand.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97480" y="73152"/>
            <a:ext cx="5943600" cy="365760"/>
          </a:xfrm>
          <a:prstGeom prst="rect">
            <a:avLst/>
          </a:prstGeom>
          <a:noFill/>
        </p:spPr>
        <p:txBody>
          <a:bodyPr wrap="none">
            <a:spAutoFit/>
          </a:bodyPr>
          <a:lstStyle/>
          <a:p>
            <a:pPr>
              <a:defRPr sz="950">
                <a:solidFill>
                  <a:srgbClr val="475569"/>
                </a:solidFill>
              </a:defRPr>
            </a:pPr>
            <a:r>
              <a:t>SVYCA Youth For Earth Hackathon  |  Clean Energy &amp; School Climate Action</a:t>
            </a:r>
          </a:p>
        </p:txBody>
      </p:sp>
      <p:sp>
        <p:nvSpPr>
          <p:cNvPr id="6" name="TextBox 5"/>
          <p:cNvSpPr txBox="1"/>
          <p:nvPr/>
        </p:nvSpPr>
        <p:spPr>
          <a:xfrm>
            <a:off x="10241280" y="73152"/>
            <a:ext cx="1371600" cy="365760"/>
          </a:xfrm>
          <a:prstGeom prst="rect">
            <a:avLst/>
          </a:prstGeom>
          <a:noFill/>
        </p:spPr>
        <p:txBody>
          <a:bodyPr wrap="none">
            <a:spAutoFit/>
          </a:bodyPr>
          <a:lstStyle/>
          <a:p>
            <a:pPr algn="r">
              <a:defRPr sz="1000" b="1">
                <a:solidFill>
                  <a:srgbClr val="0284C7"/>
                </a:solidFill>
              </a:defRPr>
            </a:pPr>
            <a:r>
              <a:t>05 / 10</a:t>
            </a:r>
          </a:p>
        </p:txBody>
      </p:sp>
      <p:sp>
        <p:nvSpPr>
          <p:cNvPr id="7" name="Rectangle 6"/>
          <p:cNvSpPr/>
          <p:nvPr/>
        </p:nvSpPr>
        <p:spPr>
          <a:xfrm>
            <a:off x="0" y="493776"/>
            <a:ext cx="6095847" cy="228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51560"/>
          </a:xfrm>
          <a:prstGeom prst="rect">
            <a:avLst/>
          </a:prstGeom>
          <a:noFill/>
        </p:spPr>
        <p:txBody>
          <a:bodyPr wrap="square" lIns="0" tIns="0" rIns="0" bIns="0">
            <a:spAutoFit/>
          </a:bodyPr>
          <a:lstStyle/>
          <a:p>
            <a:pPr>
              <a:defRPr sz="900" b="1">
                <a:solidFill>
                  <a:srgbClr val="0284C7"/>
                </a:solidFill>
              </a:defRPr>
            </a:pPr>
            <a:r>
              <a:t>BEHIND THE SCENES</a:t>
            </a:r>
          </a:p>
          <a:p>
            <a:pPr>
              <a:spcBef>
                <a:spcPts val="200"/>
              </a:spcBef>
              <a:defRPr sz="2200" b="1">
                <a:solidFill>
                  <a:srgbClr val="0F172A"/>
                </a:solidFill>
              </a:defRPr>
            </a:pPr>
            <a:r>
              <a:t>Real Science, Zero Guesswork</a:t>
            </a:r>
          </a:p>
          <a:p>
            <a:pPr>
              <a:spcBef>
                <a:spcPts val="300"/>
              </a:spcBef>
              <a:defRPr sz="1100">
                <a:solidFill>
                  <a:srgbClr val="475569"/>
                </a:solidFill>
              </a:defRPr>
            </a:pPr>
            <a:r>
              <a:t>How we calculate solar potential accurately without needing an on-site engineer.</a:t>
            </a:r>
          </a:p>
        </p:txBody>
      </p:sp>
      <p:sp>
        <p:nvSpPr>
          <p:cNvPr id="9" name="Rounded Rectangle 8"/>
          <p:cNvSpPr/>
          <p:nvPr/>
        </p:nvSpPr>
        <p:spPr>
          <a:xfrm>
            <a:off x="548640" y="1737360"/>
            <a:ext cx="34747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3474720" cy="54864"/>
          </a:xfrm>
          <a:prstGeom prst="round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901952"/>
            <a:ext cx="3108960" cy="3328416"/>
          </a:xfrm>
          <a:prstGeom prst="rect">
            <a:avLst/>
          </a:prstGeom>
          <a:noFill/>
        </p:spPr>
        <p:txBody>
          <a:bodyPr wrap="square">
            <a:spAutoFit/>
          </a:bodyPr>
          <a:lstStyle/>
          <a:p>
            <a:pPr>
              <a:defRPr sz="3200" b="1">
                <a:solidFill>
                  <a:srgbClr val="0284C7"/>
                </a:solidFill>
              </a:defRPr>
            </a:pPr>
            <a:r>
              <a:t>65% Lot Cover</a:t>
            </a:r>
          </a:p>
          <a:p>
            <a:pPr>
              <a:spcBef>
                <a:spcPts val="200"/>
              </a:spcBef>
              <a:defRPr sz="900" b="1">
                <a:solidFill>
                  <a:srgbClr val="0F172A"/>
                </a:solidFill>
              </a:defRPr>
            </a:pPr>
            <a:r>
              <a:t>PRACTICAL PARKING DESIGN</a:t>
            </a:r>
          </a:p>
          <a:p>
            <a:pPr>
              <a:spcBef>
                <a:spcPts val="500"/>
              </a:spcBef>
              <a:defRPr sz="1000">
                <a:solidFill>
                  <a:srgbClr val="475569"/>
                </a:solidFill>
              </a:defRPr>
            </a:pPr>
            <a:r>
              <a:t>- Leaves 24-foot driving aisles open for traffic</a:t>
            </a:r>
          </a:p>
          <a:p>
            <a:pPr>
              <a:spcBef>
                <a:spcPts val="500"/>
              </a:spcBef>
              <a:defRPr sz="1000">
                <a:solidFill>
                  <a:srgbClr val="475569"/>
                </a:solidFill>
              </a:defRPr>
            </a:pPr>
            <a:r>
              <a:t>- Keeps 14-foot vertical clearance for school buses</a:t>
            </a:r>
          </a:p>
          <a:p>
            <a:pPr>
              <a:spcBef>
                <a:spcPts val="500"/>
              </a:spcBef>
              <a:defRPr sz="1000">
                <a:solidFill>
                  <a:srgbClr val="475569"/>
                </a:solidFill>
              </a:defRPr>
            </a:pPr>
            <a:r>
              <a:t>- Preserves ADA accessible pathways and fire lanes</a:t>
            </a:r>
          </a:p>
          <a:p>
            <a:pPr>
              <a:spcBef>
                <a:spcPts val="500"/>
              </a:spcBef>
              <a:defRPr sz="1000">
                <a:solidFill>
                  <a:srgbClr val="475569"/>
                </a:solidFill>
              </a:defRPr>
            </a:pPr>
            <a:r>
              <a:t>- Ensures parking remains convenient and functional</a:t>
            </a:r>
          </a:p>
        </p:txBody>
      </p:sp>
      <p:sp>
        <p:nvSpPr>
          <p:cNvPr id="12" name="Rounded Rectangle 11"/>
          <p:cNvSpPr/>
          <p:nvPr/>
        </p:nvSpPr>
        <p:spPr>
          <a:xfrm>
            <a:off x="4343400" y="1737360"/>
            <a:ext cx="34747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43400" y="1737360"/>
            <a:ext cx="3474720" cy="54864"/>
          </a:xfrm>
          <a:prstGeom prst="round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1901952"/>
            <a:ext cx="3108960" cy="3328416"/>
          </a:xfrm>
          <a:prstGeom prst="rect">
            <a:avLst/>
          </a:prstGeom>
          <a:noFill/>
        </p:spPr>
        <p:txBody>
          <a:bodyPr wrap="square">
            <a:spAutoFit/>
          </a:bodyPr>
          <a:lstStyle/>
          <a:p>
            <a:pPr>
              <a:defRPr sz="3200" b="1">
                <a:solidFill>
                  <a:srgbClr val="0284C7"/>
                </a:solidFill>
              </a:defRPr>
            </a:pPr>
            <a:r>
              <a:t>200 W / m²</a:t>
            </a:r>
          </a:p>
          <a:p>
            <a:pPr>
              <a:spcBef>
                <a:spcPts val="200"/>
              </a:spcBef>
              <a:defRPr sz="900" b="1">
                <a:solidFill>
                  <a:srgbClr val="0F172A"/>
                </a:solidFill>
              </a:defRPr>
            </a:pPr>
            <a:r>
              <a:t>COMMERCIAL SOLAR PANELS</a:t>
            </a:r>
          </a:p>
          <a:p>
            <a:pPr>
              <a:spcBef>
                <a:spcPts val="500"/>
              </a:spcBef>
              <a:defRPr sz="1000">
                <a:solidFill>
                  <a:srgbClr val="475569"/>
                </a:solidFill>
              </a:defRPr>
            </a:pPr>
            <a:r>
              <a:t>- Models high-efficiency commercial solar canopies</a:t>
            </a:r>
          </a:p>
          <a:p>
            <a:pPr>
              <a:spcBef>
                <a:spcPts val="500"/>
              </a:spcBef>
              <a:defRPr sz="1000">
                <a:solidFill>
                  <a:srgbClr val="475569"/>
                </a:solidFill>
              </a:defRPr>
            </a:pPr>
            <a:r>
              <a:t>- Accounts for summer heat and dust loss</a:t>
            </a:r>
          </a:p>
          <a:p>
            <a:pPr>
              <a:spcBef>
                <a:spcPts val="500"/>
              </a:spcBef>
              <a:defRPr sz="1000">
                <a:solidFill>
                  <a:srgbClr val="475569"/>
                </a:solidFill>
              </a:defRPr>
            </a:pPr>
            <a:r>
              <a:t>- Calibrated against active school arrays in Cupertino</a:t>
            </a:r>
          </a:p>
          <a:p>
            <a:pPr>
              <a:spcBef>
                <a:spcPts val="500"/>
              </a:spcBef>
              <a:defRPr sz="1000">
                <a:solidFill>
                  <a:srgbClr val="475569"/>
                </a:solidFill>
              </a:defRPr>
            </a:pPr>
            <a:r>
              <a:t>- Uses industry-standard tier-1 monocrystalline panels</a:t>
            </a:r>
          </a:p>
        </p:txBody>
      </p:sp>
      <p:sp>
        <p:nvSpPr>
          <p:cNvPr id="15" name="Rounded Rectangle 14"/>
          <p:cNvSpPr/>
          <p:nvPr/>
        </p:nvSpPr>
        <p:spPr>
          <a:xfrm>
            <a:off x="8138160" y="1737360"/>
            <a:ext cx="34747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38160" y="1737360"/>
            <a:ext cx="3474720" cy="54864"/>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1901952"/>
            <a:ext cx="3108960" cy="3328416"/>
          </a:xfrm>
          <a:prstGeom prst="rect">
            <a:avLst/>
          </a:prstGeom>
          <a:noFill/>
        </p:spPr>
        <p:txBody>
          <a:bodyPr wrap="square">
            <a:spAutoFit/>
          </a:bodyPr>
          <a:lstStyle/>
          <a:p>
            <a:pPr>
              <a:defRPr sz="3200" b="1">
                <a:solidFill>
                  <a:srgbClr val="059669"/>
                </a:solidFill>
              </a:defRPr>
            </a:pPr>
            <a:r>
              <a:t>NREL Engine</a:t>
            </a:r>
          </a:p>
          <a:p>
            <a:pPr>
              <a:spcBef>
                <a:spcPts val="200"/>
              </a:spcBef>
              <a:defRPr sz="900" b="1">
                <a:solidFill>
                  <a:srgbClr val="0F172A"/>
                </a:solidFill>
              </a:defRPr>
            </a:pPr>
            <a:r>
              <a:t>U.S. DEPT OF ENERGY DATA</a:t>
            </a:r>
          </a:p>
          <a:p>
            <a:pPr>
              <a:spcBef>
                <a:spcPts val="500"/>
              </a:spcBef>
              <a:defRPr sz="1000">
                <a:solidFill>
                  <a:srgbClr val="475569"/>
                </a:solidFill>
              </a:defRPr>
            </a:pPr>
            <a:r>
              <a:t>- Queries live satellite solar data for exact GPS coords</a:t>
            </a:r>
          </a:p>
          <a:p>
            <a:pPr>
              <a:spcBef>
                <a:spcPts val="500"/>
              </a:spcBef>
              <a:defRPr sz="1000">
                <a:solidFill>
                  <a:srgbClr val="475569"/>
                </a:solidFill>
              </a:defRPr>
            </a:pPr>
            <a:r>
              <a:t>- Models local weather, sun angles, and seasons</a:t>
            </a:r>
          </a:p>
          <a:p>
            <a:pPr>
              <a:spcBef>
                <a:spcPts val="500"/>
              </a:spcBef>
              <a:defRPr sz="1000">
                <a:solidFill>
                  <a:srgbClr val="475569"/>
                </a:solidFill>
              </a:defRPr>
            </a:pPr>
            <a:r>
              <a:t>- Includes instant smart backup so it never crashes</a:t>
            </a:r>
          </a:p>
          <a:p>
            <a:pPr>
              <a:spcBef>
                <a:spcPts val="500"/>
              </a:spcBef>
              <a:defRPr sz="1000">
                <a:solidFill>
                  <a:srgbClr val="475569"/>
                </a:solidFill>
              </a:defRPr>
            </a:pPr>
            <a:r>
              <a:t>- Matches professional engineering precision</a:t>
            </a:r>
          </a:p>
        </p:txBody>
      </p:sp>
      <p:sp>
        <p:nvSpPr>
          <p:cNvPr id="18" name="Rounded Rectangle 17"/>
          <p:cNvSpPr/>
          <p:nvPr/>
        </p:nvSpPr>
        <p:spPr>
          <a:xfrm>
            <a:off x="548640" y="5577840"/>
            <a:ext cx="11094415" cy="777240"/>
          </a:xfrm>
          <a:prstGeom prst="roundRect">
            <a:avLst/>
          </a:prstGeom>
          <a:solidFill>
            <a:srgbClr val="FFFF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623560"/>
            <a:ext cx="10698480" cy="685800"/>
          </a:xfrm>
          <a:prstGeom prst="rect">
            <a:avLst/>
          </a:prstGeom>
          <a:noFill/>
        </p:spPr>
        <p:txBody>
          <a:bodyPr wrap="square">
            <a:spAutoFit/>
          </a:bodyPr>
          <a:lstStyle/>
          <a:p>
            <a:pPr>
              <a:defRPr sz="900" b="1">
                <a:solidFill>
                  <a:srgbClr val="0284C7"/>
                </a:solidFill>
              </a:defRPr>
            </a:pPr>
            <a:r>
              <a:t>ENGINEERED FOR ACCURACY</a:t>
            </a:r>
          </a:p>
          <a:p>
            <a:pPr>
              <a:spcBef>
                <a:spcPts val="200"/>
              </a:spcBef>
              <a:defRPr sz="1050" b="1">
                <a:solidFill>
                  <a:srgbClr val="0F172A"/>
                </a:solidFill>
              </a:defRPr>
            </a:pPr>
            <a:r>
              <a:t>We don't guess: our calculations are calibrated directly against active solar canopies in Cupertino Union and Fremont Union High School District.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97480" y="73152"/>
            <a:ext cx="5943600" cy="365760"/>
          </a:xfrm>
          <a:prstGeom prst="rect">
            <a:avLst/>
          </a:prstGeom>
          <a:noFill/>
        </p:spPr>
        <p:txBody>
          <a:bodyPr wrap="none">
            <a:spAutoFit/>
          </a:bodyPr>
          <a:lstStyle/>
          <a:p>
            <a:pPr>
              <a:defRPr sz="950">
                <a:solidFill>
                  <a:srgbClr val="475569"/>
                </a:solidFill>
              </a:defRPr>
            </a:pPr>
            <a:r>
              <a:t>SVYCA Youth For Earth Hackathon  |  Clean Energy &amp; School Climate Action</a:t>
            </a:r>
          </a:p>
        </p:txBody>
      </p:sp>
      <p:sp>
        <p:nvSpPr>
          <p:cNvPr id="6" name="TextBox 5"/>
          <p:cNvSpPr txBox="1"/>
          <p:nvPr/>
        </p:nvSpPr>
        <p:spPr>
          <a:xfrm>
            <a:off x="10241280" y="73152"/>
            <a:ext cx="1371600" cy="365760"/>
          </a:xfrm>
          <a:prstGeom prst="rect">
            <a:avLst/>
          </a:prstGeom>
          <a:noFill/>
        </p:spPr>
        <p:txBody>
          <a:bodyPr wrap="none">
            <a:spAutoFit/>
          </a:bodyPr>
          <a:lstStyle/>
          <a:p>
            <a:pPr algn="r">
              <a:defRPr sz="1000" b="1">
                <a:solidFill>
                  <a:srgbClr val="0284C7"/>
                </a:solidFill>
              </a:defRPr>
            </a:pPr>
            <a:r>
              <a:t>06 / 10</a:t>
            </a:r>
          </a:p>
        </p:txBody>
      </p:sp>
      <p:sp>
        <p:nvSpPr>
          <p:cNvPr id="7" name="Rectangle 6"/>
          <p:cNvSpPr/>
          <p:nvPr/>
        </p:nvSpPr>
        <p:spPr>
          <a:xfrm>
            <a:off x="0" y="493776"/>
            <a:ext cx="7315017" cy="228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51560"/>
          </a:xfrm>
          <a:prstGeom prst="rect">
            <a:avLst/>
          </a:prstGeom>
          <a:noFill/>
        </p:spPr>
        <p:txBody>
          <a:bodyPr wrap="square" lIns="0" tIns="0" rIns="0" bIns="0">
            <a:spAutoFit/>
          </a:bodyPr>
          <a:lstStyle/>
          <a:p>
            <a:pPr>
              <a:defRPr sz="900" b="1">
                <a:solidFill>
                  <a:srgbClr val="0284C7"/>
                </a:solidFill>
              </a:defRPr>
            </a:pPr>
            <a:r>
              <a:t>CASE STUDY</a:t>
            </a:r>
          </a:p>
          <a:p>
            <a:pPr>
              <a:spcBef>
                <a:spcPts val="200"/>
              </a:spcBef>
              <a:defRPr sz="2200" b="1">
                <a:solidFill>
                  <a:srgbClr val="0F172A"/>
                </a:solidFill>
              </a:defRPr>
            </a:pPr>
            <a:r>
              <a:t>The Tale of Two Schools: Leaders vs. Lost Cash</a:t>
            </a:r>
          </a:p>
          <a:p>
            <a:pPr>
              <a:spcBef>
                <a:spcPts val="300"/>
              </a:spcBef>
              <a:defRPr sz="1100">
                <a:solidFill>
                  <a:srgbClr val="475569"/>
                </a:solidFill>
              </a:defRPr>
            </a:pPr>
            <a:r>
              <a:t>See what happens when a school takes action versus letting asphalt sit idle.</a:t>
            </a:r>
          </a:p>
        </p:txBody>
      </p:sp>
      <p:sp>
        <p:nvSpPr>
          <p:cNvPr id="9" name="Rounded Rectangle 8"/>
          <p:cNvSpPr/>
          <p:nvPr/>
        </p:nvSpPr>
        <p:spPr>
          <a:xfrm>
            <a:off x="548640" y="1737360"/>
            <a:ext cx="539496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5394960" cy="54864"/>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874519"/>
            <a:ext cx="4937760" cy="4297680"/>
          </a:xfrm>
          <a:prstGeom prst="rect">
            <a:avLst/>
          </a:prstGeom>
          <a:noFill/>
        </p:spPr>
        <p:txBody>
          <a:bodyPr wrap="square">
            <a:spAutoFit/>
          </a:bodyPr>
          <a:lstStyle/>
          <a:p>
            <a:pPr>
              <a:defRPr sz="1100" b="1">
                <a:solidFill>
                  <a:srgbClr val="059669"/>
                </a:solidFill>
              </a:defRPr>
            </a:pPr>
            <a:r>
              <a:t>MONTA VISTA HIGH (CUPERTINO)</a:t>
            </a:r>
          </a:p>
          <a:p>
            <a:pPr>
              <a:spcBef>
                <a:spcPts val="100"/>
              </a:spcBef>
              <a:defRPr sz="900" b="1">
                <a:solidFill>
                  <a:srgbClr val="94A3B8"/>
                </a:solidFill>
              </a:defRPr>
            </a:pPr>
            <a:r>
              <a:t>ACTIVE SOLAR LEADER</a:t>
            </a:r>
          </a:p>
          <a:p>
            <a:pPr>
              <a:spcBef>
                <a:spcPts val="400"/>
              </a:spcBef>
              <a:defRPr sz="3600" b="1">
                <a:solidFill>
                  <a:srgbClr val="059669"/>
                </a:solidFill>
              </a:defRPr>
            </a:pPr>
            <a:r>
              <a:t>+$145,000 / yr</a:t>
            </a:r>
          </a:p>
          <a:p>
            <a:pPr>
              <a:spcBef>
                <a:spcPts val="500"/>
              </a:spcBef>
              <a:defRPr sz="1000" b="0">
                <a:solidFill>
                  <a:srgbClr val="475569"/>
                </a:solidFill>
              </a:defRPr>
            </a:pPr>
            <a:r>
              <a:t>- Completed 550 kW solar carports across student parking</a:t>
            </a:r>
          </a:p>
          <a:p>
            <a:pPr>
              <a:spcBef>
                <a:spcPts val="500"/>
              </a:spcBef>
              <a:defRPr sz="1000" b="0">
                <a:solidFill>
                  <a:srgbClr val="475569"/>
                </a:solidFill>
              </a:defRPr>
            </a:pPr>
            <a:r>
              <a:t>- Shades cars, provides EV chargers, and cuts campus heat</a:t>
            </a:r>
          </a:p>
          <a:p>
            <a:pPr>
              <a:spcBef>
                <a:spcPts val="500"/>
              </a:spcBef>
              <a:defRPr sz="1000" b="0">
                <a:solidFill>
                  <a:srgbClr val="475569"/>
                </a:solidFill>
              </a:defRPr>
            </a:pPr>
            <a:r>
              <a:t>- Our model predicted $145K savings; actual published bills show $139K!</a:t>
            </a:r>
          </a:p>
          <a:p>
            <a:pPr>
              <a:spcBef>
                <a:spcPts val="500"/>
              </a:spcBef>
              <a:defRPr sz="1000" b="1">
                <a:solidFill>
                  <a:srgbClr val="0F172A"/>
                </a:solidFill>
              </a:defRPr>
            </a:pPr>
            <a:r>
              <a:t>- Empirical accuracy within 4.17% of actual utility bills</a:t>
            </a:r>
          </a:p>
          <a:p>
            <a:pPr>
              <a:spcBef>
                <a:spcPts val="1000"/>
              </a:spcBef>
              <a:defRPr sz="950" b="1">
                <a:solidFill>
                  <a:srgbClr val="059669"/>
                </a:solidFill>
              </a:defRPr>
            </a:pPr>
            <a:r>
              <a:t>VALIDATION PROOF: The software matches real-world utility bills.</a:t>
            </a:r>
          </a:p>
        </p:txBody>
      </p:sp>
      <p:sp>
        <p:nvSpPr>
          <p:cNvPr id="12" name="Rounded Rectangle 11"/>
          <p:cNvSpPr/>
          <p:nvPr/>
        </p:nvSpPr>
        <p:spPr>
          <a:xfrm>
            <a:off x="6217920" y="1737360"/>
            <a:ext cx="539496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1737360"/>
            <a:ext cx="5394960" cy="54864"/>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874519"/>
            <a:ext cx="4937760" cy="4297680"/>
          </a:xfrm>
          <a:prstGeom prst="rect">
            <a:avLst/>
          </a:prstGeom>
          <a:noFill/>
        </p:spPr>
        <p:txBody>
          <a:bodyPr wrap="square">
            <a:spAutoFit/>
          </a:bodyPr>
          <a:lstStyle/>
          <a:p>
            <a:pPr>
              <a:defRPr sz="1100" b="1">
                <a:solidFill>
                  <a:srgbClr val="DC2626"/>
                </a:solidFill>
              </a:defRPr>
            </a:pPr>
            <a:r>
              <a:t>PALO ALTO HIGH (PALO ALTO)</a:t>
            </a:r>
          </a:p>
          <a:p>
            <a:pPr>
              <a:spcBef>
                <a:spcPts val="100"/>
              </a:spcBef>
              <a:defRPr sz="900" b="1">
                <a:solidFill>
                  <a:srgbClr val="94A3B8"/>
                </a:solidFill>
              </a:defRPr>
            </a:pPr>
            <a:r>
              <a:t>UNSHADED OPPORTUNITY</a:t>
            </a:r>
          </a:p>
          <a:p>
            <a:pPr>
              <a:spcBef>
                <a:spcPts val="400"/>
              </a:spcBef>
              <a:defRPr sz="3600" b="1">
                <a:solidFill>
                  <a:srgbClr val="DC2626"/>
                </a:solidFill>
              </a:defRPr>
            </a:pPr>
            <a:r>
              <a:t>-$140,000 / yr</a:t>
            </a:r>
          </a:p>
          <a:p>
            <a:pPr>
              <a:spcBef>
                <a:spcPts val="500"/>
              </a:spcBef>
              <a:defRPr sz="1000" b="0">
                <a:solidFill>
                  <a:srgbClr val="475569"/>
                </a:solidFill>
              </a:defRPr>
            </a:pPr>
            <a:r>
              <a:t>- 7,200 m² of empty asphalt sits 100% unshaded</a:t>
            </a:r>
          </a:p>
          <a:p>
            <a:pPr>
              <a:spcBef>
                <a:spcPts val="500"/>
              </a:spcBef>
              <a:defRPr sz="1000" b="0">
                <a:solidFill>
                  <a:srgbClr val="475569"/>
                </a:solidFill>
              </a:defRPr>
            </a:pPr>
            <a:r>
              <a:t>- District surrenders $140,000 every year to utility bills</a:t>
            </a:r>
          </a:p>
          <a:p>
            <a:pPr>
              <a:spcBef>
                <a:spcPts val="500"/>
              </a:spcBef>
              <a:defRPr sz="1000" b="0">
                <a:solidFill>
                  <a:srgbClr val="475569"/>
                </a:solidFill>
              </a:defRPr>
            </a:pPr>
            <a:r>
              <a:t>- Leaves an unclaimed $754,000 federal cash grant on the table</a:t>
            </a:r>
          </a:p>
          <a:p>
            <a:pPr>
              <a:spcBef>
                <a:spcPts val="500"/>
              </a:spcBef>
              <a:defRPr sz="1000" b="1">
                <a:solidFill>
                  <a:srgbClr val="0F172A"/>
                </a:solidFill>
              </a:defRPr>
            </a:pPr>
            <a:r>
              <a:t>- Cost of waiting 5 years: Over $700,000 lost from classrooms!</a:t>
            </a:r>
          </a:p>
          <a:p>
            <a:pPr>
              <a:spcBef>
                <a:spcPts val="1000"/>
              </a:spcBef>
              <a:defRPr sz="1050" b="1">
                <a:solidFill>
                  <a:srgbClr val="D97706"/>
                </a:solidFill>
              </a:defRPr>
            </a:pPr>
            <a:r>
              <a:t>That $140,000 lost each year is enough to pay for 2 full-time teachers!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97480" y="73152"/>
            <a:ext cx="5943600" cy="365760"/>
          </a:xfrm>
          <a:prstGeom prst="rect">
            <a:avLst/>
          </a:prstGeom>
          <a:noFill/>
        </p:spPr>
        <p:txBody>
          <a:bodyPr wrap="none">
            <a:spAutoFit/>
          </a:bodyPr>
          <a:lstStyle/>
          <a:p>
            <a:pPr>
              <a:defRPr sz="950">
                <a:solidFill>
                  <a:srgbClr val="475569"/>
                </a:solidFill>
              </a:defRPr>
            </a:pPr>
            <a:r>
              <a:t>SVYCA Youth For Earth Hackathon  |  Clean Energy &amp; School Climate Action</a:t>
            </a:r>
          </a:p>
        </p:txBody>
      </p:sp>
      <p:sp>
        <p:nvSpPr>
          <p:cNvPr id="6" name="TextBox 5"/>
          <p:cNvSpPr txBox="1"/>
          <p:nvPr/>
        </p:nvSpPr>
        <p:spPr>
          <a:xfrm>
            <a:off x="10241280" y="73152"/>
            <a:ext cx="1371600" cy="365760"/>
          </a:xfrm>
          <a:prstGeom prst="rect">
            <a:avLst/>
          </a:prstGeom>
          <a:noFill/>
        </p:spPr>
        <p:txBody>
          <a:bodyPr wrap="none">
            <a:spAutoFit/>
          </a:bodyPr>
          <a:lstStyle/>
          <a:p>
            <a:pPr algn="r">
              <a:defRPr sz="1000" b="1">
                <a:solidFill>
                  <a:srgbClr val="0284C7"/>
                </a:solidFill>
              </a:defRPr>
            </a:pPr>
            <a:r>
              <a:t>07 / 10</a:t>
            </a:r>
          </a:p>
        </p:txBody>
      </p:sp>
      <p:sp>
        <p:nvSpPr>
          <p:cNvPr id="7" name="Rectangle 6"/>
          <p:cNvSpPr/>
          <p:nvPr/>
        </p:nvSpPr>
        <p:spPr>
          <a:xfrm>
            <a:off x="0" y="493776"/>
            <a:ext cx="8534186" cy="228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51560"/>
          </a:xfrm>
          <a:prstGeom prst="rect">
            <a:avLst/>
          </a:prstGeom>
          <a:noFill/>
        </p:spPr>
        <p:txBody>
          <a:bodyPr wrap="square" lIns="0" tIns="0" rIns="0" bIns="0">
            <a:spAutoFit/>
          </a:bodyPr>
          <a:lstStyle/>
          <a:p>
            <a:pPr>
              <a:defRPr sz="900" b="1">
                <a:solidFill>
                  <a:srgbClr val="0284C7"/>
                </a:solidFill>
              </a:defRPr>
            </a:pPr>
            <a:r>
              <a:t>THE RETURN ON INVESTMENT</a:t>
            </a:r>
          </a:p>
          <a:p>
            <a:pPr>
              <a:spcBef>
                <a:spcPts val="200"/>
              </a:spcBef>
              <a:defRPr sz="2200" b="1">
                <a:solidFill>
                  <a:srgbClr val="0F172A"/>
                </a:solidFill>
              </a:defRPr>
            </a:pPr>
            <a:r>
              <a:t>Fast Payback, 25 Years of Free Electricity</a:t>
            </a:r>
          </a:p>
          <a:p>
            <a:pPr>
              <a:spcBef>
                <a:spcPts val="300"/>
              </a:spcBef>
              <a:defRPr sz="1100">
                <a:solidFill>
                  <a:srgbClr val="475569"/>
                </a:solidFill>
              </a:defRPr>
            </a:pPr>
            <a:r>
              <a:t>Solar canopies pay for themselves faster than almost any school facility project.</a:t>
            </a:r>
          </a:p>
        </p:txBody>
      </p:sp>
      <p:sp>
        <p:nvSpPr>
          <p:cNvPr id="9" name="Rounded Rectangle 8"/>
          <p:cNvSpPr/>
          <p:nvPr/>
        </p:nvSpPr>
        <p:spPr>
          <a:xfrm>
            <a:off x="548640" y="1737360"/>
            <a:ext cx="25603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2560320" cy="54864"/>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01952"/>
            <a:ext cx="2286000" cy="3328416"/>
          </a:xfrm>
          <a:prstGeom prst="rect">
            <a:avLst/>
          </a:prstGeom>
          <a:noFill/>
        </p:spPr>
        <p:txBody>
          <a:bodyPr wrap="square">
            <a:spAutoFit/>
          </a:bodyPr>
          <a:lstStyle/>
          <a:p>
            <a:pPr>
              <a:defRPr sz="2800" b="1">
                <a:solidFill>
                  <a:srgbClr val="059669"/>
                </a:solidFill>
              </a:defRPr>
            </a:pPr>
            <a:r>
              <a:t>3.7 Years</a:t>
            </a:r>
          </a:p>
          <a:p>
            <a:pPr>
              <a:spcBef>
                <a:spcPts val="200"/>
              </a:spcBef>
              <a:defRPr sz="850" b="1">
                <a:solidFill>
                  <a:srgbClr val="0F172A"/>
                </a:solidFill>
              </a:defRPr>
            </a:pPr>
            <a:r>
              <a:t>RAPID PAYBACK</a:t>
            </a:r>
          </a:p>
          <a:p>
            <a:pPr>
              <a:spcBef>
                <a:spcPts val="500"/>
              </a:spcBef>
              <a:defRPr sz="950">
                <a:solidFill>
                  <a:srgbClr val="475569"/>
                </a:solidFill>
              </a:defRPr>
            </a:pPr>
            <a:r>
              <a:t>- Pays for itself in under 4 years</a:t>
            </a:r>
          </a:p>
          <a:p>
            <a:pPr>
              <a:spcBef>
                <a:spcPts val="500"/>
              </a:spcBef>
              <a:defRPr sz="950">
                <a:solidFill>
                  <a:srgbClr val="475569"/>
                </a:solidFill>
              </a:defRPr>
            </a:pPr>
            <a:r>
              <a:t>- Drops from 6+ years with Direct Pay</a:t>
            </a:r>
          </a:p>
          <a:p>
            <a:pPr>
              <a:spcBef>
                <a:spcPts val="500"/>
              </a:spcBef>
              <a:defRPr sz="950">
                <a:solidFill>
                  <a:srgbClr val="475569"/>
                </a:solidFill>
              </a:defRPr>
            </a:pPr>
            <a:r>
              <a:t>- Faster than school bond projects</a:t>
            </a:r>
          </a:p>
          <a:p>
            <a:pPr>
              <a:spcBef>
                <a:spcPts val="500"/>
              </a:spcBef>
              <a:defRPr sz="950">
                <a:solidFill>
                  <a:srgbClr val="475569"/>
                </a:solidFill>
              </a:defRPr>
            </a:pPr>
            <a:r>
              <a:t>- Delivers net positive cashflow</a:t>
            </a:r>
          </a:p>
        </p:txBody>
      </p:sp>
      <p:sp>
        <p:nvSpPr>
          <p:cNvPr id="12" name="Rounded Rectangle 11"/>
          <p:cNvSpPr/>
          <p:nvPr/>
        </p:nvSpPr>
        <p:spPr>
          <a:xfrm>
            <a:off x="3383280" y="1737360"/>
            <a:ext cx="25603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83280" y="1737360"/>
            <a:ext cx="2560320" cy="54864"/>
          </a:xfrm>
          <a:prstGeom prst="round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0440" y="1901952"/>
            <a:ext cx="2286000" cy="3328416"/>
          </a:xfrm>
          <a:prstGeom prst="rect">
            <a:avLst/>
          </a:prstGeom>
          <a:noFill/>
        </p:spPr>
        <p:txBody>
          <a:bodyPr wrap="square">
            <a:spAutoFit/>
          </a:bodyPr>
          <a:lstStyle/>
          <a:p>
            <a:pPr>
              <a:defRPr sz="2800" b="1">
                <a:solidFill>
                  <a:srgbClr val="0284C7"/>
                </a:solidFill>
              </a:defRPr>
            </a:pPr>
            <a:r>
              <a:t>$750K+</a:t>
            </a:r>
          </a:p>
          <a:p>
            <a:pPr>
              <a:spcBef>
                <a:spcPts val="200"/>
              </a:spcBef>
              <a:defRPr sz="850" b="1">
                <a:solidFill>
                  <a:srgbClr val="0F172A"/>
                </a:solidFill>
              </a:defRPr>
            </a:pPr>
            <a:r>
              <a:t>FEDERAL CASH CHECK</a:t>
            </a:r>
          </a:p>
          <a:p>
            <a:pPr>
              <a:spcBef>
                <a:spcPts val="500"/>
              </a:spcBef>
              <a:defRPr sz="950">
                <a:solidFill>
                  <a:srgbClr val="475569"/>
                </a:solidFill>
              </a:defRPr>
            </a:pPr>
            <a:r>
              <a:t>- Direct cash grant from the IRS</a:t>
            </a:r>
          </a:p>
          <a:p>
            <a:pPr>
              <a:spcBef>
                <a:spcPts val="500"/>
              </a:spcBef>
              <a:defRPr sz="950">
                <a:solidFill>
                  <a:srgbClr val="475569"/>
                </a:solidFill>
              </a:defRPr>
            </a:pPr>
            <a:r>
              <a:t>- Covers 30% to 50% of total cost</a:t>
            </a:r>
          </a:p>
          <a:p>
            <a:pPr>
              <a:spcBef>
                <a:spcPts val="500"/>
              </a:spcBef>
              <a:defRPr sz="950">
                <a:solidFill>
                  <a:srgbClr val="475569"/>
                </a:solidFill>
              </a:defRPr>
            </a:pPr>
            <a:r>
              <a:t>- Paid to district treasury</a:t>
            </a:r>
          </a:p>
          <a:p>
            <a:pPr>
              <a:spcBef>
                <a:spcPts val="500"/>
              </a:spcBef>
              <a:defRPr sz="950">
                <a:solidFill>
                  <a:srgbClr val="475569"/>
                </a:solidFill>
              </a:defRPr>
            </a:pPr>
            <a:r>
              <a:t>- No bond measure required</a:t>
            </a:r>
          </a:p>
        </p:txBody>
      </p:sp>
      <p:sp>
        <p:nvSpPr>
          <p:cNvPr id="15" name="Rounded Rectangle 14"/>
          <p:cNvSpPr/>
          <p:nvPr/>
        </p:nvSpPr>
        <p:spPr>
          <a:xfrm>
            <a:off x="6217920" y="1737360"/>
            <a:ext cx="25603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0" y="1737360"/>
            <a:ext cx="2560320" cy="54864"/>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1901952"/>
            <a:ext cx="2286000" cy="3328416"/>
          </a:xfrm>
          <a:prstGeom prst="rect">
            <a:avLst/>
          </a:prstGeom>
          <a:noFill/>
        </p:spPr>
        <p:txBody>
          <a:bodyPr wrap="square">
            <a:spAutoFit/>
          </a:bodyPr>
          <a:lstStyle/>
          <a:p>
            <a:pPr>
              <a:defRPr sz="2800" b="1">
                <a:solidFill>
                  <a:srgbClr val="059669"/>
                </a:solidFill>
              </a:defRPr>
            </a:pPr>
            <a:r>
              <a:t>$140K/yr</a:t>
            </a:r>
          </a:p>
          <a:p>
            <a:pPr>
              <a:spcBef>
                <a:spcPts val="200"/>
              </a:spcBef>
              <a:defRPr sz="850" b="1">
                <a:solidFill>
                  <a:srgbClr val="0F172A"/>
                </a:solidFill>
              </a:defRPr>
            </a:pPr>
            <a:r>
              <a:t>ANNUAL SAVINGS</a:t>
            </a:r>
          </a:p>
          <a:p>
            <a:pPr>
              <a:spcBef>
                <a:spcPts val="500"/>
              </a:spcBef>
              <a:defRPr sz="950">
                <a:solidFill>
                  <a:srgbClr val="475569"/>
                </a:solidFill>
              </a:defRPr>
            </a:pPr>
            <a:r>
              <a:t>- Avoided retail power bills</a:t>
            </a:r>
          </a:p>
          <a:p>
            <a:pPr>
              <a:spcBef>
                <a:spcPts val="500"/>
              </a:spcBef>
              <a:defRPr sz="950">
                <a:solidFill>
                  <a:srgbClr val="475569"/>
                </a:solidFill>
              </a:defRPr>
            </a:pPr>
            <a:r>
              <a:t>- Protects against rising PG&amp;E rates</a:t>
            </a:r>
          </a:p>
          <a:p>
            <a:pPr>
              <a:spcBef>
                <a:spcPts val="500"/>
              </a:spcBef>
              <a:defRPr sz="950">
                <a:solidFill>
                  <a:srgbClr val="475569"/>
                </a:solidFill>
              </a:defRPr>
            </a:pPr>
            <a:r>
              <a:t>- Savings start in Month 1</a:t>
            </a:r>
          </a:p>
          <a:p>
            <a:pPr>
              <a:spcBef>
                <a:spcPts val="500"/>
              </a:spcBef>
              <a:defRPr sz="950">
                <a:solidFill>
                  <a:srgbClr val="475569"/>
                </a:solidFill>
              </a:defRPr>
            </a:pPr>
            <a:r>
              <a:t>- Funds instructional resources</a:t>
            </a:r>
          </a:p>
        </p:txBody>
      </p:sp>
      <p:sp>
        <p:nvSpPr>
          <p:cNvPr id="18" name="Rounded Rectangle 17"/>
          <p:cNvSpPr/>
          <p:nvPr/>
        </p:nvSpPr>
        <p:spPr>
          <a:xfrm>
            <a:off x="9052560" y="1737360"/>
            <a:ext cx="25603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052560" y="1737360"/>
            <a:ext cx="2560320" cy="54864"/>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20" y="1901952"/>
            <a:ext cx="2286000" cy="3328416"/>
          </a:xfrm>
          <a:prstGeom prst="rect">
            <a:avLst/>
          </a:prstGeom>
          <a:noFill/>
        </p:spPr>
        <p:txBody>
          <a:bodyPr wrap="square">
            <a:spAutoFit/>
          </a:bodyPr>
          <a:lstStyle/>
          <a:p>
            <a:pPr>
              <a:defRPr sz="2800" b="1">
                <a:solidFill>
                  <a:srgbClr val="D97706"/>
                </a:solidFill>
              </a:defRPr>
            </a:pPr>
            <a:r>
              <a:t>$9.8M</a:t>
            </a:r>
          </a:p>
          <a:p>
            <a:pPr>
              <a:spcBef>
                <a:spcPts val="200"/>
              </a:spcBef>
              <a:defRPr sz="850" b="1">
                <a:solidFill>
                  <a:srgbClr val="0F172A"/>
                </a:solidFill>
              </a:defRPr>
            </a:pPr>
            <a:r>
              <a:t>25-YEAR DIVIDEND</a:t>
            </a:r>
          </a:p>
          <a:p>
            <a:pPr>
              <a:spcBef>
                <a:spcPts val="500"/>
              </a:spcBef>
              <a:defRPr sz="950">
                <a:solidFill>
                  <a:srgbClr val="475569"/>
                </a:solidFill>
              </a:defRPr>
            </a:pPr>
            <a:r>
              <a:t>- Cumulative net savings</a:t>
            </a:r>
          </a:p>
          <a:p>
            <a:pPr>
              <a:spcBef>
                <a:spcPts val="500"/>
              </a:spcBef>
              <a:defRPr sz="950">
                <a:solidFill>
                  <a:srgbClr val="475569"/>
                </a:solidFill>
              </a:defRPr>
            </a:pPr>
            <a:r>
              <a:t>- Accounts for maintenance</a:t>
            </a:r>
          </a:p>
          <a:p>
            <a:pPr>
              <a:spcBef>
                <a:spcPts val="500"/>
              </a:spcBef>
              <a:defRPr sz="950">
                <a:solidFill>
                  <a:srgbClr val="475569"/>
                </a:solidFill>
              </a:defRPr>
            </a:pPr>
            <a:r>
              <a:t>- Permanent classroom cash</a:t>
            </a:r>
          </a:p>
          <a:p>
            <a:pPr>
              <a:spcBef>
                <a:spcPts val="500"/>
              </a:spcBef>
              <a:defRPr sz="950">
                <a:solidFill>
                  <a:srgbClr val="475569"/>
                </a:solidFill>
              </a:defRPr>
            </a:pPr>
            <a:r>
              <a:t>- Zero school bond tax hikes</a:t>
            </a:r>
          </a:p>
        </p:txBody>
      </p:sp>
      <p:sp>
        <p:nvSpPr>
          <p:cNvPr id="21" name="Rounded Rectangle 20"/>
          <p:cNvSpPr/>
          <p:nvPr/>
        </p:nvSpPr>
        <p:spPr>
          <a:xfrm>
            <a:off x="548640" y="5577840"/>
            <a:ext cx="11094415" cy="777240"/>
          </a:xfrm>
          <a:prstGeom prst="roundRect">
            <a:avLst/>
          </a:prstGeom>
          <a:solidFill>
            <a:srgbClr val="FFFFFF"/>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623560"/>
            <a:ext cx="10698480" cy="685800"/>
          </a:xfrm>
          <a:prstGeom prst="rect">
            <a:avLst/>
          </a:prstGeom>
          <a:noFill/>
        </p:spPr>
        <p:txBody>
          <a:bodyPr wrap="square">
            <a:spAutoFit/>
          </a:bodyPr>
          <a:lstStyle/>
          <a:p>
            <a:pPr>
              <a:defRPr sz="900" b="1">
                <a:solidFill>
                  <a:srgbClr val="059669"/>
                </a:solidFill>
              </a:defRPr>
            </a:pPr>
            <a:r>
              <a:t>WHAT DOES A $9.8M DIVIDEND MEAN FOR A SCHOOL?</a:t>
            </a:r>
          </a:p>
          <a:p>
            <a:pPr>
              <a:spcBef>
                <a:spcPts val="200"/>
              </a:spcBef>
              <a:defRPr sz="1050" b="1">
                <a:solidFill>
                  <a:srgbClr val="0F172A"/>
                </a:solidFill>
              </a:defRPr>
            </a:pPr>
            <a:r>
              <a:t>It means permanent funding for STEM labs, art and music teachers, student mental health counselors, and zero school bond tax hikes.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97480" y="73152"/>
            <a:ext cx="5943600" cy="365760"/>
          </a:xfrm>
          <a:prstGeom prst="rect">
            <a:avLst/>
          </a:prstGeom>
          <a:noFill/>
        </p:spPr>
        <p:txBody>
          <a:bodyPr wrap="none">
            <a:spAutoFit/>
          </a:bodyPr>
          <a:lstStyle/>
          <a:p>
            <a:pPr>
              <a:defRPr sz="950">
                <a:solidFill>
                  <a:srgbClr val="475569"/>
                </a:solidFill>
              </a:defRPr>
            </a:pPr>
            <a:r>
              <a:t>SVYCA Youth For Earth Hackathon  |  Clean Energy &amp; School Climate Action</a:t>
            </a:r>
          </a:p>
        </p:txBody>
      </p:sp>
      <p:sp>
        <p:nvSpPr>
          <p:cNvPr id="6" name="TextBox 5"/>
          <p:cNvSpPr txBox="1"/>
          <p:nvPr/>
        </p:nvSpPr>
        <p:spPr>
          <a:xfrm>
            <a:off x="10241280" y="73152"/>
            <a:ext cx="1371600" cy="365760"/>
          </a:xfrm>
          <a:prstGeom prst="rect">
            <a:avLst/>
          </a:prstGeom>
          <a:noFill/>
        </p:spPr>
        <p:txBody>
          <a:bodyPr wrap="none">
            <a:spAutoFit/>
          </a:bodyPr>
          <a:lstStyle/>
          <a:p>
            <a:pPr algn="r">
              <a:defRPr sz="1000" b="1">
                <a:solidFill>
                  <a:srgbClr val="0284C7"/>
                </a:solidFill>
              </a:defRPr>
            </a:pPr>
            <a:r>
              <a:t>08 / 10</a:t>
            </a:r>
          </a:p>
        </p:txBody>
      </p:sp>
      <p:sp>
        <p:nvSpPr>
          <p:cNvPr id="7" name="Rectangle 6"/>
          <p:cNvSpPr/>
          <p:nvPr/>
        </p:nvSpPr>
        <p:spPr>
          <a:xfrm>
            <a:off x="0" y="493776"/>
            <a:ext cx="9753356" cy="228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51560"/>
          </a:xfrm>
          <a:prstGeom prst="rect">
            <a:avLst/>
          </a:prstGeom>
          <a:noFill/>
        </p:spPr>
        <p:txBody>
          <a:bodyPr wrap="square" lIns="0" tIns="0" rIns="0" bIns="0">
            <a:spAutoFit/>
          </a:bodyPr>
          <a:lstStyle/>
          <a:p>
            <a:pPr>
              <a:defRPr sz="900" b="1">
                <a:solidFill>
                  <a:srgbClr val="0284C7"/>
                </a:solidFill>
              </a:defRPr>
            </a:pPr>
            <a:r>
              <a:t>CAMPUS IMPACT</a:t>
            </a:r>
          </a:p>
          <a:p>
            <a:pPr>
              <a:spcBef>
                <a:spcPts val="200"/>
              </a:spcBef>
              <a:defRPr sz="2200" b="1">
                <a:solidFill>
                  <a:srgbClr val="0F172A"/>
                </a:solidFill>
              </a:defRPr>
            </a:pPr>
            <a:r>
              <a:t>More Than Just Power: Real Upgrades for Students</a:t>
            </a:r>
          </a:p>
          <a:p>
            <a:pPr>
              <a:spcBef>
                <a:spcPts val="300"/>
              </a:spcBef>
              <a:defRPr sz="1100">
                <a:solidFill>
                  <a:srgbClr val="475569"/>
                </a:solidFill>
              </a:defRPr>
            </a:pPr>
            <a:r>
              <a:t>Solar canopies turn an ugly, boiling parking lot into high-tech school infrastructure.</a:t>
            </a:r>
          </a:p>
        </p:txBody>
      </p:sp>
      <p:sp>
        <p:nvSpPr>
          <p:cNvPr id="9" name="Rounded Rectangle 8"/>
          <p:cNvSpPr/>
          <p:nvPr/>
        </p:nvSpPr>
        <p:spPr>
          <a:xfrm>
            <a:off x="548640" y="1737360"/>
            <a:ext cx="34747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3474720" cy="54864"/>
          </a:xfrm>
          <a:prstGeom prst="round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901952"/>
            <a:ext cx="3108960" cy="3328416"/>
          </a:xfrm>
          <a:prstGeom prst="rect">
            <a:avLst/>
          </a:prstGeom>
          <a:noFill/>
        </p:spPr>
        <p:txBody>
          <a:bodyPr wrap="square">
            <a:spAutoFit/>
          </a:bodyPr>
          <a:lstStyle/>
          <a:p>
            <a:pPr>
              <a:defRPr sz="3200" b="1">
                <a:solidFill>
                  <a:srgbClr val="0284C7"/>
                </a:solidFill>
              </a:defRPr>
            </a:pPr>
            <a:r>
              <a:t>40°F Cooler</a:t>
            </a:r>
          </a:p>
          <a:p>
            <a:pPr>
              <a:spcBef>
                <a:spcPts val="200"/>
              </a:spcBef>
              <a:defRPr sz="900" b="1">
                <a:solidFill>
                  <a:srgbClr val="0F172A"/>
                </a:solidFill>
              </a:defRPr>
            </a:pPr>
            <a:r>
              <a:t>SHADE &amp; HEAT RELIEF</a:t>
            </a:r>
          </a:p>
          <a:p>
            <a:pPr>
              <a:spcBef>
                <a:spcPts val="600"/>
              </a:spcBef>
              <a:defRPr sz="1000">
                <a:solidFill>
                  <a:srgbClr val="475569"/>
                </a:solidFill>
              </a:defRPr>
            </a:pPr>
            <a:r>
              <a:t>- Cuts vehicle interior temperatures by up to 40°F</a:t>
            </a:r>
          </a:p>
          <a:p>
            <a:pPr>
              <a:spcBef>
                <a:spcPts val="600"/>
              </a:spcBef>
              <a:defRPr sz="1000">
                <a:solidFill>
                  <a:srgbClr val="475569"/>
                </a:solidFill>
              </a:defRPr>
            </a:pPr>
            <a:r>
              <a:t>- Keeps cars cool for teachers and high school drivers</a:t>
            </a:r>
          </a:p>
          <a:p>
            <a:pPr>
              <a:spcBef>
                <a:spcPts val="600"/>
              </a:spcBef>
              <a:defRPr sz="1000">
                <a:solidFill>
                  <a:srgbClr val="475569"/>
                </a:solidFill>
              </a:defRPr>
            </a:pPr>
            <a:r>
              <a:t>- Shades elementary and middle school play blacktops</a:t>
            </a:r>
          </a:p>
          <a:p>
            <a:pPr>
              <a:spcBef>
                <a:spcPts val="600"/>
              </a:spcBef>
              <a:defRPr sz="1000">
                <a:solidFill>
                  <a:srgbClr val="475569"/>
                </a:solidFill>
              </a:defRPr>
            </a:pPr>
            <a:r>
              <a:t>- Combats urban heat waves during California autumns</a:t>
            </a:r>
          </a:p>
        </p:txBody>
      </p:sp>
      <p:sp>
        <p:nvSpPr>
          <p:cNvPr id="12" name="Rounded Rectangle 11"/>
          <p:cNvSpPr/>
          <p:nvPr/>
        </p:nvSpPr>
        <p:spPr>
          <a:xfrm>
            <a:off x="4343400" y="1737360"/>
            <a:ext cx="34747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43400" y="1737360"/>
            <a:ext cx="3474720" cy="54864"/>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1901952"/>
            <a:ext cx="3108960" cy="3328416"/>
          </a:xfrm>
          <a:prstGeom prst="rect">
            <a:avLst/>
          </a:prstGeom>
          <a:noFill/>
        </p:spPr>
        <p:txBody>
          <a:bodyPr wrap="square">
            <a:spAutoFit/>
          </a:bodyPr>
          <a:lstStyle/>
          <a:p>
            <a:pPr>
              <a:defRPr sz="3200" b="1">
                <a:solidFill>
                  <a:srgbClr val="059669"/>
                </a:solidFill>
              </a:defRPr>
            </a:pPr>
            <a:r>
              <a:t>Clean EVs</a:t>
            </a:r>
          </a:p>
          <a:p>
            <a:pPr>
              <a:spcBef>
                <a:spcPts val="200"/>
              </a:spcBef>
              <a:defRPr sz="900" b="1">
                <a:solidFill>
                  <a:srgbClr val="0F172A"/>
                </a:solidFill>
              </a:defRPr>
            </a:pPr>
            <a:r>
              <a:t>POWERING OUR TEACHERS</a:t>
            </a:r>
          </a:p>
          <a:p>
            <a:pPr>
              <a:spcBef>
                <a:spcPts val="600"/>
              </a:spcBef>
              <a:defRPr sz="1000">
                <a:solidFill>
                  <a:srgbClr val="475569"/>
                </a:solidFill>
              </a:defRPr>
            </a:pPr>
            <a:r>
              <a:t>- Built-in Level 2 EV charging stations under the canopies</a:t>
            </a:r>
          </a:p>
          <a:p>
            <a:pPr>
              <a:spcBef>
                <a:spcPts val="600"/>
              </a:spcBef>
              <a:defRPr sz="1000">
                <a:solidFill>
                  <a:srgbClr val="475569"/>
                </a:solidFill>
              </a:defRPr>
            </a:pPr>
            <a:r>
              <a:t>- Powers teachers' daily commute with clean sunshine</a:t>
            </a:r>
          </a:p>
          <a:p>
            <a:pPr>
              <a:spcBef>
                <a:spcPts val="600"/>
              </a:spcBef>
              <a:defRPr sz="1000">
                <a:solidFill>
                  <a:srgbClr val="475569"/>
                </a:solidFill>
              </a:defRPr>
            </a:pPr>
            <a:r>
              <a:t>- Ready to charge future electric yellow school buses</a:t>
            </a:r>
          </a:p>
          <a:p>
            <a:pPr>
              <a:spcBef>
                <a:spcPts val="600"/>
              </a:spcBef>
              <a:defRPr sz="1000">
                <a:solidFill>
                  <a:srgbClr val="475569"/>
                </a:solidFill>
              </a:defRPr>
            </a:pPr>
            <a:r>
              <a:t>- Reduces local car exhaust around campus drop-off zones</a:t>
            </a:r>
          </a:p>
        </p:txBody>
      </p:sp>
      <p:sp>
        <p:nvSpPr>
          <p:cNvPr id="15" name="Rounded Rectangle 14"/>
          <p:cNvSpPr/>
          <p:nvPr/>
        </p:nvSpPr>
        <p:spPr>
          <a:xfrm>
            <a:off x="8138160" y="1737360"/>
            <a:ext cx="34747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38160" y="1737360"/>
            <a:ext cx="3474720" cy="54864"/>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1901952"/>
            <a:ext cx="3108960" cy="3328416"/>
          </a:xfrm>
          <a:prstGeom prst="rect">
            <a:avLst/>
          </a:prstGeom>
          <a:noFill/>
        </p:spPr>
        <p:txBody>
          <a:bodyPr wrap="square">
            <a:spAutoFit/>
          </a:bodyPr>
          <a:lstStyle/>
          <a:p>
            <a:pPr>
              <a:defRPr sz="3200" b="1">
                <a:solidFill>
                  <a:srgbClr val="D97706"/>
                </a:solidFill>
              </a:defRPr>
            </a:pPr>
            <a:r>
              <a:t>Resilient</a:t>
            </a:r>
          </a:p>
          <a:p>
            <a:pPr>
              <a:spcBef>
                <a:spcPts val="200"/>
              </a:spcBef>
              <a:defRPr sz="900" b="1">
                <a:solidFill>
                  <a:srgbClr val="0F172A"/>
                </a:solidFill>
              </a:defRPr>
            </a:pPr>
            <a:r>
              <a:t>CAMPUS EMERGENCY POWER</a:t>
            </a:r>
          </a:p>
          <a:p>
            <a:pPr>
              <a:spcBef>
                <a:spcPts val="600"/>
              </a:spcBef>
              <a:defRPr sz="1000">
                <a:solidFill>
                  <a:srgbClr val="475569"/>
                </a:solidFill>
              </a:defRPr>
            </a:pPr>
            <a:r>
              <a:t>- Microgrid-ready for future battery storage</a:t>
            </a:r>
          </a:p>
          <a:p>
            <a:pPr>
              <a:spcBef>
                <a:spcPts val="600"/>
              </a:spcBef>
              <a:defRPr sz="1000">
                <a:solidFill>
                  <a:srgbClr val="475569"/>
                </a:solidFill>
              </a:defRPr>
            </a:pPr>
            <a:r>
              <a:t>- Can keep lights, Wi-Fi, and refrigeration on during outages</a:t>
            </a:r>
          </a:p>
          <a:p>
            <a:pPr>
              <a:spcBef>
                <a:spcPts val="600"/>
              </a:spcBef>
              <a:defRPr sz="1000">
                <a:solidFill>
                  <a:srgbClr val="475569"/>
                </a:solidFill>
              </a:defRPr>
            </a:pPr>
            <a:r>
              <a:t>- Turns public schools into neighborhood emergency hubs</a:t>
            </a:r>
          </a:p>
          <a:p>
            <a:pPr>
              <a:spcBef>
                <a:spcPts val="600"/>
              </a:spcBef>
              <a:defRPr sz="1000">
                <a:solidFill>
                  <a:srgbClr val="475569"/>
                </a:solidFill>
              </a:defRPr>
            </a:pPr>
            <a:r>
              <a:t>- Provides student science dashboards with live solar data</a:t>
            </a:r>
          </a:p>
        </p:txBody>
      </p:sp>
      <p:sp>
        <p:nvSpPr>
          <p:cNvPr id="18" name="Rounded Rectangle 17"/>
          <p:cNvSpPr/>
          <p:nvPr/>
        </p:nvSpPr>
        <p:spPr>
          <a:xfrm>
            <a:off x="548640" y="5577840"/>
            <a:ext cx="11094415" cy="777240"/>
          </a:xfrm>
          <a:prstGeom prst="roundRect">
            <a:avLst/>
          </a:prstGeom>
          <a:solidFill>
            <a:srgbClr val="FFFF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623560"/>
            <a:ext cx="10698480" cy="685800"/>
          </a:xfrm>
          <a:prstGeom prst="rect">
            <a:avLst/>
          </a:prstGeom>
          <a:noFill/>
        </p:spPr>
        <p:txBody>
          <a:bodyPr wrap="square">
            <a:spAutoFit/>
          </a:bodyPr>
          <a:lstStyle/>
          <a:p>
            <a:pPr>
              <a:defRPr sz="900" b="1">
                <a:solidFill>
                  <a:srgbClr val="0284C7"/>
                </a:solidFill>
              </a:defRPr>
            </a:pPr>
            <a:r>
              <a:t>BUILT WITH STUDENT SAFETY IN MIND</a:t>
            </a:r>
          </a:p>
          <a:p>
            <a:pPr>
              <a:spcBef>
                <a:spcPts val="200"/>
              </a:spcBef>
              <a:defRPr sz="1050" b="1">
                <a:solidFill>
                  <a:srgbClr val="0F172A"/>
                </a:solidFill>
              </a:defRPr>
            </a:pPr>
            <a:r>
              <a:t>Commercial steel canopies provide covered walkways during winter rainstorms, night lighting for safer athletic events, and clean EV plugs.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97480" y="73152"/>
            <a:ext cx="5943600" cy="365760"/>
          </a:xfrm>
          <a:prstGeom prst="rect">
            <a:avLst/>
          </a:prstGeom>
          <a:noFill/>
        </p:spPr>
        <p:txBody>
          <a:bodyPr wrap="none">
            <a:spAutoFit/>
          </a:bodyPr>
          <a:lstStyle/>
          <a:p>
            <a:pPr>
              <a:defRPr sz="950">
                <a:solidFill>
                  <a:srgbClr val="475569"/>
                </a:solidFill>
              </a:defRPr>
            </a:pPr>
            <a:r>
              <a:t>SVYCA Youth For Earth Hackathon  |  Clean Energy &amp; School Climate Action</a:t>
            </a:r>
          </a:p>
        </p:txBody>
      </p:sp>
      <p:sp>
        <p:nvSpPr>
          <p:cNvPr id="6" name="TextBox 5"/>
          <p:cNvSpPr txBox="1"/>
          <p:nvPr/>
        </p:nvSpPr>
        <p:spPr>
          <a:xfrm>
            <a:off x="10241280" y="73152"/>
            <a:ext cx="1371600" cy="365760"/>
          </a:xfrm>
          <a:prstGeom prst="rect">
            <a:avLst/>
          </a:prstGeom>
          <a:noFill/>
        </p:spPr>
        <p:txBody>
          <a:bodyPr wrap="none">
            <a:spAutoFit/>
          </a:bodyPr>
          <a:lstStyle/>
          <a:p>
            <a:pPr algn="r">
              <a:defRPr sz="1000" b="1">
                <a:solidFill>
                  <a:srgbClr val="0284C7"/>
                </a:solidFill>
              </a:defRPr>
            </a:pPr>
            <a:r>
              <a:t>09 / 10</a:t>
            </a:r>
          </a:p>
        </p:txBody>
      </p:sp>
      <p:sp>
        <p:nvSpPr>
          <p:cNvPr id="7" name="Rectangle 6"/>
          <p:cNvSpPr/>
          <p:nvPr/>
        </p:nvSpPr>
        <p:spPr>
          <a:xfrm>
            <a:off x="0" y="493776"/>
            <a:ext cx="10972525" cy="228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51560"/>
          </a:xfrm>
          <a:prstGeom prst="rect">
            <a:avLst/>
          </a:prstGeom>
          <a:noFill/>
        </p:spPr>
        <p:txBody>
          <a:bodyPr wrap="square" lIns="0" tIns="0" rIns="0" bIns="0">
            <a:spAutoFit/>
          </a:bodyPr>
          <a:lstStyle/>
          <a:p>
            <a:pPr>
              <a:defRPr sz="900" b="1">
                <a:solidFill>
                  <a:srgbClr val="0284C7"/>
                </a:solidFill>
              </a:defRPr>
            </a:pPr>
            <a:r>
              <a:t>THE VISION</a:t>
            </a:r>
          </a:p>
          <a:p>
            <a:pPr>
              <a:spcBef>
                <a:spcPts val="200"/>
              </a:spcBef>
              <a:defRPr sz="2200" b="1">
                <a:solidFill>
                  <a:srgbClr val="0F172A"/>
                </a:solidFill>
              </a:defRPr>
            </a:pPr>
            <a:r>
              <a:t>Phase 1 is Live. Here's Where We Go Next.</a:t>
            </a:r>
          </a:p>
          <a:p>
            <a:pPr>
              <a:spcBef>
                <a:spcPts val="300"/>
              </a:spcBef>
              <a:defRPr sz="1100">
                <a:solidFill>
                  <a:srgbClr val="475569"/>
                </a:solidFill>
              </a:defRPr>
            </a:pPr>
            <a:r>
              <a:t>How one student project scales to 100,000 public schools across the United States.</a:t>
            </a:r>
          </a:p>
        </p:txBody>
      </p:sp>
      <p:sp>
        <p:nvSpPr>
          <p:cNvPr id="9" name="Rounded Rectangle 8"/>
          <p:cNvSpPr/>
          <p:nvPr/>
        </p:nvSpPr>
        <p:spPr>
          <a:xfrm>
            <a:off x="548640" y="1737360"/>
            <a:ext cx="34747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3474720" cy="54864"/>
          </a:xfrm>
          <a:prstGeom prst="round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901952"/>
            <a:ext cx="3108960" cy="3328416"/>
          </a:xfrm>
          <a:prstGeom prst="rect">
            <a:avLst/>
          </a:prstGeom>
          <a:noFill/>
        </p:spPr>
        <p:txBody>
          <a:bodyPr wrap="square">
            <a:spAutoFit/>
          </a:bodyPr>
          <a:lstStyle/>
          <a:p>
            <a:pPr>
              <a:defRPr sz="2400" b="1">
                <a:solidFill>
                  <a:srgbClr val="0284C7"/>
                </a:solidFill>
              </a:defRPr>
            </a:pPr>
            <a:r>
              <a:t>Phase 1</a:t>
            </a:r>
          </a:p>
          <a:p>
            <a:pPr>
              <a:spcBef>
                <a:spcPts val="200"/>
              </a:spcBef>
              <a:defRPr sz="900" b="1">
                <a:solidFill>
                  <a:srgbClr val="0F172A"/>
                </a:solidFill>
              </a:defRPr>
            </a:pPr>
            <a:r>
              <a:t>BAY AREA PILOT (LIVE)</a:t>
            </a:r>
          </a:p>
          <a:p>
            <a:pPr>
              <a:spcBef>
                <a:spcPts val="600"/>
              </a:spcBef>
              <a:defRPr sz="1000">
                <a:solidFill>
                  <a:srgbClr val="475569"/>
                </a:solidFill>
              </a:defRPr>
            </a:pPr>
            <a:r>
              <a:t>- 18 local campuses mapped &amp; verified today</a:t>
            </a:r>
          </a:p>
          <a:p>
            <a:pPr>
              <a:spcBef>
                <a:spcPts val="600"/>
              </a:spcBef>
              <a:defRPr sz="1000">
                <a:solidFill>
                  <a:srgbClr val="475569"/>
                </a:solidFill>
              </a:defRPr>
            </a:pPr>
            <a:r>
              <a:t>- Covers Cupertino, Palo Alto, San Jose &amp; Sunnyvale</a:t>
            </a:r>
          </a:p>
          <a:p>
            <a:pPr>
              <a:spcBef>
                <a:spcPts val="600"/>
              </a:spcBef>
              <a:defRPr sz="1000">
                <a:solidFill>
                  <a:srgbClr val="475569"/>
                </a:solidFill>
              </a:defRPr>
            </a:pPr>
            <a:r>
              <a:t>- High Schools, Middle Schools, and Elementary</a:t>
            </a:r>
          </a:p>
          <a:p>
            <a:pPr>
              <a:spcBef>
                <a:spcPts val="600"/>
              </a:spcBef>
              <a:defRPr sz="1000">
                <a:solidFill>
                  <a:srgbClr val="475569"/>
                </a:solidFill>
              </a:defRPr>
            </a:pPr>
            <a:r>
              <a:t>- 100% verified against real utility rates</a:t>
            </a:r>
          </a:p>
        </p:txBody>
      </p:sp>
      <p:sp>
        <p:nvSpPr>
          <p:cNvPr id="12" name="Rounded Rectangle 11"/>
          <p:cNvSpPr/>
          <p:nvPr/>
        </p:nvSpPr>
        <p:spPr>
          <a:xfrm>
            <a:off x="4343400" y="1737360"/>
            <a:ext cx="34747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43400" y="1737360"/>
            <a:ext cx="3474720" cy="54864"/>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1901952"/>
            <a:ext cx="3108960" cy="3328416"/>
          </a:xfrm>
          <a:prstGeom prst="rect">
            <a:avLst/>
          </a:prstGeom>
          <a:noFill/>
        </p:spPr>
        <p:txBody>
          <a:bodyPr wrap="square">
            <a:spAutoFit/>
          </a:bodyPr>
          <a:lstStyle/>
          <a:p>
            <a:pPr>
              <a:defRPr sz="2400" b="1">
                <a:solidFill>
                  <a:srgbClr val="059669"/>
                </a:solidFill>
              </a:defRPr>
            </a:pPr>
            <a:r>
              <a:t>Phase 2</a:t>
            </a:r>
          </a:p>
          <a:p>
            <a:pPr>
              <a:spcBef>
                <a:spcPts val="200"/>
              </a:spcBef>
              <a:defRPr sz="900" b="1">
                <a:solidFill>
                  <a:srgbClr val="0F172A"/>
                </a:solidFill>
              </a:defRPr>
            </a:pPr>
            <a:r>
              <a:t>CALIFORNIA STATEWIDE</a:t>
            </a:r>
          </a:p>
          <a:p>
            <a:pPr>
              <a:spcBef>
                <a:spcPts val="600"/>
              </a:spcBef>
              <a:defRPr sz="1000">
                <a:solidFill>
                  <a:srgbClr val="475569"/>
                </a:solidFill>
              </a:defRPr>
            </a:pPr>
            <a:r>
              <a:t>- Expanding to 10,000 public schools across CA</a:t>
            </a:r>
          </a:p>
          <a:p>
            <a:pPr>
              <a:spcBef>
                <a:spcPts val="600"/>
              </a:spcBef>
              <a:defRPr sz="1000">
                <a:solidFill>
                  <a:srgbClr val="475569"/>
                </a:solidFill>
              </a:defRPr>
            </a:pPr>
            <a:r>
              <a:t>- Focusing on hot Central Valley school districts</a:t>
            </a:r>
          </a:p>
          <a:p>
            <a:pPr>
              <a:spcBef>
                <a:spcPts val="600"/>
              </a:spcBef>
              <a:defRPr sz="1000">
                <a:solidFill>
                  <a:srgbClr val="475569"/>
                </a:solidFill>
              </a:defRPr>
            </a:pPr>
            <a:r>
              <a:t>- Targeting Title I low-income schools for max federal cash</a:t>
            </a:r>
          </a:p>
          <a:p>
            <a:pPr>
              <a:spcBef>
                <a:spcPts val="600"/>
              </a:spcBef>
              <a:defRPr sz="1000">
                <a:solidFill>
                  <a:srgbClr val="475569"/>
                </a:solidFill>
              </a:defRPr>
            </a:pPr>
            <a:r>
              <a:t>- Supports California's clean energy school mandates</a:t>
            </a:r>
          </a:p>
        </p:txBody>
      </p:sp>
      <p:sp>
        <p:nvSpPr>
          <p:cNvPr id="15" name="Rounded Rectangle 14"/>
          <p:cNvSpPr/>
          <p:nvPr/>
        </p:nvSpPr>
        <p:spPr>
          <a:xfrm>
            <a:off x="8138160" y="1737360"/>
            <a:ext cx="34747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38160" y="1737360"/>
            <a:ext cx="3474720" cy="54864"/>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1901952"/>
            <a:ext cx="3108960" cy="3328416"/>
          </a:xfrm>
          <a:prstGeom prst="rect">
            <a:avLst/>
          </a:prstGeom>
          <a:noFill/>
        </p:spPr>
        <p:txBody>
          <a:bodyPr wrap="square">
            <a:spAutoFit/>
          </a:bodyPr>
          <a:lstStyle/>
          <a:p>
            <a:pPr>
              <a:defRPr sz="2400" b="1">
                <a:solidFill>
                  <a:srgbClr val="D97706"/>
                </a:solidFill>
              </a:defRPr>
            </a:pPr>
            <a:r>
              <a:t>Phase 3</a:t>
            </a:r>
          </a:p>
          <a:p>
            <a:pPr>
              <a:spcBef>
                <a:spcPts val="200"/>
              </a:spcBef>
              <a:defRPr sz="900" b="1">
                <a:solidFill>
                  <a:srgbClr val="0F172A"/>
                </a:solidFill>
              </a:defRPr>
            </a:pPr>
            <a:r>
              <a:t>NATIONWIDE EXPANSION</a:t>
            </a:r>
          </a:p>
          <a:p>
            <a:pPr>
              <a:spcBef>
                <a:spcPts val="600"/>
              </a:spcBef>
              <a:defRPr sz="1000">
                <a:solidFill>
                  <a:srgbClr val="475569"/>
                </a:solidFill>
              </a:defRPr>
            </a:pPr>
            <a:r>
              <a:t>- Scaling to 100,000 public campuses across 50 states</a:t>
            </a:r>
          </a:p>
          <a:p>
            <a:pPr>
              <a:spcBef>
                <a:spcPts val="600"/>
              </a:spcBef>
              <a:defRPr sz="1000">
                <a:solidFill>
                  <a:srgbClr val="475569"/>
                </a:solidFill>
              </a:defRPr>
            </a:pPr>
            <a:r>
              <a:t>- Targeting Midwest &amp; Sunbelt coal-heavy power grids</a:t>
            </a:r>
          </a:p>
          <a:p>
            <a:pPr>
              <a:spcBef>
                <a:spcPts val="600"/>
              </a:spcBef>
              <a:defRPr sz="1000">
                <a:solidFill>
                  <a:srgbClr val="475569"/>
                </a:solidFill>
              </a:defRPr>
            </a:pPr>
            <a:r>
              <a:t>- Replacing dirty coal power gives 2.5x more carbon cut per watt!</a:t>
            </a:r>
          </a:p>
          <a:p>
            <a:pPr>
              <a:spcBef>
                <a:spcPts val="600"/>
              </a:spcBef>
              <a:defRPr sz="1000">
                <a:solidFill>
                  <a:srgbClr val="475569"/>
                </a:solidFill>
              </a:defRPr>
            </a:pPr>
            <a:r>
              <a:t>- Empowers youth climate clubs in every state</a:t>
            </a:r>
          </a:p>
        </p:txBody>
      </p:sp>
      <p:sp>
        <p:nvSpPr>
          <p:cNvPr id="18" name="Rounded Rectangle 17"/>
          <p:cNvSpPr/>
          <p:nvPr/>
        </p:nvSpPr>
        <p:spPr>
          <a:xfrm>
            <a:off x="548640" y="5577840"/>
            <a:ext cx="11094415" cy="777240"/>
          </a:xfrm>
          <a:prstGeom prst="roundRect">
            <a:avLst/>
          </a:prstGeom>
          <a:solidFill>
            <a:srgbClr val="FFFFFF"/>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623560"/>
            <a:ext cx="10698480" cy="685800"/>
          </a:xfrm>
          <a:prstGeom prst="rect">
            <a:avLst/>
          </a:prstGeom>
          <a:noFill/>
        </p:spPr>
        <p:txBody>
          <a:bodyPr wrap="square">
            <a:spAutoFit/>
          </a:bodyPr>
          <a:lstStyle/>
          <a:p>
            <a:pPr>
              <a:defRPr sz="900" b="1">
                <a:solidFill>
                  <a:srgbClr val="059669"/>
                </a:solidFill>
              </a:defRPr>
            </a:pPr>
            <a:r>
              <a:t>THE NATIONAL IMPACT</a:t>
            </a:r>
          </a:p>
          <a:p>
            <a:pPr>
              <a:spcBef>
                <a:spcPts val="200"/>
              </a:spcBef>
              <a:defRPr sz="1050" b="1">
                <a:solidFill>
                  <a:srgbClr val="0F172A"/>
                </a:solidFill>
              </a:defRPr>
            </a:pPr>
            <a:r>
              <a:t>If just 10% of America's schools install solar parking canopies, we save school districts over $800M every single year and eliminate millions of tons of emissions.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97480" y="73152"/>
            <a:ext cx="5943600" cy="365760"/>
          </a:xfrm>
          <a:prstGeom prst="rect">
            <a:avLst/>
          </a:prstGeom>
          <a:noFill/>
        </p:spPr>
        <p:txBody>
          <a:bodyPr wrap="none">
            <a:spAutoFit/>
          </a:bodyPr>
          <a:lstStyle/>
          <a:p>
            <a:pPr>
              <a:defRPr sz="950">
                <a:solidFill>
                  <a:srgbClr val="475569"/>
                </a:solidFill>
              </a:defRPr>
            </a:pPr>
            <a:r>
              <a:t>SVYCA Youth For Earth Hackathon  |  Clean Energy &amp; School Climate Action</a:t>
            </a:r>
          </a:p>
        </p:txBody>
      </p:sp>
      <p:sp>
        <p:nvSpPr>
          <p:cNvPr id="6" name="TextBox 5"/>
          <p:cNvSpPr txBox="1"/>
          <p:nvPr/>
        </p:nvSpPr>
        <p:spPr>
          <a:xfrm>
            <a:off x="10241280" y="73152"/>
            <a:ext cx="1371600" cy="365760"/>
          </a:xfrm>
          <a:prstGeom prst="rect">
            <a:avLst/>
          </a:prstGeom>
          <a:noFill/>
        </p:spPr>
        <p:txBody>
          <a:bodyPr wrap="none">
            <a:spAutoFit/>
          </a:bodyPr>
          <a:lstStyle/>
          <a:p>
            <a:pPr algn="r">
              <a:defRPr sz="1000" b="1">
                <a:solidFill>
                  <a:srgbClr val="0284C7"/>
                </a:solidFill>
              </a:defRPr>
            </a:pPr>
            <a:r>
              <a:t>10 / 10</a:t>
            </a:r>
          </a:p>
        </p:txBody>
      </p:sp>
      <p:sp>
        <p:nvSpPr>
          <p:cNvPr id="7" name="Rectangle 6"/>
          <p:cNvSpPr/>
          <p:nvPr/>
        </p:nvSpPr>
        <p:spPr>
          <a:xfrm>
            <a:off x="0" y="493776"/>
            <a:ext cx="12191695" cy="228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51560"/>
          </a:xfrm>
          <a:prstGeom prst="rect">
            <a:avLst/>
          </a:prstGeom>
          <a:noFill/>
        </p:spPr>
        <p:txBody>
          <a:bodyPr wrap="square" lIns="0" tIns="0" rIns="0" bIns="0">
            <a:spAutoFit/>
          </a:bodyPr>
          <a:lstStyle/>
          <a:p>
            <a:pPr>
              <a:defRPr sz="900" b="1">
                <a:solidFill>
                  <a:srgbClr val="0284C7"/>
                </a:solidFill>
              </a:defRPr>
            </a:pPr>
            <a:r>
              <a:t>TAKE ACTION</a:t>
            </a:r>
          </a:p>
          <a:p>
            <a:pPr>
              <a:spcBef>
                <a:spcPts val="200"/>
              </a:spcBef>
              <a:defRPr sz="2200" b="1">
                <a:solidFill>
                  <a:srgbClr val="0F172A"/>
                </a:solidFill>
              </a:defRPr>
            </a:pPr>
            <a:r>
              <a:t>Putting the Power in Students' Hands</a:t>
            </a:r>
          </a:p>
          <a:p>
            <a:pPr>
              <a:spcBef>
                <a:spcPts val="300"/>
              </a:spcBef>
              <a:defRPr sz="1100">
                <a:solidFill>
                  <a:srgbClr val="475569"/>
                </a:solidFill>
              </a:defRPr>
            </a:pPr>
            <a:r>
              <a:t>How any high school student can walk into their school board meeting and kickstart clean energy.</a:t>
            </a:r>
          </a:p>
        </p:txBody>
      </p:sp>
      <p:sp>
        <p:nvSpPr>
          <p:cNvPr id="9" name="Rounded Rectangle 8"/>
          <p:cNvSpPr/>
          <p:nvPr/>
        </p:nvSpPr>
        <p:spPr>
          <a:xfrm>
            <a:off x="548640" y="1737360"/>
            <a:ext cx="34747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3474720" cy="54864"/>
          </a:xfrm>
          <a:prstGeom prst="round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901952"/>
            <a:ext cx="3108960" cy="3328416"/>
          </a:xfrm>
          <a:prstGeom prst="rect">
            <a:avLst/>
          </a:prstGeom>
          <a:noFill/>
        </p:spPr>
        <p:txBody>
          <a:bodyPr wrap="square">
            <a:spAutoFit/>
          </a:bodyPr>
          <a:lstStyle/>
          <a:p>
            <a:pPr>
              <a:defRPr sz="2400" b="1">
                <a:solidFill>
                  <a:srgbClr val="0284C7"/>
                </a:solidFill>
              </a:defRPr>
            </a:pPr>
            <a:r>
              <a:t>Step 1</a:t>
            </a:r>
          </a:p>
          <a:p>
            <a:pPr>
              <a:spcBef>
                <a:spcPts val="200"/>
              </a:spcBef>
              <a:defRPr sz="900" b="1">
                <a:solidFill>
                  <a:srgbClr val="0F172A"/>
                </a:solidFill>
              </a:defRPr>
            </a:pPr>
            <a:r>
              <a:t>FIND YOUR SCHOOL</a:t>
            </a:r>
          </a:p>
          <a:p>
            <a:pPr>
              <a:spcBef>
                <a:spcPts val="600"/>
              </a:spcBef>
              <a:defRPr sz="1000">
                <a:solidFill>
                  <a:srgbClr val="475569"/>
                </a:solidFill>
              </a:defRPr>
            </a:pPr>
            <a:r>
              <a:t>- Open SolarSchools USA on any laptop or phone</a:t>
            </a:r>
          </a:p>
          <a:p>
            <a:pPr>
              <a:spcBef>
                <a:spcPts val="600"/>
              </a:spcBef>
              <a:defRPr sz="1000">
                <a:solidFill>
                  <a:srgbClr val="475569"/>
                </a:solidFill>
              </a:defRPr>
            </a:pPr>
            <a:r>
              <a:t>- Type your school's name to view your parking lot</a:t>
            </a:r>
          </a:p>
          <a:p>
            <a:pPr>
              <a:spcBef>
                <a:spcPts val="600"/>
              </a:spcBef>
              <a:defRPr sz="1000">
                <a:solidFill>
                  <a:srgbClr val="475569"/>
                </a:solidFill>
              </a:defRPr>
            </a:pPr>
            <a:r>
              <a:t>- See your school's exact savings in 5 seconds</a:t>
            </a:r>
          </a:p>
          <a:p>
            <a:pPr>
              <a:spcBef>
                <a:spcPts val="600"/>
              </a:spcBef>
              <a:defRPr sz="1000">
                <a:solidFill>
                  <a:srgbClr val="475569"/>
                </a:solidFill>
              </a:defRPr>
            </a:pPr>
            <a:r>
              <a:t>- Completely free for students, parents &amp; staff</a:t>
            </a:r>
          </a:p>
        </p:txBody>
      </p:sp>
      <p:sp>
        <p:nvSpPr>
          <p:cNvPr id="12" name="Rounded Rectangle 11"/>
          <p:cNvSpPr/>
          <p:nvPr/>
        </p:nvSpPr>
        <p:spPr>
          <a:xfrm>
            <a:off x="4343400" y="1737360"/>
            <a:ext cx="34747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43400" y="1737360"/>
            <a:ext cx="3474720" cy="54864"/>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1901952"/>
            <a:ext cx="3108960" cy="3328416"/>
          </a:xfrm>
          <a:prstGeom prst="rect">
            <a:avLst/>
          </a:prstGeom>
          <a:noFill/>
        </p:spPr>
        <p:txBody>
          <a:bodyPr wrap="square">
            <a:spAutoFit/>
          </a:bodyPr>
          <a:lstStyle/>
          <a:p>
            <a:pPr>
              <a:defRPr sz="2400" b="1">
                <a:solidFill>
                  <a:srgbClr val="059669"/>
                </a:solidFill>
              </a:defRPr>
            </a:pPr>
            <a:r>
              <a:t>Step 2</a:t>
            </a:r>
          </a:p>
          <a:p>
            <a:pPr>
              <a:spcBef>
                <a:spcPts val="200"/>
              </a:spcBef>
              <a:defRPr sz="900" b="1">
                <a:solidFill>
                  <a:srgbClr val="0F172A"/>
                </a:solidFill>
              </a:defRPr>
            </a:pPr>
            <a:r>
              <a:t>PRINT THE BRIEF</a:t>
            </a:r>
          </a:p>
          <a:p>
            <a:pPr>
              <a:spcBef>
                <a:spcPts val="600"/>
              </a:spcBef>
              <a:defRPr sz="1000">
                <a:solidFill>
                  <a:srgbClr val="475569"/>
                </a:solidFill>
              </a:defRPr>
            </a:pPr>
            <a:r>
              <a:t>- Download our automated 1-page Action Brief</a:t>
            </a:r>
          </a:p>
          <a:p>
            <a:pPr>
              <a:spcBef>
                <a:spcPts val="600"/>
              </a:spcBef>
              <a:defRPr sz="1000">
                <a:solidFill>
                  <a:srgbClr val="475569"/>
                </a:solidFill>
              </a:defRPr>
            </a:pPr>
            <a:r>
              <a:t>- Shows the exact federal cash grant for your district</a:t>
            </a:r>
          </a:p>
          <a:p>
            <a:pPr>
              <a:spcBef>
                <a:spcPts val="600"/>
              </a:spcBef>
              <a:defRPr sz="1000">
                <a:solidFill>
                  <a:srgbClr val="475569"/>
                </a:solidFill>
              </a:defRPr>
            </a:pPr>
            <a:r>
              <a:t>- Share it with your principal, teachers, and council</a:t>
            </a:r>
          </a:p>
          <a:p>
            <a:pPr>
              <a:spcBef>
                <a:spcPts val="600"/>
              </a:spcBef>
              <a:defRPr sz="1000">
                <a:solidFill>
                  <a:srgbClr val="475569"/>
                </a:solidFill>
              </a:defRPr>
            </a:pPr>
            <a:r>
              <a:t>- Backed by real Department of Energy calculations</a:t>
            </a:r>
          </a:p>
        </p:txBody>
      </p:sp>
      <p:sp>
        <p:nvSpPr>
          <p:cNvPr id="15" name="Rounded Rectangle 14"/>
          <p:cNvSpPr/>
          <p:nvPr/>
        </p:nvSpPr>
        <p:spPr>
          <a:xfrm>
            <a:off x="8138160" y="1737360"/>
            <a:ext cx="3474720" cy="3657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38160" y="1737360"/>
            <a:ext cx="3474720" cy="54864"/>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1901952"/>
            <a:ext cx="3108960" cy="3328416"/>
          </a:xfrm>
          <a:prstGeom prst="rect">
            <a:avLst/>
          </a:prstGeom>
          <a:noFill/>
        </p:spPr>
        <p:txBody>
          <a:bodyPr wrap="square">
            <a:spAutoFit/>
          </a:bodyPr>
          <a:lstStyle/>
          <a:p>
            <a:pPr>
              <a:defRPr sz="2400" b="1">
                <a:solidFill>
                  <a:srgbClr val="8C1515"/>
                </a:solidFill>
              </a:defRPr>
            </a:pPr>
            <a:r>
              <a:t>Step 3</a:t>
            </a:r>
          </a:p>
          <a:p>
            <a:pPr>
              <a:spcBef>
                <a:spcPts val="200"/>
              </a:spcBef>
              <a:defRPr sz="900" b="1">
                <a:solidFill>
                  <a:srgbClr val="0F172A"/>
                </a:solidFill>
              </a:defRPr>
            </a:pPr>
            <a:r>
              <a:t>SPEAK TO TRUSTEES</a:t>
            </a:r>
          </a:p>
          <a:p>
            <a:pPr>
              <a:spcBef>
                <a:spcPts val="600"/>
              </a:spcBef>
              <a:defRPr sz="1000">
                <a:solidFill>
                  <a:srgbClr val="475569"/>
                </a:solidFill>
              </a:defRPr>
            </a:pPr>
            <a:r>
              <a:t>- Use our ready-to-vote School Board Resolution</a:t>
            </a:r>
          </a:p>
          <a:p>
            <a:pPr>
              <a:spcBef>
                <a:spcPts val="600"/>
              </a:spcBef>
              <a:defRPr sz="1000">
                <a:solidFill>
                  <a:srgbClr val="475569"/>
                </a:solidFill>
              </a:defRPr>
            </a:pPr>
            <a:r>
              <a:t>- Show trustees how to claim federal cash now</a:t>
            </a:r>
          </a:p>
          <a:p>
            <a:pPr>
              <a:spcBef>
                <a:spcPts val="600"/>
              </a:spcBef>
              <a:defRPr sz="1000">
                <a:solidFill>
                  <a:srgbClr val="475569"/>
                </a:solidFill>
              </a:defRPr>
            </a:pPr>
            <a:r>
              <a:t>- Turn student climate advocacy into real infrastructure</a:t>
            </a:r>
          </a:p>
          <a:p>
            <a:pPr>
              <a:spcBef>
                <a:spcPts val="600"/>
              </a:spcBef>
              <a:defRPr sz="1000">
                <a:solidFill>
                  <a:srgbClr val="475569"/>
                </a:solidFill>
              </a:defRPr>
            </a:pPr>
            <a:r>
              <a:t>- Leave the microphone with a concrete proposal</a:t>
            </a:r>
          </a:p>
        </p:txBody>
      </p:sp>
      <p:sp>
        <p:nvSpPr>
          <p:cNvPr id="18" name="Rounded Rectangle 17"/>
          <p:cNvSpPr/>
          <p:nvPr/>
        </p:nvSpPr>
        <p:spPr>
          <a:xfrm>
            <a:off x="548640" y="5577840"/>
            <a:ext cx="11094415" cy="777240"/>
          </a:xfrm>
          <a:prstGeom prst="roundRect">
            <a:avLst/>
          </a:prstGeom>
          <a:solidFill>
            <a:srgbClr val="FFFFFF"/>
          </a:solidFill>
          <a:ln w="12700">
            <a:solidFill>
              <a:srgbClr val="8C151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623560"/>
            <a:ext cx="10698480" cy="685800"/>
          </a:xfrm>
          <a:prstGeom prst="rect">
            <a:avLst/>
          </a:prstGeom>
          <a:noFill/>
        </p:spPr>
        <p:txBody>
          <a:bodyPr wrap="square">
            <a:spAutoFit/>
          </a:bodyPr>
          <a:lstStyle/>
          <a:p>
            <a:pPr>
              <a:defRPr sz="900" b="1">
                <a:solidFill>
                  <a:srgbClr val="8C1515"/>
                </a:solidFill>
              </a:defRPr>
            </a:pPr>
            <a:r>
              <a:t>THE TIME TO ACT IS NOW</a:t>
            </a:r>
          </a:p>
          <a:p>
            <a:pPr>
              <a:spcBef>
                <a:spcPts val="200"/>
              </a:spcBef>
              <a:defRPr sz="1100" b="1">
                <a:solidFill>
                  <a:srgbClr val="0F172A"/>
                </a:solidFill>
              </a:defRPr>
            </a:pPr>
            <a:r>
              <a:t>Our schools have the sunshine. The federal government has the cash. Let's shade our parking lots and power our classrooms!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