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[0:00 - 0:25] 'Judges, my name is Pranav Balaji. Across the United States, 100,000 public schools sit on millions of square meters of unshaded asphalt, while electricity drains $8 billion from education budgets every year. Today I am presenting SolarSchools USA, an end-to-end computational pipeline that couples OpenStreetMap vector extraction and live NREL PVWatts physics simulation with the statutory mechanics of Section 6417 of the Internal Revenue Code.'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[0:25 - 0:50] 'Let's examine the engineering problem. First, thermodynamics: black asphalt parking lots have an albedo of just 0.05 to 0.10, absorbing solar irradiance and elevating surface temperatures above 145 degrees Fahrenheit. Second, financial law: public school districts are tax-exempt, meaning historically they could not utilize Section 48 Investment Tax Credits without complex, predatory tax-equity flip structures. And third, private feasibility consultants cost $15,000 to $25,000 per school, pricing out under-resourced districts.'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[0:50 - 1:15] 'In 2022, Congress passed Section 6417 of the Internal Revenue Code, known as Elective Pay or Direct Pay, and the IRS finalized Treasury Decision 9988 in March 2024. For the first time in American history, public schools bypass private tax-equity middlemen: the IRS writes an actual, uncapped direct cash reimbursement check covering 30% to 50% of the turnkey installation cost. The base rate is 30% for prevailing wage compliance, plus a 10% Title I low-income bonus and 10% domestic content adder. But over 90% of school boards still do not know this statutory cash check exists.'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[1:15 - 1:40] 'To bridge this gap, I engineered a 4-tier automated computational pipeline in Python: Tier 1 reprojects WGS 84 geographic coordinates into metric UTM zones to eliminate spherical distortion and extracts parking polygons. Tier 2 queries the Department of Energy's NREL PVWatts v8 REST API for satellite solar radiation vectors. Tier 3 computes a 25-year discounted cashflow integrating degradation, tariff escalation, and O&amp;M reserves. Tier 4 compiles an automated School Board Action Brief. If the federal API ever times out, our circuit breaker falls back to regional NSRDB solar constants so the system never crashes.'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[1:40 - 2:05] 'Here is our physical modeling rigor. To calculate active solar catchment area, we apply an empirical 65% packing factor that accounts for 24-foot driving aisles, ADA pathways, and Title 24 fire truck access. System capacity is parameterized at 200 Watts per square meter for Tier-1 Monocrystalline silicon modules. In NREL PVWatts, we model a fixed 10-degree canopy tilt for optimal rain drainage and structural wind resistance. Our 14.0% aggregate derate loss waterfall precisely accounts for inverter conversion, module temperature coefficients, soiling dust, and ohmic wiring resistance.'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[2:05 - 2:35] 'We ground-truthed this physics model against real completed solar carports in Silicon Valley. Look at Monta Vista High School in Cupertino: Fremont Union High School District built 550 kW of carports in 2021. Our computational engine modeled 1,484,000 kWh annually and $145,000 in utility savings. Their actual published PG&amp;E utility bill records show $139,200 in avoided bills—an empirical model accuracy within 4.17%! But just 10 miles away at Palo Alto High School, their massive 7,200 m² parking lot sits unshaded, surrendering $140,000 every year to utility bills, with an unclaimed $754,000 IRS cash check left at the Treasury.'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[2:35 - 3:00] 'Our financial model is grounded in commercial capital benchmarks. Structural steel canopies carry a premium of $3.10 per watt due to cantilever framing and concrete pier foundations. But when you apply the 40% IRS Direct Pay check, net capital outlay drops to $1.86 per watt. Under standard commercial tariffs, this yields a rapid payback of 2.6 to 4.5 years. Over 25 years—after budgeting $15 per kilowatt-year for robotic panel washing and full inverter replacement—a single high school generates over $11 million to $14 million in cumulative net savings back into instructional budgets.'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[3:00 - 3:20] 'From a civil and electrical engineering standpoint: canopies use ASTM A992 structural wide-flange steel columns anchored in cast-in-drilled-hole reinforced concrete piers, engineered to ASCE 7-16 for 110 mph wind loads. We mandate a 14-foot vertical clearance for school bus transit. Electrically, systems interconnect at 480V 3-phase commercial switchgear using IEEE 1547 and California Rule 21 compliant smart inverters that provide Volt-VAR dynamic grid support, with ready conduit for Level 2 EV charging for teachers and electric school bus fleets.'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[3:20 - 3:35] 'Our scalability roadmap expands across three phases: Phase 1 calibrated locally across 9 Bay Area counties under PG&amp;E B-19. Phase 2 scales across all 10,000 California campuses incorporating CalEnviroScreen 4.0 equity overlays and Title 24 mandates. Phase 3 scales nationwide across 100,000 campuses using NCES directory data and EPA eGRID regional carbon intensity factors—where Midwest solar avoids 2.5 times more carbon per watt than in California due to coal grid baseloads.'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[3:35 - 3:50] 'Here is our civic climax: Tab 5 translates all this computational physics into institutional governance. In one click, students or PTAs generate a complete School Board Action Brief with exact engineering specs, a 25-year cashflow schedule, IRS Form 990-T filing instructions, and a turnkey School Board Resolution ready for elected trustees to sponsor. Every year of delay costs a single high school $140,000. Let's shade our parking lots, capture federal funds, and power our classrooms.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D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09728"/>
            <a:ext cx="2011680" cy="292608"/>
          </a:xfrm>
          <a:prstGeom prst="round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850" b="1">
                <a:solidFill>
                  <a:srgbClr val="FFFFFF"/>
                </a:solidFill>
              </a:defRPr>
            </a:pPr>
            <a:r>
              <a:t>STANFORD CLIMATE WEEK</a:t>
            </a:r>
          </a:p>
        </p:txBody>
      </p:sp>
      <p:sp>
        <p:nvSpPr>
          <p:cNvPr id="5" name="TextBox 4"/>
          <p:cNvSpPr txBox="1"/>
          <p:nvPr/>
        </p:nvSpPr>
        <p:spPr>
          <a:xfrm>
            <a:off x="2606040" y="73152"/>
            <a:ext cx="5943600" cy="365760"/>
          </a:xfrm>
          <a:prstGeom prst="rect">
            <a:avLst/>
          </a:prstGeom>
          <a:noFill/>
        </p:spPr>
        <p:txBody>
          <a:bodyPr wrap="none">
            <a:spAutoFit/>
          </a:bodyPr>
          <a:lstStyle/>
          <a:p>
            <a:pPr>
              <a:defRPr sz="950">
                <a:solidFill>
                  <a:srgbClr val="9CA3AF"/>
                </a:solidFill>
              </a:defRPr>
            </a:pPr>
            <a:r>
              <a:t>SVYCA Youth For Earth Hackathon | Systems Architecture &amp; Climate Finance</a:t>
            </a:r>
          </a:p>
        </p:txBody>
      </p:sp>
      <p:sp>
        <p:nvSpPr>
          <p:cNvPr id="6" name="TextBox 5"/>
          <p:cNvSpPr txBox="1"/>
          <p:nvPr/>
        </p:nvSpPr>
        <p:spPr>
          <a:xfrm>
            <a:off x="10241280" y="73152"/>
            <a:ext cx="1463040" cy="365760"/>
          </a:xfrm>
          <a:prstGeom prst="rect">
            <a:avLst/>
          </a:prstGeom>
          <a:noFill/>
        </p:spPr>
        <p:txBody>
          <a:bodyPr wrap="none">
            <a:spAutoFit/>
          </a:bodyPr>
          <a:lstStyle/>
          <a:p>
            <a:pPr algn="r">
              <a:defRPr sz="1000" b="1">
                <a:solidFill>
                  <a:srgbClr val="38BDF8"/>
                </a:solidFill>
              </a:defRPr>
            </a:pPr>
            <a:r>
              <a:t>01 / 10</a:t>
            </a:r>
          </a:p>
        </p:txBody>
      </p:sp>
      <p:sp>
        <p:nvSpPr>
          <p:cNvPr id="7" name="Rectangle 6"/>
          <p:cNvSpPr/>
          <p:nvPr/>
        </p:nvSpPr>
        <p:spPr>
          <a:xfrm>
            <a:off x="0" y="493776"/>
            <a:ext cx="1219169" cy="2743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051560"/>
            <a:ext cx="10698480" cy="2377440"/>
          </a:xfrm>
          <a:prstGeom prst="rect">
            <a:avLst/>
          </a:prstGeom>
          <a:noFill/>
        </p:spPr>
        <p:txBody>
          <a:bodyPr wrap="square">
            <a:spAutoFit/>
          </a:bodyPr>
          <a:lstStyle/>
          <a:p>
            <a:pPr>
              <a:defRPr sz="1000" b="1">
                <a:solidFill>
                  <a:srgbClr val="38BDF8"/>
                </a:solidFill>
              </a:defRPr>
            </a:pPr>
            <a:r>
              <a:t>SYSTEMS ARCHITECTURE &amp; CLIMATE FINANCE PITCH</a:t>
            </a:r>
          </a:p>
          <a:p>
            <a:pPr>
              <a:spcBef>
                <a:spcPts val="400"/>
              </a:spcBef>
              <a:defRPr sz="4000" b="1">
                <a:solidFill>
                  <a:srgbClr val="F3F4F6"/>
                </a:solidFill>
              </a:defRPr>
            </a:pPr>
            <a:r>
              <a:t>SolarSchools USA</a:t>
            </a:r>
          </a:p>
          <a:p>
            <a:pPr>
              <a:spcBef>
                <a:spcPts val="600"/>
              </a:spcBef>
              <a:defRPr sz="1500">
                <a:solidFill>
                  <a:srgbClr val="9CA3AF"/>
                </a:solidFill>
              </a:defRPr>
            </a:pPr>
            <a:r>
              <a:t>Autonomous Geospatial Pipeline &amp; 26 U.S.C. Section 6417 Financial Engine</a:t>
            </a:r>
            <a:br/>
            <a:r>
              <a:t>Democratizing Clean Energy for 100,000+ US Public Campuses</a:t>
            </a:r>
          </a:p>
        </p:txBody>
      </p:sp>
      <p:sp>
        <p:nvSpPr>
          <p:cNvPr id="9" name="TextBox 8"/>
          <p:cNvSpPr txBox="1"/>
          <p:nvPr/>
        </p:nvSpPr>
        <p:spPr>
          <a:xfrm>
            <a:off x="731520" y="3566160"/>
            <a:ext cx="10698480" cy="457200"/>
          </a:xfrm>
          <a:prstGeom prst="rect">
            <a:avLst/>
          </a:prstGeom>
          <a:noFill/>
        </p:spPr>
        <p:txBody>
          <a:bodyPr wrap="none">
            <a:spAutoFit/>
          </a:bodyPr>
          <a:lstStyle/>
          <a:p>
            <a:pPr>
              <a:defRPr sz="1050" b="1">
                <a:solidFill>
                  <a:srgbClr val="F3F4F6"/>
                </a:solidFill>
              </a:defRPr>
            </a:pPr>
            <a:r>
              <a:t>Presenter: Pranav Balaji (Solo Competitor)  |  Event: SVYCA Youth For Earth Hackathon @ Stanford Climate Week  |  October 2026</a:t>
            </a:r>
          </a:p>
        </p:txBody>
      </p:sp>
      <p:sp>
        <p:nvSpPr>
          <p:cNvPr id="10" name="Rounded Rectangle 9"/>
          <p:cNvSpPr/>
          <p:nvPr/>
        </p:nvSpPr>
        <p:spPr>
          <a:xfrm>
            <a:off x="548640" y="4160520"/>
            <a:ext cx="2560320" cy="2194560"/>
          </a:xfrm>
          <a:prstGeom prst="roundRect">
            <a:avLst/>
          </a:prstGeom>
          <a:solidFill>
            <a:srgbClr val="111827"/>
          </a:solidFill>
          <a:ln w="12700">
            <a:solidFill>
              <a:srgbClr val="1F29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48640" y="4160520"/>
            <a:ext cx="2560320" cy="4572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270248"/>
            <a:ext cx="2286000" cy="1975104"/>
          </a:xfrm>
          <a:prstGeom prst="rect">
            <a:avLst/>
          </a:prstGeom>
          <a:noFill/>
        </p:spPr>
        <p:txBody>
          <a:bodyPr wrap="square">
            <a:spAutoFit/>
          </a:bodyPr>
          <a:lstStyle/>
          <a:p>
            <a:pPr>
              <a:defRPr sz="750" b="1">
                <a:solidFill>
                  <a:srgbClr val="38BDF8"/>
                </a:solidFill>
              </a:defRPr>
            </a:pPr>
            <a:r>
              <a:t>GEOSPATIAL INGESTION</a:t>
            </a:r>
          </a:p>
          <a:p>
            <a:pPr>
              <a:spcBef>
                <a:spcPts val="300"/>
              </a:spcBef>
              <a:defRPr sz="1100" b="1">
                <a:solidFill>
                  <a:srgbClr val="F3F4F6"/>
                </a:solidFill>
              </a:defRPr>
            </a:pPr>
            <a:r>
              <a:t>NCES + OpenStreetMap</a:t>
            </a:r>
          </a:p>
          <a:p>
            <a:pPr>
              <a:spcBef>
                <a:spcPts val="600"/>
              </a:spcBef>
              <a:defRPr sz="900">
                <a:solidFill>
                  <a:srgbClr val="9CA3AF"/>
                </a:solidFill>
              </a:defRPr>
            </a:pPr>
            <a:r>
              <a:t>Automated vector extraction with metric UTM CRS reprojection to eliminate spherical distortion.</a:t>
            </a:r>
          </a:p>
        </p:txBody>
      </p:sp>
      <p:sp>
        <p:nvSpPr>
          <p:cNvPr id="13" name="Rounded Rectangle 12"/>
          <p:cNvSpPr/>
          <p:nvPr/>
        </p:nvSpPr>
        <p:spPr>
          <a:xfrm>
            <a:off x="3383280" y="4160520"/>
            <a:ext cx="2560320" cy="2194560"/>
          </a:xfrm>
          <a:prstGeom prst="roundRect">
            <a:avLst/>
          </a:prstGeom>
          <a:solidFill>
            <a:srgbClr val="111827"/>
          </a:solidFill>
          <a:ln w="12700">
            <a:solidFill>
              <a:srgbClr val="1F29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383280" y="4160520"/>
            <a:ext cx="2560320" cy="4572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20440" y="4270248"/>
            <a:ext cx="2286000" cy="1975104"/>
          </a:xfrm>
          <a:prstGeom prst="rect">
            <a:avLst/>
          </a:prstGeom>
          <a:noFill/>
        </p:spPr>
        <p:txBody>
          <a:bodyPr wrap="square">
            <a:spAutoFit/>
          </a:bodyPr>
          <a:lstStyle/>
          <a:p>
            <a:pPr>
              <a:defRPr sz="750" b="1">
                <a:solidFill>
                  <a:srgbClr val="38BDF8"/>
                </a:solidFill>
              </a:defRPr>
            </a:pPr>
            <a:r>
              <a:t>PHYSICAL SIMULATION</a:t>
            </a:r>
          </a:p>
          <a:p>
            <a:pPr>
              <a:spcBef>
                <a:spcPts val="300"/>
              </a:spcBef>
              <a:defRPr sz="1100" b="1">
                <a:solidFill>
                  <a:srgbClr val="F3F4F6"/>
                </a:solidFill>
              </a:defRPr>
            </a:pPr>
            <a:r>
              <a:t>DOE / NREL PVWatts v8</a:t>
            </a:r>
          </a:p>
          <a:p>
            <a:pPr>
              <a:spcBef>
                <a:spcPts val="600"/>
              </a:spcBef>
              <a:defRPr sz="900">
                <a:solidFill>
                  <a:srgbClr val="9CA3AF"/>
                </a:solidFill>
              </a:defRPr>
            </a:pPr>
            <a:r>
              <a:t>Live REST queries to NSRDB solar radiation grid with a 14.0% aggregate loss derate waterfall.</a:t>
            </a:r>
          </a:p>
        </p:txBody>
      </p:sp>
      <p:sp>
        <p:nvSpPr>
          <p:cNvPr id="16" name="Rounded Rectangle 15"/>
          <p:cNvSpPr/>
          <p:nvPr/>
        </p:nvSpPr>
        <p:spPr>
          <a:xfrm>
            <a:off x="6217920" y="4160520"/>
            <a:ext cx="2560320" cy="2194560"/>
          </a:xfrm>
          <a:prstGeom prst="roundRect">
            <a:avLst/>
          </a:prstGeom>
          <a:solidFill>
            <a:srgbClr val="111827"/>
          </a:solidFill>
          <a:ln w="12700">
            <a:solidFill>
              <a:srgbClr val="1F29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17920" y="4160520"/>
            <a:ext cx="2560320" cy="45720"/>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55080" y="4270248"/>
            <a:ext cx="2286000" cy="1975104"/>
          </a:xfrm>
          <a:prstGeom prst="rect">
            <a:avLst/>
          </a:prstGeom>
          <a:noFill/>
        </p:spPr>
        <p:txBody>
          <a:bodyPr wrap="square">
            <a:spAutoFit/>
          </a:bodyPr>
          <a:lstStyle/>
          <a:p>
            <a:pPr>
              <a:defRPr sz="750" b="1">
                <a:solidFill>
                  <a:srgbClr val="10B981"/>
                </a:solidFill>
              </a:defRPr>
            </a:pPr>
            <a:r>
              <a:t>STATUTORY CAPITAL MODEL</a:t>
            </a:r>
          </a:p>
          <a:p>
            <a:pPr>
              <a:spcBef>
                <a:spcPts val="300"/>
              </a:spcBef>
              <a:defRPr sz="1100" b="1">
                <a:solidFill>
                  <a:srgbClr val="F3F4F6"/>
                </a:solidFill>
              </a:defRPr>
            </a:pPr>
            <a:r>
              <a:t>IRA Section 6417 Direct Pay</a:t>
            </a:r>
          </a:p>
          <a:p>
            <a:pPr>
              <a:spcBef>
                <a:spcPts val="600"/>
              </a:spcBef>
              <a:defRPr sz="900">
                <a:solidFill>
                  <a:srgbClr val="9CA3AF"/>
                </a:solidFill>
              </a:defRPr>
            </a:pPr>
            <a:r>
              <a:t>30% base + 10% Title I + 10% Energy Community uncapped direct cash reimbursement checks.</a:t>
            </a:r>
          </a:p>
        </p:txBody>
      </p:sp>
      <p:sp>
        <p:nvSpPr>
          <p:cNvPr id="19" name="Rounded Rectangle 18"/>
          <p:cNvSpPr/>
          <p:nvPr/>
        </p:nvSpPr>
        <p:spPr>
          <a:xfrm>
            <a:off x="9052560" y="4160520"/>
            <a:ext cx="2560320" cy="2194560"/>
          </a:xfrm>
          <a:prstGeom prst="roundRect">
            <a:avLst/>
          </a:prstGeom>
          <a:solidFill>
            <a:srgbClr val="111827"/>
          </a:solidFill>
          <a:ln w="12700">
            <a:solidFill>
              <a:srgbClr val="1F29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052560" y="4160520"/>
            <a:ext cx="2560320" cy="45720"/>
          </a:xfrm>
          <a:prstGeom prst="round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89720" y="4270248"/>
            <a:ext cx="2286000" cy="1975104"/>
          </a:xfrm>
          <a:prstGeom prst="rect">
            <a:avLst/>
          </a:prstGeom>
          <a:noFill/>
        </p:spPr>
        <p:txBody>
          <a:bodyPr wrap="square">
            <a:spAutoFit/>
          </a:bodyPr>
          <a:lstStyle/>
          <a:p>
            <a:pPr>
              <a:defRPr sz="750" b="1">
                <a:solidFill>
                  <a:srgbClr val="8C1515"/>
                </a:solidFill>
              </a:defRPr>
            </a:pPr>
            <a:r>
              <a:t>CIVIC GOVERNANCE</a:t>
            </a:r>
          </a:p>
          <a:p>
            <a:pPr>
              <a:spcBef>
                <a:spcPts val="300"/>
              </a:spcBef>
              <a:defRPr sz="1100" b="1">
                <a:solidFill>
                  <a:srgbClr val="F3F4F6"/>
                </a:solidFill>
              </a:defRPr>
            </a:pPr>
            <a:r>
              <a:t>1-Click Board Action Brief</a:t>
            </a:r>
          </a:p>
          <a:p>
            <a:pPr>
              <a:spcBef>
                <a:spcPts val="600"/>
              </a:spcBef>
              <a:defRPr sz="900">
                <a:solidFill>
                  <a:srgbClr val="9CA3AF"/>
                </a:solidFill>
              </a:defRPr>
            </a:pPr>
            <a:r>
              <a:t>Compiles executive engineering brief, Form 990-T filing guide, and turnkey School Board Resolution.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D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09728"/>
            <a:ext cx="2011680" cy="292608"/>
          </a:xfrm>
          <a:prstGeom prst="round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850" b="1">
                <a:solidFill>
                  <a:srgbClr val="FFFFFF"/>
                </a:solidFill>
              </a:defRPr>
            </a:pPr>
            <a:r>
              <a:t>STANFORD CLIMATE WEEK</a:t>
            </a:r>
          </a:p>
        </p:txBody>
      </p:sp>
      <p:sp>
        <p:nvSpPr>
          <p:cNvPr id="5" name="TextBox 4"/>
          <p:cNvSpPr txBox="1"/>
          <p:nvPr/>
        </p:nvSpPr>
        <p:spPr>
          <a:xfrm>
            <a:off x="2606040" y="73152"/>
            <a:ext cx="5943600" cy="365760"/>
          </a:xfrm>
          <a:prstGeom prst="rect">
            <a:avLst/>
          </a:prstGeom>
          <a:noFill/>
        </p:spPr>
        <p:txBody>
          <a:bodyPr wrap="none">
            <a:spAutoFit/>
          </a:bodyPr>
          <a:lstStyle/>
          <a:p>
            <a:pPr>
              <a:defRPr sz="950">
                <a:solidFill>
                  <a:srgbClr val="9CA3AF"/>
                </a:solidFill>
              </a:defRPr>
            </a:pPr>
            <a:r>
              <a:t>SVYCA Youth For Earth Hackathon | Systems Architecture &amp; Climate Finance</a:t>
            </a:r>
          </a:p>
        </p:txBody>
      </p:sp>
      <p:sp>
        <p:nvSpPr>
          <p:cNvPr id="6" name="TextBox 5"/>
          <p:cNvSpPr txBox="1"/>
          <p:nvPr/>
        </p:nvSpPr>
        <p:spPr>
          <a:xfrm>
            <a:off x="10241280" y="73152"/>
            <a:ext cx="1463040" cy="365760"/>
          </a:xfrm>
          <a:prstGeom prst="rect">
            <a:avLst/>
          </a:prstGeom>
          <a:noFill/>
        </p:spPr>
        <p:txBody>
          <a:bodyPr wrap="none">
            <a:spAutoFit/>
          </a:bodyPr>
          <a:lstStyle/>
          <a:p>
            <a:pPr algn="r">
              <a:defRPr sz="1000" b="1">
                <a:solidFill>
                  <a:srgbClr val="38BDF8"/>
                </a:solidFill>
              </a:defRPr>
            </a:pPr>
            <a:r>
              <a:t>02 / 10</a:t>
            </a:r>
          </a:p>
        </p:txBody>
      </p:sp>
      <p:sp>
        <p:nvSpPr>
          <p:cNvPr id="7" name="Rectangle 6"/>
          <p:cNvSpPr/>
          <p:nvPr/>
        </p:nvSpPr>
        <p:spPr>
          <a:xfrm>
            <a:off x="0" y="493776"/>
            <a:ext cx="2438339" cy="2743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21792"/>
            <a:ext cx="11091672" cy="1005840"/>
          </a:xfrm>
          <a:prstGeom prst="rect">
            <a:avLst/>
          </a:prstGeom>
          <a:noFill/>
        </p:spPr>
        <p:txBody>
          <a:bodyPr wrap="square" lIns="0" tIns="0" rIns="0" bIns="0">
            <a:spAutoFit/>
          </a:bodyPr>
          <a:lstStyle/>
          <a:p>
            <a:pPr>
              <a:defRPr sz="900" b="1">
                <a:solidFill>
                  <a:srgbClr val="38BDF8"/>
                </a:solidFill>
              </a:defRPr>
            </a:pPr>
            <a:r>
              <a:t>PROBLEM FORMULATION</a:t>
            </a:r>
          </a:p>
          <a:p>
            <a:pPr>
              <a:spcBef>
                <a:spcPts val="200"/>
              </a:spcBef>
              <a:defRPr sz="2100" b="1">
                <a:solidFill>
                  <a:srgbClr val="F3F4F6"/>
                </a:solidFill>
              </a:defRPr>
            </a:pPr>
            <a:r>
              <a:t>Spatial Inefficiency &amp; The $8B Utility Drain</a:t>
            </a:r>
          </a:p>
          <a:p>
            <a:pPr>
              <a:spcBef>
                <a:spcPts val="300"/>
              </a:spcBef>
              <a:defRPr sz="1100">
                <a:solidFill>
                  <a:srgbClr val="9CA3AF"/>
                </a:solidFill>
              </a:defRPr>
            </a:pPr>
            <a:r>
              <a:t>Thermodynamic microclimate heat islands and institutional capital barriers trap 100,000+ public schools.</a:t>
            </a:r>
          </a:p>
        </p:txBody>
      </p:sp>
      <p:sp>
        <p:nvSpPr>
          <p:cNvPr id="9" name="Rounded Rectangle 8"/>
          <p:cNvSpPr/>
          <p:nvPr/>
        </p:nvSpPr>
        <p:spPr>
          <a:xfrm>
            <a:off x="548640" y="1737360"/>
            <a:ext cx="3474720" cy="4663440"/>
          </a:xfrm>
          <a:prstGeom prst="roundRect">
            <a:avLst/>
          </a:prstGeom>
          <a:solidFill>
            <a:srgbClr val="111827"/>
          </a:solidFill>
          <a:ln w="12700">
            <a:solidFill>
              <a:srgbClr val="1F29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1737360"/>
            <a:ext cx="3474720" cy="45720"/>
          </a:xfrm>
          <a:prstGeom prst="round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874519"/>
            <a:ext cx="3108960" cy="4297680"/>
          </a:xfrm>
          <a:prstGeom prst="rect">
            <a:avLst/>
          </a:prstGeom>
          <a:noFill/>
        </p:spPr>
        <p:txBody>
          <a:bodyPr wrap="square">
            <a:spAutoFit/>
          </a:bodyPr>
          <a:lstStyle/>
          <a:p>
            <a:pPr>
              <a:defRPr sz="3000" b="1">
                <a:solidFill>
                  <a:srgbClr val="EF4444"/>
                </a:solidFill>
              </a:defRPr>
            </a:pPr>
            <a:r>
              <a:t>$8.0B / yr</a:t>
            </a:r>
          </a:p>
          <a:p>
            <a:pPr>
              <a:spcBef>
                <a:spcPts val="200"/>
              </a:spcBef>
              <a:defRPr sz="800" b="1">
                <a:solidFill>
                  <a:srgbClr val="6B7280"/>
                </a:solidFill>
              </a:defRPr>
            </a:pPr>
            <a:r>
              <a:t>EIA MACROECONOMIC UTILITY DRAIN</a:t>
            </a:r>
          </a:p>
          <a:p>
            <a:pPr>
              <a:spcBef>
                <a:spcPts val="1200"/>
              </a:spcBef>
              <a:defRPr sz="1000">
                <a:solidFill>
                  <a:srgbClr val="9CA3AF"/>
                </a:solidFill>
              </a:defRPr>
            </a:pPr>
            <a:r>
              <a:t>According to U.S. EIA commercial data, electricity is public K-12 districts' second-largest operating cost after instructional staff salaries.</a:t>
            </a:r>
            <a:br/>
            <a:br/>
            <a:r>
              <a:t>School boards surrender operating revenue to retail monopolies (e.g. PG&amp;E Schedule B-19 at $0.345/kWh).</a:t>
            </a:r>
          </a:p>
        </p:txBody>
      </p:sp>
      <p:sp>
        <p:nvSpPr>
          <p:cNvPr id="12" name="Rounded Rectangle 11"/>
          <p:cNvSpPr/>
          <p:nvPr/>
        </p:nvSpPr>
        <p:spPr>
          <a:xfrm>
            <a:off x="4358030" y="1737360"/>
            <a:ext cx="3474720" cy="4663440"/>
          </a:xfrm>
          <a:prstGeom prst="roundRect">
            <a:avLst/>
          </a:prstGeom>
          <a:solidFill>
            <a:srgbClr val="111827"/>
          </a:solidFill>
          <a:ln w="12700">
            <a:solidFill>
              <a:srgbClr val="1F29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58030" y="1737360"/>
            <a:ext cx="3474720" cy="45720"/>
          </a:xfrm>
          <a:prstGeom prst="round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0910" y="1874519"/>
            <a:ext cx="3108960" cy="4297680"/>
          </a:xfrm>
          <a:prstGeom prst="rect">
            <a:avLst/>
          </a:prstGeom>
          <a:noFill/>
        </p:spPr>
        <p:txBody>
          <a:bodyPr wrap="square">
            <a:spAutoFit/>
          </a:bodyPr>
          <a:lstStyle/>
          <a:p>
            <a:pPr>
              <a:defRPr sz="3000" b="1">
                <a:solidFill>
                  <a:srgbClr val="EF4444"/>
                </a:solidFill>
              </a:defRPr>
            </a:pPr>
            <a:r>
              <a:t>+35 to 45°F</a:t>
            </a:r>
          </a:p>
          <a:p>
            <a:pPr>
              <a:spcBef>
                <a:spcPts val="200"/>
              </a:spcBef>
              <a:defRPr sz="800" b="1">
                <a:solidFill>
                  <a:srgbClr val="6B7280"/>
                </a:solidFill>
              </a:defRPr>
            </a:pPr>
            <a:r>
              <a:t>ASPHALT ALBEDO DEGRADATION</a:t>
            </a:r>
          </a:p>
          <a:p>
            <a:pPr>
              <a:spcBef>
                <a:spcPts val="1200"/>
              </a:spcBef>
              <a:defRPr sz="1000">
                <a:solidFill>
                  <a:srgbClr val="9CA3AF"/>
                </a:solidFill>
              </a:defRPr>
            </a:pPr>
            <a:r>
              <a:t>Unshaded asphalt has a solar reflectance albedo of alpha ≈ 0.05–0.10, absorbing direct beam irradiance and elevating pavement temperatures to 145°F.</a:t>
            </a:r>
            <a:br/>
            <a:br/>
            <a:r>
              <a:t>Idle parking lots act as massive thermal heat sinks across campus microclimates instead of generating clean localized power.</a:t>
            </a:r>
          </a:p>
        </p:txBody>
      </p:sp>
      <p:sp>
        <p:nvSpPr>
          <p:cNvPr id="15" name="Rounded Rectangle 14"/>
          <p:cNvSpPr/>
          <p:nvPr/>
        </p:nvSpPr>
        <p:spPr>
          <a:xfrm>
            <a:off x="8168335" y="1737360"/>
            <a:ext cx="3474720" cy="4663440"/>
          </a:xfrm>
          <a:prstGeom prst="roundRect">
            <a:avLst/>
          </a:prstGeom>
          <a:solidFill>
            <a:srgbClr val="111827"/>
          </a:solidFill>
          <a:ln w="12700">
            <a:solidFill>
              <a:srgbClr val="1F29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168335" y="1737360"/>
            <a:ext cx="3474720" cy="45720"/>
          </a:xfrm>
          <a:prstGeom prst="round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51215" y="1874519"/>
            <a:ext cx="3108960" cy="4297680"/>
          </a:xfrm>
          <a:prstGeom prst="rect">
            <a:avLst/>
          </a:prstGeom>
          <a:noFill/>
        </p:spPr>
        <p:txBody>
          <a:bodyPr wrap="square">
            <a:spAutoFit/>
          </a:bodyPr>
          <a:lstStyle/>
          <a:p>
            <a:pPr>
              <a:defRPr sz="3000" b="1">
                <a:solidFill>
                  <a:srgbClr val="EF4444"/>
                </a:solidFill>
              </a:defRPr>
            </a:pPr>
            <a:r>
              <a:t>IRC § 48</a:t>
            </a:r>
          </a:p>
          <a:p>
            <a:pPr>
              <a:spcBef>
                <a:spcPts val="200"/>
              </a:spcBef>
              <a:defRPr sz="800" b="1">
                <a:solidFill>
                  <a:srgbClr val="6B7280"/>
                </a:solidFill>
              </a:defRPr>
            </a:pPr>
            <a:r>
              <a:t>PRE-2022 TAX-EXEMPT BARRIER</a:t>
            </a:r>
          </a:p>
          <a:p>
            <a:pPr>
              <a:spcBef>
                <a:spcPts val="1200"/>
              </a:spcBef>
              <a:defRPr sz="1000">
                <a:solidFill>
                  <a:srgbClr val="9CA3AF"/>
                </a:solidFill>
              </a:defRPr>
            </a:pPr>
            <a:r>
              <a:t>Because school districts are tax-exempt, they could not utilize federal solar tax credits without predatory third-party tax-equity flip leases.</a:t>
            </a:r>
            <a:br/>
            <a:br/>
            <a:r>
              <a:t>Private solar engineering consultants charge $15,000 to $25,000 per feasibility assessment, pricing out suburban, rural, and Title I schools.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D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09728"/>
            <a:ext cx="2011680" cy="292608"/>
          </a:xfrm>
          <a:prstGeom prst="round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850" b="1">
                <a:solidFill>
                  <a:srgbClr val="FFFFFF"/>
                </a:solidFill>
              </a:defRPr>
            </a:pPr>
            <a:r>
              <a:t>STANFORD CLIMATE WEEK</a:t>
            </a:r>
          </a:p>
        </p:txBody>
      </p:sp>
      <p:sp>
        <p:nvSpPr>
          <p:cNvPr id="5" name="TextBox 4"/>
          <p:cNvSpPr txBox="1"/>
          <p:nvPr/>
        </p:nvSpPr>
        <p:spPr>
          <a:xfrm>
            <a:off x="2606040" y="73152"/>
            <a:ext cx="5943600" cy="365760"/>
          </a:xfrm>
          <a:prstGeom prst="rect">
            <a:avLst/>
          </a:prstGeom>
          <a:noFill/>
        </p:spPr>
        <p:txBody>
          <a:bodyPr wrap="none">
            <a:spAutoFit/>
          </a:bodyPr>
          <a:lstStyle/>
          <a:p>
            <a:pPr>
              <a:defRPr sz="950">
                <a:solidFill>
                  <a:srgbClr val="9CA3AF"/>
                </a:solidFill>
              </a:defRPr>
            </a:pPr>
            <a:r>
              <a:t>SVYCA Youth For Earth Hackathon | Systems Architecture &amp; Climate Finance</a:t>
            </a:r>
          </a:p>
        </p:txBody>
      </p:sp>
      <p:sp>
        <p:nvSpPr>
          <p:cNvPr id="6" name="TextBox 5"/>
          <p:cNvSpPr txBox="1"/>
          <p:nvPr/>
        </p:nvSpPr>
        <p:spPr>
          <a:xfrm>
            <a:off x="10241280" y="73152"/>
            <a:ext cx="1463040" cy="365760"/>
          </a:xfrm>
          <a:prstGeom prst="rect">
            <a:avLst/>
          </a:prstGeom>
          <a:noFill/>
        </p:spPr>
        <p:txBody>
          <a:bodyPr wrap="none">
            <a:spAutoFit/>
          </a:bodyPr>
          <a:lstStyle/>
          <a:p>
            <a:pPr algn="r">
              <a:defRPr sz="1000" b="1">
                <a:solidFill>
                  <a:srgbClr val="38BDF8"/>
                </a:solidFill>
              </a:defRPr>
            </a:pPr>
            <a:r>
              <a:t>03 / 10</a:t>
            </a:r>
          </a:p>
        </p:txBody>
      </p:sp>
      <p:sp>
        <p:nvSpPr>
          <p:cNvPr id="7" name="Rectangle 6"/>
          <p:cNvSpPr/>
          <p:nvPr/>
        </p:nvSpPr>
        <p:spPr>
          <a:xfrm>
            <a:off x="0" y="493776"/>
            <a:ext cx="3657508" cy="2743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21792"/>
            <a:ext cx="11091672" cy="1005840"/>
          </a:xfrm>
          <a:prstGeom prst="rect">
            <a:avLst/>
          </a:prstGeom>
          <a:noFill/>
        </p:spPr>
        <p:txBody>
          <a:bodyPr wrap="square" lIns="0" tIns="0" rIns="0" bIns="0">
            <a:spAutoFit/>
          </a:bodyPr>
          <a:lstStyle/>
          <a:p>
            <a:pPr>
              <a:defRPr sz="900" b="1">
                <a:solidFill>
                  <a:srgbClr val="38BDF8"/>
                </a:solidFill>
              </a:defRPr>
            </a:pPr>
            <a:r>
              <a:t>STATUTORY CLEAN ENERGY POLICY</a:t>
            </a:r>
          </a:p>
          <a:p>
            <a:pPr>
              <a:spcBef>
                <a:spcPts val="200"/>
              </a:spcBef>
              <a:defRPr sz="2100" b="1">
                <a:solidFill>
                  <a:srgbClr val="F3F4F6"/>
                </a:solidFill>
              </a:defRPr>
            </a:pPr>
            <a:r>
              <a:t>The Legal Game-Changer: 26 U.S.C. Section 6417</a:t>
            </a:r>
          </a:p>
          <a:p>
            <a:pPr>
              <a:spcBef>
                <a:spcPts val="300"/>
              </a:spcBef>
              <a:defRPr sz="1100">
                <a:solidFill>
                  <a:srgbClr val="9CA3AF"/>
                </a:solidFill>
              </a:defRPr>
            </a:pPr>
            <a:r>
              <a:t>Internal Revenue Code Elective Pay allows tax-exempt school districts to receive direct cash reimbursement checks.</a:t>
            </a:r>
          </a:p>
        </p:txBody>
      </p:sp>
      <p:sp>
        <p:nvSpPr>
          <p:cNvPr id="9" name="Rounded Rectangle 8"/>
          <p:cNvSpPr/>
          <p:nvPr/>
        </p:nvSpPr>
        <p:spPr>
          <a:xfrm>
            <a:off x="548640" y="1737360"/>
            <a:ext cx="5303520" cy="4663440"/>
          </a:xfrm>
          <a:prstGeom prst="roundRect">
            <a:avLst/>
          </a:prstGeom>
          <a:solidFill>
            <a:srgbClr val="111827"/>
          </a:solidFill>
          <a:ln w="12700">
            <a:solidFill>
              <a:srgbClr val="1F29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1737360"/>
            <a:ext cx="5303520" cy="45720"/>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874519"/>
            <a:ext cx="4937760" cy="4389120"/>
          </a:xfrm>
          <a:prstGeom prst="rect">
            <a:avLst/>
          </a:prstGeom>
          <a:noFill/>
        </p:spPr>
        <p:txBody>
          <a:bodyPr wrap="square">
            <a:spAutoFit/>
          </a:bodyPr>
          <a:lstStyle/>
          <a:p>
            <a:pPr>
              <a:defRPr sz="1100" b="1">
                <a:solidFill>
                  <a:srgbClr val="10B981"/>
                </a:solidFill>
              </a:defRPr>
            </a:pPr>
            <a:r>
              <a:t>TREASURY DECISION 9988 STATUTORY MECHANICS</a:t>
            </a:r>
          </a:p>
          <a:p>
            <a:pPr>
              <a:spcBef>
                <a:spcPts val="600"/>
              </a:spcBef>
              <a:defRPr sz="950">
                <a:solidFill>
                  <a:srgbClr val="9CA3AF"/>
                </a:solidFill>
              </a:defRPr>
            </a:pPr>
            <a:r>
              <a:t>Finalized by the IRS in March 2024, TD 9988 establishes the administrative procedures for tax-exempt political subdivisions:</a:t>
            </a:r>
          </a:p>
        </p:txBody>
      </p:sp>
      <p:sp>
        <p:nvSpPr>
          <p:cNvPr id="12" name="Rounded Rectangle 11"/>
          <p:cNvSpPr/>
          <p:nvPr/>
        </p:nvSpPr>
        <p:spPr>
          <a:xfrm>
            <a:off x="731520" y="2743200"/>
            <a:ext cx="4937760" cy="731520"/>
          </a:xfrm>
          <a:prstGeom prst="roundRect">
            <a:avLst/>
          </a:prstGeom>
          <a:solidFill>
            <a:srgbClr val="0B1120"/>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31520" y="2743200"/>
            <a:ext cx="45720" cy="73152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 y="2798064"/>
            <a:ext cx="4718304" cy="621792"/>
          </a:xfrm>
          <a:prstGeom prst="rect">
            <a:avLst/>
          </a:prstGeom>
          <a:noFill/>
        </p:spPr>
        <p:txBody>
          <a:bodyPr wrap="square">
            <a:spAutoFit/>
          </a:bodyPr>
          <a:lstStyle/>
          <a:p>
            <a:pPr>
              <a:defRPr sz="950" b="1">
                <a:solidFill>
                  <a:srgbClr val="E0F2FE"/>
                </a:solidFill>
              </a:defRPr>
            </a:pPr>
            <a:r>
              <a:t>C_net = C_turnkey - (C_turnkey * R_IRA)</a:t>
            </a:r>
          </a:p>
          <a:p>
            <a:pPr>
              <a:spcBef>
                <a:spcPts val="200"/>
              </a:spcBef>
              <a:defRPr sz="800">
                <a:solidFill>
                  <a:srgbClr val="9CA3AF"/>
                </a:solidFill>
              </a:defRPr>
            </a:pPr>
            <a:r>
              <a:t>Where R_IRA is the statutory additive direct cash reimbursement rate (30% to 50%).</a:t>
            </a:r>
          </a:p>
        </p:txBody>
      </p:sp>
      <p:sp>
        <p:nvSpPr>
          <p:cNvPr id="15" name="TextBox 14"/>
          <p:cNvSpPr txBox="1"/>
          <p:nvPr/>
        </p:nvSpPr>
        <p:spPr>
          <a:xfrm>
            <a:off x="731520" y="3566160"/>
            <a:ext cx="4937760" cy="2651760"/>
          </a:xfrm>
          <a:prstGeom prst="rect">
            <a:avLst/>
          </a:prstGeom>
          <a:noFill/>
        </p:spPr>
        <p:txBody>
          <a:bodyPr wrap="square">
            <a:spAutoFit/>
          </a:bodyPr>
          <a:lstStyle/>
          <a:p>
            <a:pPr>
              <a:spcBef>
                <a:spcPts val="0"/>
              </a:spcBef>
              <a:defRPr sz="900" b="1">
                <a:solidFill>
                  <a:srgbClr val="F3F4F6"/>
                </a:solidFill>
              </a:defRPr>
            </a:pPr>
            <a:r>
              <a:t>1. Pre-Filing Registration (Treas. Reg. § 1.6417-5):</a:t>
            </a:r>
          </a:p>
          <a:p>
            <a:pPr>
              <a:defRPr sz="850">
                <a:solidFill>
                  <a:srgbClr val="9CA3AF"/>
                </a:solidFill>
              </a:defRPr>
            </a:pPr>
            <a:r>
              <a:t>District registers planned solar canopy on IRS portal to obtain a registration number.</a:t>
            </a:r>
          </a:p>
          <a:p>
            <a:pPr>
              <a:spcBef>
                <a:spcPts val="600"/>
              </a:spcBef>
              <a:defRPr sz="900" b="1">
                <a:solidFill>
                  <a:srgbClr val="F3F4F6"/>
                </a:solidFill>
              </a:defRPr>
            </a:pPr>
            <a:r>
              <a:t>2. Informational Return (26 U.S.C. § 6417(a)):</a:t>
            </a:r>
          </a:p>
          <a:p>
            <a:pPr>
              <a:defRPr sz="850">
                <a:solidFill>
                  <a:srgbClr val="9CA3AF"/>
                </a:solidFill>
              </a:defRPr>
            </a:pPr>
            <a:r>
              <a:t>District files annual Form 990-T with Form 3468 attached reporting verified capex.</a:t>
            </a:r>
          </a:p>
          <a:p>
            <a:pPr>
              <a:spcBef>
                <a:spcPts val="600"/>
              </a:spcBef>
              <a:defRPr sz="900" b="1">
                <a:solidFill>
                  <a:srgbClr val="F3F4F6"/>
                </a:solidFill>
              </a:defRPr>
            </a:pPr>
            <a:r>
              <a:t>3. Direct Check Liquidation (26 U.S.C. § 6417(b)):</a:t>
            </a:r>
          </a:p>
          <a:p>
            <a:pPr>
              <a:defRPr sz="850">
                <a:solidFill>
                  <a:srgbClr val="9CA3AF"/>
                </a:solidFill>
              </a:defRPr>
            </a:pPr>
            <a:r>
              <a:t>U.S. Treasury issues direct electronic deposit or physical check covering 30% to 50% of cost.</a:t>
            </a:r>
          </a:p>
        </p:txBody>
      </p:sp>
      <p:sp>
        <p:nvSpPr>
          <p:cNvPr id="16" name="Rounded Rectangle 15"/>
          <p:cNvSpPr/>
          <p:nvPr/>
        </p:nvSpPr>
        <p:spPr>
          <a:xfrm>
            <a:off x="6217920" y="1737360"/>
            <a:ext cx="5425135" cy="4663440"/>
          </a:xfrm>
          <a:prstGeom prst="roundRect">
            <a:avLst/>
          </a:prstGeom>
          <a:solidFill>
            <a:srgbClr val="111827"/>
          </a:solidFill>
          <a:ln w="12700">
            <a:solidFill>
              <a:srgbClr val="1F29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17920" y="1737360"/>
            <a:ext cx="5425135" cy="4572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1874519"/>
            <a:ext cx="4937760" cy="4389120"/>
          </a:xfrm>
          <a:prstGeom prst="rect">
            <a:avLst/>
          </a:prstGeom>
          <a:noFill/>
        </p:spPr>
        <p:txBody>
          <a:bodyPr wrap="square">
            <a:spAutoFit/>
          </a:bodyPr>
          <a:lstStyle/>
          <a:p>
            <a:pPr>
              <a:defRPr sz="1100" b="1">
                <a:solidFill>
                  <a:srgbClr val="38BDF8"/>
                </a:solidFill>
              </a:defRPr>
            </a:pPr>
            <a:r>
              <a:t>STATUTORY ADDITIVE BONUS STACK</a:t>
            </a:r>
          </a:p>
          <a:p>
            <a:pPr>
              <a:spcBef>
                <a:spcPts val="800"/>
              </a:spcBef>
              <a:defRPr sz="950" b="1">
                <a:solidFill>
                  <a:srgbClr val="10B981"/>
                </a:solidFill>
              </a:defRPr>
            </a:pPr>
            <a:r>
              <a:t>Base Direct Pay Rate: 30.0% Cash Check</a:t>
            </a:r>
          </a:p>
          <a:p>
            <a:pPr>
              <a:spcBef>
                <a:spcPts val="100"/>
              </a:spcBef>
              <a:defRPr sz="850">
                <a:solidFill>
                  <a:srgbClr val="9CA3AF"/>
                </a:solidFill>
              </a:defRPr>
            </a:pPr>
            <a:r>
              <a:t>Requires compliance with prevailing wage &amp; registered apprenticeship standards (26 U.S.C. § 45(b)(8)).</a:t>
            </a:r>
          </a:p>
          <a:p>
            <a:pPr>
              <a:spcBef>
                <a:spcPts val="800"/>
              </a:spcBef>
              <a:defRPr sz="950" b="1">
                <a:solidFill>
                  <a:srgbClr val="38BDF8"/>
                </a:solidFill>
              </a:defRPr>
            </a:pPr>
            <a:r>
              <a:t>Domestic Content Adder: +10.0% Cash Check</a:t>
            </a:r>
          </a:p>
          <a:p>
            <a:pPr>
              <a:spcBef>
                <a:spcPts val="100"/>
              </a:spcBef>
              <a:defRPr sz="850">
                <a:solidFill>
                  <a:srgbClr val="9CA3AF"/>
                </a:solidFill>
              </a:defRPr>
            </a:pPr>
            <a:r>
              <a:t>Requires 100% US structural steel and certified domestic components (26 U.S.C. § 45(b)(9)).</a:t>
            </a:r>
          </a:p>
          <a:p>
            <a:pPr>
              <a:spcBef>
                <a:spcPts val="800"/>
              </a:spcBef>
              <a:defRPr sz="950" b="1">
                <a:solidFill>
                  <a:srgbClr val="10B981"/>
                </a:solidFill>
              </a:defRPr>
            </a:pPr>
            <a:r>
              <a:t>Title I Low-Income Adder: +10.0% Cash Check</a:t>
            </a:r>
          </a:p>
          <a:p>
            <a:pPr>
              <a:spcBef>
                <a:spcPts val="100"/>
              </a:spcBef>
              <a:defRPr sz="850">
                <a:solidFill>
                  <a:srgbClr val="9CA3AF"/>
                </a:solidFill>
              </a:defRPr>
            </a:pPr>
            <a:r>
              <a:t>Applies to schools serving &gt;= 40% low-income student populations (26 U.S.C. § 48(e)).</a:t>
            </a:r>
          </a:p>
          <a:p>
            <a:pPr>
              <a:spcBef>
                <a:spcPts val="800"/>
              </a:spcBef>
              <a:defRPr sz="950" b="1">
                <a:solidFill>
                  <a:srgbClr val="38BDF8"/>
                </a:solidFill>
              </a:defRPr>
            </a:pPr>
            <a:r>
              <a:t>Energy Community Adder: +10.0% Cash Check</a:t>
            </a:r>
          </a:p>
          <a:p>
            <a:pPr>
              <a:spcBef>
                <a:spcPts val="100"/>
              </a:spcBef>
              <a:defRPr sz="850">
                <a:solidFill>
                  <a:srgbClr val="9CA3AF"/>
                </a:solidFill>
              </a:defRPr>
            </a:pPr>
            <a:r>
              <a:t>Census tracts with brownfields or historical coal mine/plant closures (26 U.S.C. § 48(a)(14)).</a:t>
            </a:r>
          </a:p>
          <a:p>
            <a:pPr>
              <a:spcBef>
                <a:spcPts val="800"/>
              </a:spcBef>
              <a:defRPr sz="950" b="1">
                <a:solidFill>
                  <a:srgbClr val="10B981"/>
                </a:solidFill>
              </a:defRPr>
            </a:pPr>
            <a:r>
              <a:t>Maximum Statutory Reimbursement: Up to 50% - 60%</a:t>
            </a:r>
          </a:p>
          <a:p>
            <a:pPr>
              <a:spcBef>
                <a:spcPts val="100"/>
              </a:spcBef>
              <a:defRPr sz="850">
                <a:solidFill>
                  <a:srgbClr val="9CA3AF"/>
                </a:solidFill>
              </a:defRPr>
            </a:pPr>
            <a:r>
              <a:t>Total federal cash check paid directly into the school district treasury.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D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09728"/>
            <a:ext cx="2011680" cy="292608"/>
          </a:xfrm>
          <a:prstGeom prst="round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850" b="1">
                <a:solidFill>
                  <a:srgbClr val="FFFFFF"/>
                </a:solidFill>
              </a:defRPr>
            </a:pPr>
            <a:r>
              <a:t>STANFORD CLIMATE WEEK</a:t>
            </a:r>
          </a:p>
        </p:txBody>
      </p:sp>
      <p:sp>
        <p:nvSpPr>
          <p:cNvPr id="5" name="TextBox 4"/>
          <p:cNvSpPr txBox="1"/>
          <p:nvPr/>
        </p:nvSpPr>
        <p:spPr>
          <a:xfrm>
            <a:off x="2606040" y="73152"/>
            <a:ext cx="5943600" cy="365760"/>
          </a:xfrm>
          <a:prstGeom prst="rect">
            <a:avLst/>
          </a:prstGeom>
          <a:noFill/>
        </p:spPr>
        <p:txBody>
          <a:bodyPr wrap="none">
            <a:spAutoFit/>
          </a:bodyPr>
          <a:lstStyle/>
          <a:p>
            <a:pPr>
              <a:defRPr sz="950">
                <a:solidFill>
                  <a:srgbClr val="9CA3AF"/>
                </a:solidFill>
              </a:defRPr>
            </a:pPr>
            <a:r>
              <a:t>SVYCA Youth For Earth Hackathon | Systems Architecture &amp; Climate Finance</a:t>
            </a:r>
          </a:p>
        </p:txBody>
      </p:sp>
      <p:sp>
        <p:nvSpPr>
          <p:cNvPr id="6" name="TextBox 5"/>
          <p:cNvSpPr txBox="1"/>
          <p:nvPr/>
        </p:nvSpPr>
        <p:spPr>
          <a:xfrm>
            <a:off x="10241280" y="73152"/>
            <a:ext cx="1463040" cy="365760"/>
          </a:xfrm>
          <a:prstGeom prst="rect">
            <a:avLst/>
          </a:prstGeom>
          <a:noFill/>
        </p:spPr>
        <p:txBody>
          <a:bodyPr wrap="none">
            <a:spAutoFit/>
          </a:bodyPr>
          <a:lstStyle/>
          <a:p>
            <a:pPr algn="r">
              <a:defRPr sz="1000" b="1">
                <a:solidFill>
                  <a:srgbClr val="38BDF8"/>
                </a:solidFill>
              </a:defRPr>
            </a:pPr>
            <a:r>
              <a:t>04 / 10</a:t>
            </a:r>
          </a:p>
        </p:txBody>
      </p:sp>
      <p:sp>
        <p:nvSpPr>
          <p:cNvPr id="7" name="Rectangle 6"/>
          <p:cNvSpPr/>
          <p:nvPr/>
        </p:nvSpPr>
        <p:spPr>
          <a:xfrm>
            <a:off x="0" y="493776"/>
            <a:ext cx="4876678" cy="2743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21792"/>
            <a:ext cx="11091672" cy="1005840"/>
          </a:xfrm>
          <a:prstGeom prst="rect">
            <a:avLst/>
          </a:prstGeom>
          <a:noFill/>
        </p:spPr>
        <p:txBody>
          <a:bodyPr wrap="square" lIns="0" tIns="0" rIns="0" bIns="0">
            <a:spAutoFit/>
          </a:bodyPr>
          <a:lstStyle/>
          <a:p>
            <a:pPr>
              <a:defRPr sz="900" b="1">
                <a:solidFill>
                  <a:srgbClr val="38BDF8"/>
                </a:solidFill>
              </a:defRPr>
            </a:pPr>
            <a:r>
              <a:t>SOFTWARE ENGINEERING &amp; DATAFLOW</a:t>
            </a:r>
          </a:p>
          <a:p>
            <a:pPr>
              <a:spcBef>
                <a:spcPts val="200"/>
              </a:spcBef>
              <a:defRPr sz="2100" b="1">
                <a:solidFill>
                  <a:srgbClr val="F3F4F6"/>
                </a:solidFill>
              </a:defRPr>
            </a:pPr>
            <a:r>
              <a:t>Autonomous 4-Tier Computational Pipeline</a:t>
            </a:r>
          </a:p>
          <a:p>
            <a:pPr>
              <a:spcBef>
                <a:spcPts val="300"/>
              </a:spcBef>
              <a:defRPr sz="1100">
                <a:solidFill>
                  <a:srgbClr val="9CA3AF"/>
                </a:solidFill>
              </a:defRPr>
            </a:pPr>
            <a:r>
              <a:t>Modularized data ingestion, physical simulation, dynamic discounted cashflow, and civic export in under 3.0s.</a:t>
            </a:r>
          </a:p>
        </p:txBody>
      </p:sp>
      <p:sp>
        <p:nvSpPr>
          <p:cNvPr id="9" name="Rounded Rectangle 8"/>
          <p:cNvSpPr/>
          <p:nvPr/>
        </p:nvSpPr>
        <p:spPr>
          <a:xfrm>
            <a:off x="548640" y="1737360"/>
            <a:ext cx="2560320" cy="3383280"/>
          </a:xfrm>
          <a:prstGeom prst="roundRect">
            <a:avLst/>
          </a:prstGeom>
          <a:solidFill>
            <a:srgbClr val="111827"/>
          </a:solidFill>
          <a:ln w="12700">
            <a:solidFill>
              <a:srgbClr val="1F29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1737360"/>
            <a:ext cx="2560320" cy="4572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847088"/>
            <a:ext cx="2286000" cy="3163824"/>
          </a:xfrm>
          <a:prstGeom prst="rect">
            <a:avLst/>
          </a:prstGeom>
          <a:noFill/>
        </p:spPr>
        <p:txBody>
          <a:bodyPr wrap="square">
            <a:spAutoFit/>
          </a:bodyPr>
          <a:lstStyle/>
          <a:p>
            <a:pPr>
              <a:defRPr sz="800" b="1">
                <a:solidFill>
                  <a:srgbClr val="38BDF8"/>
                </a:solidFill>
              </a:defRPr>
            </a:pPr>
            <a:r>
              <a:t>TIER 1: GEOSPATIAL GIS</a:t>
            </a:r>
          </a:p>
          <a:p>
            <a:pPr>
              <a:spcBef>
                <a:spcPts val="300"/>
              </a:spcBef>
              <a:defRPr sz="1200" b="1">
                <a:solidFill>
                  <a:srgbClr val="F3F4F6"/>
                </a:solidFill>
              </a:defRPr>
            </a:pPr>
            <a:r>
              <a:t>Vector Ingestion</a:t>
            </a:r>
          </a:p>
          <a:p>
            <a:pPr>
              <a:spcBef>
                <a:spcPts val="800"/>
              </a:spcBef>
              <a:defRPr sz="900">
                <a:solidFill>
                  <a:srgbClr val="9CA3AF"/>
                </a:solidFill>
              </a:defRPr>
            </a:pPr>
            <a:r>
              <a:t>NCES &amp; CDE directory lookups. Reprojects angular WGS 84 (EPSG:4326) coordinates into metric UTM zones (gdf.estimate_utm_crs()) to eliminate spherical area distortion.</a:t>
            </a:r>
          </a:p>
        </p:txBody>
      </p:sp>
      <p:sp>
        <p:nvSpPr>
          <p:cNvPr id="12" name="Rounded Rectangle 11"/>
          <p:cNvSpPr/>
          <p:nvPr/>
        </p:nvSpPr>
        <p:spPr>
          <a:xfrm>
            <a:off x="3383280" y="1737360"/>
            <a:ext cx="2560320" cy="3383280"/>
          </a:xfrm>
          <a:prstGeom prst="roundRect">
            <a:avLst/>
          </a:prstGeom>
          <a:solidFill>
            <a:srgbClr val="111827"/>
          </a:solidFill>
          <a:ln w="12700">
            <a:solidFill>
              <a:srgbClr val="1F29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383280" y="1737360"/>
            <a:ext cx="2560320" cy="4572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20440" y="1847088"/>
            <a:ext cx="2286000" cy="3163824"/>
          </a:xfrm>
          <a:prstGeom prst="rect">
            <a:avLst/>
          </a:prstGeom>
          <a:noFill/>
        </p:spPr>
        <p:txBody>
          <a:bodyPr wrap="square">
            <a:spAutoFit/>
          </a:bodyPr>
          <a:lstStyle/>
          <a:p>
            <a:pPr>
              <a:defRPr sz="800" b="1">
                <a:solidFill>
                  <a:srgbClr val="38BDF8"/>
                </a:solidFill>
              </a:defRPr>
            </a:pPr>
            <a:r>
              <a:t>TIER 2: PHYSICAL ENGINE</a:t>
            </a:r>
          </a:p>
          <a:p>
            <a:pPr>
              <a:spcBef>
                <a:spcPts val="300"/>
              </a:spcBef>
              <a:defRPr sz="1200" b="1">
                <a:solidFill>
                  <a:srgbClr val="F3F4F6"/>
                </a:solidFill>
              </a:defRPr>
            </a:pPr>
            <a:r>
              <a:t>NREL PVWatts v8</a:t>
            </a:r>
          </a:p>
          <a:p>
            <a:pPr>
              <a:spcBef>
                <a:spcPts val="800"/>
              </a:spcBef>
              <a:defRPr sz="900">
                <a:solidFill>
                  <a:srgbClr val="9CA3AF"/>
                </a:solidFill>
              </a:defRPr>
            </a:pPr>
            <a:r>
              <a:t>Executes live REST queries to NREL API endpoint. Ingests satellite hourly solar irradiance vectors (GHI, DNI, ambient temperature, wind speed from NSRDB).</a:t>
            </a:r>
          </a:p>
        </p:txBody>
      </p:sp>
      <p:sp>
        <p:nvSpPr>
          <p:cNvPr id="15" name="Rounded Rectangle 14"/>
          <p:cNvSpPr/>
          <p:nvPr/>
        </p:nvSpPr>
        <p:spPr>
          <a:xfrm>
            <a:off x="6217920" y="1737360"/>
            <a:ext cx="2560320" cy="3383280"/>
          </a:xfrm>
          <a:prstGeom prst="roundRect">
            <a:avLst/>
          </a:prstGeom>
          <a:solidFill>
            <a:srgbClr val="111827"/>
          </a:solidFill>
          <a:ln w="12700">
            <a:solidFill>
              <a:srgbClr val="1F29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0" y="1737360"/>
            <a:ext cx="2560320" cy="45720"/>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5080" y="1847088"/>
            <a:ext cx="2286000" cy="3163824"/>
          </a:xfrm>
          <a:prstGeom prst="rect">
            <a:avLst/>
          </a:prstGeom>
          <a:noFill/>
        </p:spPr>
        <p:txBody>
          <a:bodyPr wrap="square">
            <a:spAutoFit/>
          </a:bodyPr>
          <a:lstStyle/>
          <a:p>
            <a:pPr>
              <a:defRPr sz="800" b="1">
                <a:solidFill>
                  <a:srgbClr val="10B981"/>
                </a:solidFill>
              </a:defRPr>
            </a:pPr>
            <a:r>
              <a:t>TIER 3: FINANCIAL DCF</a:t>
            </a:r>
          </a:p>
          <a:p>
            <a:pPr>
              <a:spcBef>
                <a:spcPts val="300"/>
              </a:spcBef>
              <a:defRPr sz="1200" b="1">
                <a:solidFill>
                  <a:srgbClr val="F3F4F6"/>
                </a:solidFill>
              </a:defRPr>
            </a:pPr>
            <a:r>
              <a:t>25-Yr Lifecycle Model</a:t>
            </a:r>
          </a:p>
          <a:p>
            <a:pPr>
              <a:spcBef>
                <a:spcPts val="800"/>
              </a:spcBef>
              <a:defRPr sz="900">
                <a:solidFill>
                  <a:srgbClr val="9CA3AF"/>
                </a:solidFill>
              </a:defRPr>
            </a:pPr>
            <a:r>
              <a:t>Iterates 25-year discounted cashflow integrating 0.5%/yr degradation, 2.5%/yr tariff escalation, 2.0%/yr O&amp;M inflation, and Year 15 inverter reserves.</a:t>
            </a:r>
          </a:p>
        </p:txBody>
      </p:sp>
      <p:sp>
        <p:nvSpPr>
          <p:cNvPr id="18" name="Rounded Rectangle 17"/>
          <p:cNvSpPr/>
          <p:nvPr/>
        </p:nvSpPr>
        <p:spPr>
          <a:xfrm>
            <a:off x="9052560" y="1737360"/>
            <a:ext cx="2560320" cy="3383280"/>
          </a:xfrm>
          <a:prstGeom prst="roundRect">
            <a:avLst/>
          </a:prstGeom>
          <a:solidFill>
            <a:srgbClr val="111827"/>
          </a:solidFill>
          <a:ln w="12700">
            <a:solidFill>
              <a:srgbClr val="1F29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052560" y="1737360"/>
            <a:ext cx="2560320" cy="45720"/>
          </a:xfrm>
          <a:prstGeom prst="round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89720" y="1847088"/>
            <a:ext cx="2286000" cy="3163824"/>
          </a:xfrm>
          <a:prstGeom prst="rect">
            <a:avLst/>
          </a:prstGeom>
          <a:noFill/>
        </p:spPr>
        <p:txBody>
          <a:bodyPr wrap="square">
            <a:spAutoFit/>
          </a:bodyPr>
          <a:lstStyle/>
          <a:p>
            <a:pPr>
              <a:defRPr sz="800" b="1">
                <a:solidFill>
                  <a:srgbClr val="8C1515"/>
                </a:solidFill>
              </a:defRPr>
            </a:pPr>
            <a:r>
              <a:t>TIER 4: CIVIC EXPORT</a:t>
            </a:r>
          </a:p>
          <a:p>
            <a:pPr>
              <a:spcBef>
                <a:spcPts val="300"/>
              </a:spcBef>
              <a:defRPr sz="1200" b="1">
                <a:solidFill>
                  <a:srgbClr val="F3F4F6"/>
                </a:solidFill>
              </a:defRPr>
            </a:pPr>
            <a:r>
              <a:t>Action Brief Engine</a:t>
            </a:r>
          </a:p>
          <a:p>
            <a:pPr>
              <a:spcBef>
                <a:spcPts val="800"/>
              </a:spcBef>
              <a:defRPr sz="900">
                <a:solidFill>
                  <a:srgbClr val="9CA3AF"/>
                </a:solidFill>
              </a:defRPr>
            </a:pPr>
            <a:r>
              <a:t>Compiles board-ready Markdown/PDF brief with executive engineering specs, financial waterfall, and turnkey legal School Board Resolution text.</a:t>
            </a:r>
          </a:p>
        </p:txBody>
      </p:sp>
      <p:sp>
        <p:nvSpPr>
          <p:cNvPr id="21" name="Rounded Rectangle 20"/>
          <p:cNvSpPr/>
          <p:nvPr/>
        </p:nvSpPr>
        <p:spPr>
          <a:xfrm>
            <a:off x="548640" y="5303520"/>
            <a:ext cx="11094415" cy="1097280"/>
          </a:xfrm>
          <a:prstGeom prst="roundRect">
            <a:avLst/>
          </a:prstGeom>
          <a:solidFill>
            <a:srgbClr val="111827"/>
          </a:solidFill>
          <a:ln w="12700">
            <a:solidFill>
              <a:srgbClr val="1F29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48640" y="5303520"/>
            <a:ext cx="11094415" cy="4572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5376672"/>
            <a:ext cx="10607040" cy="914400"/>
          </a:xfrm>
          <a:prstGeom prst="rect">
            <a:avLst/>
          </a:prstGeom>
          <a:noFill/>
        </p:spPr>
        <p:txBody>
          <a:bodyPr wrap="square">
            <a:spAutoFit/>
          </a:bodyPr>
          <a:lstStyle/>
          <a:p>
            <a:pPr>
              <a:defRPr sz="950" b="1">
                <a:solidFill>
                  <a:srgbClr val="38BDF8"/>
                </a:solidFill>
              </a:defRPr>
            </a:pPr>
            <a:r>
              <a:t>RESILIENT FAULT-TOLERANT CIRCUIT-BREAKER ARCHITECTURE</a:t>
            </a:r>
          </a:p>
          <a:p>
            <a:pPr>
              <a:spcBef>
                <a:spcPts val="300"/>
              </a:spcBef>
              <a:defRPr sz="900">
                <a:solidFill>
                  <a:srgbClr val="F3F4F6"/>
                </a:solidFill>
              </a:defRPr>
            </a:pPr>
            <a:r>
              <a:t>If federal NREL endpoint exceeds an 8.0s timeout, the system executes an automatic fallback to regional NSRDB empirical solar matrices:</a:t>
            </a:r>
            <a:br/>
            <a:r>
              <a:t>Sunbelt: 1,650 kWh/kW-yr  |  Mid-Latitude / CA: 1,460 kWh/kW-yr  |  Northern: 1,320 kWh/kW-yr. The app guarantees zero presentation crashes.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D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09728"/>
            <a:ext cx="2011680" cy="292608"/>
          </a:xfrm>
          <a:prstGeom prst="round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850" b="1">
                <a:solidFill>
                  <a:srgbClr val="FFFFFF"/>
                </a:solidFill>
              </a:defRPr>
            </a:pPr>
            <a:r>
              <a:t>STANFORD CLIMATE WEEK</a:t>
            </a:r>
          </a:p>
        </p:txBody>
      </p:sp>
      <p:sp>
        <p:nvSpPr>
          <p:cNvPr id="5" name="TextBox 4"/>
          <p:cNvSpPr txBox="1"/>
          <p:nvPr/>
        </p:nvSpPr>
        <p:spPr>
          <a:xfrm>
            <a:off x="2606040" y="73152"/>
            <a:ext cx="5943600" cy="365760"/>
          </a:xfrm>
          <a:prstGeom prst="rect">
            <a:avLst/>
          </a:prstGeom>
          <a:noFill/>
        </p:spPr>
        <p:txBody>
          <a:bodyPr wrap="none">
            <a:spAutoFit/>
          </a:bodyPr>
          <a:lstStyle/>
          <a:p>
            <a:pPr>
              <a:defRPr sz="950">
                <a:solidFill>
                  <a:srgbClr val="9CA3AF"/>
                </a:solidFill>
              </a:defRPr>
            </a:pPr>
            <a:r>
              <a:t>SVYCA Youth For Earth Hackathon | Systems Architecture &amp; Climate Finance</a:t>
            </a:r>
          </a:p>
        </p:txBody>
      </p:sp>
      <p:sp>
        <p:nvSpPr>
          <p:cNvPr id="6" name="TextBox 5"/>
          <p:cNvSpPr txBox="1"/>
          <p:nvPr/>
        </p:nvSpPr>
        <p:spPr>
          <a:xfrm>
            <a:off x="10241280" y="73152"/>
            <a:ext cx="1463040" cy="365760"/>
          </a:xfrm>
          <a:prstGeom prst="rect">
            <a:avLst/>
          </a:prstGeom>
          <a:noFill/>
        </p:spPr>
        <p:txBody>
          <a:bodyPr wrap="none">
            <a:spAutoFit/>
          </a:bodyPr>
          <a:lstStyle/>
          <a:p>
            <a:pPr algn="r">
              <a:defRPr sz="1000" b="1">
                <a:solidFill>
                  <a:srgbClr val="38BDF8"/>
                </a:solidFill>
              </a:defRPr>
            </a:pPr>
            <a:r>
              <a:t>05 / 10</a:t>
            </a:r>
          </a:p>
        </p:txBody>
      </p:sp>
      <p:sp>
        <p:nvSpPr>
          <p:cNvPr id="7" name="Rectangle 6"/>
          <p:cNvSpPr/>
          <p:nvPr/>
        </p:nvSpPr>
        <p:spPr>
          <a:xfrm>
            <a:off x="0" y="493776"/>
            <a:ext cx="6095847" cy="2743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21792"/>
            <a:ext cx="11091672" cy="1005840"/>
          </a:xfrm>
          <a:prstGeom prst="rect">
            <a:avLst/>
          </a:prstGeom>
          <a:noFill/>
        </p:spPr>
        <p:txBody>
          <a:bodyPr wrap="square" lIns="0" tIns="0" rIns="0" bIns="0">
            <a:spAutoFit/>
          </a:bodyPr>
          <a:lstStyle/>
          <a:p>
            <a:pPr>
              <a:defRPr sz="900" b="1">
                <a:solidFill>
                  <a:srgbClr val="38BDF8"/>
                </a:solidFill>
              </a:defRPr>
            </a:pPr>
            <a:r>
              <a:t>PHYSICAL SIMULATION ENGINE</a:t>
            </a:r>
          </a:p>
          <a:p>
            <a:pPr>
              <a:spcBef>
                <a:spcPts val="200"/>
              </a:spcBef>
              <a:defRPr sz="2100" b="1">
                <a:solidFill>
                  <a:srgbClr val="F3F4F6"/>
                </a:solidFill>
              </a:defRPr>
            </a:pPr>
            <a:r>
              <a:t>Physics Modeling &amp; NREL Derate Waterfall</a:t>
            </a:r>
          </a:p>
          <a:p>
            <a:pPr>
              <a:spcBef>
                <a:spcPts val="300"/>
              </a:spcBef>
              <a:defRPr sz="1100">
                <a:solidFill>
                  <a:srgbClr val="9CA3AF"/>
                </a:solidFill>
              </a:defRPr>
            </a:pPr>
            <a:r>
              <a:t>Coupling spatial canopy packing geometry with NREL PVWatts v8 loss algorithms for rigorous yield modeling.</a:t>
            </a:r>
          </a:p>
        </p:txBody>
      </p:sp>
      <p:sp>
        <p:nvSpPr>
          <p:cNvPr id="9" name="Rounded Rectangle 8"/>
          <p:cNvSpPr/>
          <p:nvPr/>
        </p:nvSpPr>
        <p:spPr>
          <a:xfrm>
            <a:off x="548640" y="1737360"/>
            <a:ext cx="5303520" cy="4663440"/>
          </a:xfrm>
          <a:prstGeom prst="roundRect">
            <a:avLst/>
          </a:prstGeom>
          <a:solidFill>
            <a:srgbClr val="111827"/>
          </a:solidFill>
          <a:ln w="12700">
            <a:solidFill>
              <a:srgbClr val="1F29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1737360"/>
            <a:ext cx="5303520" cy="4572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874519"/>
            <a:ext cx="4937760" cy="4389120"/>
          </a:xfrm>
          <a:prstGeom prst="rect">
            <a:avLst/>
          </a:prstGeom>
          <a:noFill/>
        </p:spPr>
        <p:txBody>
          <a:bodyPr wrap="square">
            <a:spAutoFit/>
          </a:bodyPr>
          <a:lstStyle/>
          <a:p>
            <a:pPr>
              <a:defRPr sz="1100" b="1">
                <a:solidFill>
                  <a:srgbClr val="F3F4F6"/>
                </a:solidFill>
              </a:defRPr>
            </a:pPr>
            <a:r>
              <a:t>CANOPY SPATIAL PACKING &amp; CAPACITY FORMULATION</a:t>
            </a:r>
          </a:p>
        </p:txBody>
      </p:sp>
      <p:sp>
        <p:nvSpPr>
          <p:cNvPr id="12" name="Rounded Rectangle 11"/>
          <p:cNvSpPr/>
          <p:nvPr/>
        </p:nvSpPr>
        <p:spPr>
          <a:xfrm>
            <a:off x="731520" y="2240280"/>
            <a:ext cx="4937760" cy="822960"/>
          </a:xfrm>
          <a:prstGeom prst="roundRect">
            <a:avLst/>
          </a:prstGeom>
          <a:solidFill>
            <a:srgbClr val="0B1120"/>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31520" y="2240280"/>
            <a:ext cx="45720" cy="82296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 y="2295144"/>
            <a:ext cx="4718304" cy="713232"/>
          </a:xfrm>
          <a:prstGeom prst="rect">
            <a:avLst/>
          </a:prstGeom>
          <a:noFill/>
        </p:spPr>
        <p:txBody>
          <a:bodyPr wrap="square">
            <a:spAutoFit/>
          </a:bodyPr>
          <a:lstStyle/>
          <a:p>
            <a:pPr>
              <a:defRPr sz="950" b="1">
                <a:solidFill>
                  <a:srgbClr val="E0F2FE"/>
                </a:solidFill>
              </a:defRPr>
            </a:pPr>
            <a:r>
              <a:t>A_net = A_gross * eta_packing (eta = 0.65)</a:t>
            </a:r>
            <a:br/>
            <a:r>
              <a:t>P_DC = A_net * 0.20 kW/m^2 = A_net * 200 W/m^2</a:t>
            </a:r>
          </a:p>
          <a:p>
            <a:pPr>
              <a:spcBef>
                <a:spcPts val="200"/>
              </a:spcBef>
              <a:defRPr sz="800">
                <a:solidFill>
                  <a:srgbClr val="9CA3AF"/>
                </a:solidFill>
              </a:defRPr>
            </a:pPr>
            <a:r>
              <a:t>Reserves 24-ft driving aisles &amp; Title 24 fire clearance; assumes 20.0% efficient Mono PERC modules.</a:t>
            </a:r>
          </a:p>
        </p:txBody>
      </p:sp>
      <p:sp>
        <p:nvSpPr>
          <p:cNvPr id="15" name="TextBox 14"/>
          <p:cNvSpPr txBox="1"/>
          <p:nvPr/>
        </p:nvSpPr>
        <p:spPr>
          <a:xfrm>
            <a:off x="731520" y="3200400"/>
            <a:ext cx="4937760" cy="3017520"/>
          </a:xfrm>
          <a:prstGeom prst="rect">
            <a:avLst/>
          </a:prstGeom>
          <a:noFill/>
        </p:spPr>
        <p:txBody>
          <a:bodyPr wrap="square">
            <a:spAutoFit/>
          </a:bodyPr>
          <a:lstStyle/>
          <a:p>
            <a:pPr>
              <a:defRPr sz="950" b="1">
                <a:solidFill>
                  <a:srgbClr val="38BDF8"/>
                </a:solidFill>
              </a:defRPr>
            </a:pPr>
            <a:r>
              <a:t>NREL PVWatts v8 REST Parameters (core/solar_engine.py):</a:t>
            </a:r>
          </a:p>
          <a:p>
            <a:pPr>
              <a:spcBef>
                <a:spcPts val="400"/>
              </a:spcBef>
              <a:defRPr sz="850">
                <a:solidFill>
                  <a:srgbClr val="9CA3AF"/>
                </a:solidFill>
              </a:defRPr>
            </a:pPr>
            <a:r>
              <a:t>module_type = 1: Premium Monocrystalline PERC silicon (~20% nominal efficiency).</a:t>
            </a:r>
          </a:p>
          <a:p>
            <a:pPr>
              <a:spcBef>
                <a:spcPts val="400"/>
              </a:spcBef>
              <a:defRPr sz="850">
                <a:solidFill>
                  <a:srgbClr val="9CA3AF"/>
                </a:solidFill>
              </a:defRPr>
            </a:pPr>
            <a:r>
              <a:t>array_type = 2: Fixed Canopy / Carport structural mounting geometry.</a:t>
            </a:r>
          </a:p>
          <a:p>
            <a:pPr>
              <a:spcBef>
                <a:spcPts val="400"/>
              </a:spcBef>
              <a:defRPr sz="850">
                <a:solidFill>
                  <a:srgbClr val="9CA3AF"/>
                </a:solidFill>
              </a:defRPr>
            </a:pPr>
            <a:r>
              <a:t>tilt = 10.0 deg: 10-degree tilt balancing rainwater shedding, wind loading, and summer insolation.</a:t>
            </a:r>
          </a:p>
          <a:p>
            <a:pPr>
              <a:spcBef>
                <a:spcPts val="400"/>
              </a:spcBef>
              <a:defRPr sz="850">
                <a:solidFill>
                  <a:srgbClr val="9CA3AF"/>
                </a:solidFill>
              </a:defRPr>
            </a:pPr>
            <a:r>
              <a:t>azimuth = 180.0 deg: True South geographic orientation for optimal North American solar harvesting.</a:t>
            </a:r>
          </a:p>
          <a:p>
            <a:pPr>
              <a:spcBef>
                <a:spcPts val="400"/>
              </a:spcBef>
              <a:defRPr sz="850">
                <a:solidFill>
                  <a:srgbClr val="9CA3AF"/>
                </a:solidFill>
              </a:defRPr>
            </a:pPr>
            <a:r>
              <a:t>losses = 14.0%: Comprehensive aggregate system derate factor (detailed on right).</a:t>
            </a:r>
          </a:p>
        </p:txBody>
      </p:sp>
      <p:sp>
        <p:nvSpPr>
          <p:cNvPr id="16" name="Rounded Rectangle 15"/>
          <p:cNvSpPr/>
          <p:nvPr/>
        </p:nvSpPr>
        <p:spPr>
          <a:xfrm>
            <a:off x="6217920" y="1737360"/>
            <a:ext cx="5425135" cy="4663440"/>
          </a:xfrm>
          <a:prstGeom prst="roundRect">
            <a:avLst/>
          </a:prstGeom>
          <a:solidFill>
            <a:srgbClr val="111827"/>
          </a:solidFill>
          <a:ln w="12700">
            <a:solidFill>
              <a:srgbClr val="1F29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17920" y="1737360"/>
            <a:ext cx="5425135" cy="4572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1874519"/>
            <a:ext cx="4937760" cy="4389120"/>
          </a:xfrm>
          <a:prstGeom prst="rect">
            <a:avLst/>
          </a:prstGeom>
          <a:noFill/>
        </p:spPr>
        <p:txBody>
          <a:bodyPr wrap="square">
            <a:spAutoFit/>
          </a:bodyPr>
          <a:lstStyle/>
          <a:p>
            <a:pPr>
              <a:defRPr sz="1100" b="1">
                <a:solidFill>
                  <a:srgbClr val="38BDF8"/>
                </a:solidFill>
              </a:defRPr>
            </a:pPr>
            <a:r>
              <a:t>14.0% AGGREGATE SYSTEM DERATE LOSS WATERFALL</a:t>
            </a:r>
          </a:p>
          <a:p>
            <a:pPr>
              <a:spcBef>
                <a:spcPts val="600"/>
              </a:spcBef>
              <a:defRPr sz="900" b="1">
                <a:solidFill>
                  <a:srgbClr val="F3F4F6"/>
                </a:solidFill>
              </a:defRPr>
            </a:pPr>
            <a:r>
              <a:t>Inverter Conversion Loss: -4.0%</a:t>
            </a:r>
          </a:p>
          <a:p>
            <a:pPr>
              <a:defRPr sz="800">
                <a:solidFill>
                  <a:srgbClr val="9CA3AF"/>
                </a:solidFill>
              </a:defRPr>
            </a:pPr>
            <a:r>
              <a:t>Commercial 3-phase string inverters operating at 96.0% CEC weighted efficiency.</a:t>
            </a:r>
          </a:p>
          <a:p>
            <a:pPr>
              <a:spcBef>
                <a:spcPts val="600"/>
              </a:spcBef>
              <a:defRPr sz="900" b="1">
                <a:solidFill>
                  <a:srgbClr val="F3F4F6"/>
                </a:solidFill>
              </a:defRPr>
            </a:pPr>
            <a:r>
              <a:t>Cell Temperature Derate: -3.0%</a:t>
            </a:r>
          </a:p>
          <a:p>
            <a:pPr>
              <a:defRPr sz="800">
                <a:solidFill>
                  <a:srgbClr val="9CA3AF"/>
                </a:solidFill>
              </a:defRPr>
            </a:pPr>
            <a:r>
              <a:t>Elevated canopy design provides continuous passive under-panel airflow cooling.</a:t>
            </a:r>
          </a:p>
          <a:p>
            <a:pPr>
              <a:spcBef>
                <a:spcPts val="600"/>
              </a:spcBef>
              <a:defRPr sz="900" b="1">
                <a:solidFill>
                  <a:srgbClr val="F3F4F6"/>
                </a:solidFill>
              </a:defRPr>
            </a:pPr>
            <a:r>
              <a:t>Soiling &amp; Particulate Dust: -2.5%</a:t>
            </a:r>
          </a:p>
          <a:p>
            <a:pPr>
              <a:defRPr sz="800">
                <a:solidFill>
                  <a:srgbClr val="9CA3AF"/>
                </a:solidFill>
              </a:defRPr>
            </a:pPr>
            <a:r>
              <a:t>Dry summer dust accumulation; mitigated by annual robotic brush cleaning in O&amp;M.</a:t>
            </a:r>
          </a:p>
          <a:p>
            <a:pPr>
              <a:spcBef>
                <a:spcPts val="600"/>
              </a:spcBef>
              <a:defRPr sz="900" b="1">
                <a:solidFill>
                  <a:srgbClr val="F3F4F6"/>
                </a:solidFill>
              </a:defRPr>
            </a:pPr>
            <a:r>
              <a:t>DC &amp; AC Ohmic Resistance: -2.0%</a:t>
            </a:r>
          </a:p>
          <a:p>
            <a:pPr>
              <a:defRPr sz="800">
                <a:solidFill>
                  <a:srgbClr val="9CA3AF"/>
                </a:solidFill>
              </a:defRPr>
            </a:pPr>
            <a:r>
              <a:t>I^2 * R wire losses across underground copper feeders and conduit runs.</a:t>
            </a:r>
          </a:p>
          <a:p>
            <a:pPr>
              <a:spcBef>
                <a:spcPts val="600"/>
              </a:spcBef>
              <a:defRPr sz="900" b="1">
                <a:solidFill>
                  <a:srgbClr val="F3F4F6"/>
                </a:solidFill>
              </a:defRPr>
            </a:pPr>
            <a:r>
              <a:t>Module Mismatch &amp; Tolerance: -1.5%</a:t>
            </a:r>
          </a:p>
          <a:p>
            <a:pPr>
              <a:defRPr sz="800">
                <a:solidFill>
                  <a:srgbClr val="9CA3AF"/>
                </a:solidFill>
              </a:defRPr>
            </a:pPr>
            <a:r>
              <a:t>Positive power tolerance binning (+0/+5W) from Tier-1 BloombergNEF manufacturers.</a:t>
            </a:r>
          </a:p>
          <a:p>
            <a:pPr>
              <a:spcBef>
                <a:spcPts val="600"/>
              </a:spcBef>
              <a:defRPr sz="900" b="1">
                <a:solidFill>
                  <a:srgbClr val="F3F4F6"/>
                </a:solidFill>
              </a:defRPr>
            </a:pPr>
            <a:r>
              <a:t>Diodes &amp; Connection Drops: -1.0%</a:t>
            </a:r>
          </a:p>
          <a:p>
            <a:pPr>
              <a:defRPr sz="800">
                <a:solidFill>
                  <a:srgbClr val="9CA3AF"/>
                </a:solidFill>
              </a:defRPr>
            </a:pPr>
            <a:r>
              <a:t>MC4 locking connectors and bypass diode voltage drops across series strings.</a:t>
            </a:r>
          </a:p>
          <a:p>
            <a:pPr>
              <a:spcBef>
                <a:spcPts val="600"/>
              </a:spcBef>
              <a:defRPr sz="900" b="1">
                <a:solidFill>
                  <a:srgbClr val="10B981"/>
                </a:solidFill>
              </a:defRPr>
            </a:pPr>
            <a:r>
              <a:t>Aggregate Derate Factor: 14.0%</a:t>
            </a:r>
          </a:p>
          <a:p>
            <a:pPr>
              <a:defRPr sz="800">
                <a:solidFill>
                  <a:srgbClr val="9CA3AF"/>
                </a:solidFill>
              </a:defRPr>
            </a:pPr>
            <a:r>
              <a:t>Results in an 86.0% overall System Performance Ratio (PR = 0.86).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D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09728"/>
            <a:ext cx="2011680" cy="292608"/>
          </a:xfrm>
          <a:prstGeom prst="round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850" b="1">
                <a:solidFill>
                  <a:srgbClr val="FFFFFF"/>
                </a:solidFill>
              </a:defRPr>
            </a:pPr>
            <a:r>
              <a:t>STANFORD CLIMATE WEEK</a:t>
            </a:r>
          </a:p>
        </p:txBody>
      </p:sp>
      <p:sp>
        <p:nvSpPr>
          <p:cNvPr id="5" name="TextBox 4"/>
          <p:cNvSpPr txBox="1"/>
          <p:nvPr/>
        </p:nvSpPr>
        <p:spPr>
          <a:xfrm>
            <a:off x="2606040" y="73152"/>
            <a:ext cx="5943600" cy="365760"/>
          </a:xfrm>
          <a:prstGeom prst="rect">
            <a:avLst/>
          </a:prstGeom>
          <a:noFill/>
        </p:spPr>
        <p:txBody>
          <a:bodyPr wrap="none">
            <a:spAutoFit/>
          </a:bodyPr>
          <a:lstStyle/>
          <a:p>
            <a:pPr>
              <a:defRPr sz="950">
                <a:solidFill>
                  <a:srgbClr val="9CA3AF"/>
                </a:solidFill>
              </a:defRPr>
            </a:pPr>
            <a:r>
              <a:t>SVYCA Youth For Earth Hackathon | Systems Architecture &amp; Climate Finance</a:t>
            </a:r>
          </a:p>
        </p:txBody>
      </p:sp>
      <p:sp>
        <p:nvSpPr>
          <p:cNvPr id="6" name="TextBox 5"/>
          <p:cNvSpPr txBox="1"/>
          <p:nvPr/>
        </p:nvSpPr>
        <p:spPr>
          <a:xfrm>
            <a:off x="10241280" y="73152"/>
            <a:ext cx="1463040" cy="365760"/>
          </a:xfrm>
          <a:prstGeom prst="rect">
            <a:avLst/>
          </a:prstGeom>
          <a:noFill/>
        </p:spPr>
        <p:txBody>
          <a:bodyPr wrap="none">
            <a:spAutoFit/>
          </a:bodyPr>
          <a:lstStyle/>
          <a:p>
            <a:pPr algn="r">
              <a:defRPr sz="1000" b="1">
                <a:solidFill>
                  <a:srgbClr val="38BDF8"/>
                </a:solidFill>
              </a:defRPr>
            </a:pPr>
            <a:r>
              <a:t>06 / 10</a:t>
            </a:r>
          </a:p>
        </p:txBody>
      </p:sp>
      <p:sp>
        <p:nvSpPr>
          <p:cNvPr id="7" name="Rectangle 6"/>
          <p:cNvSpPr/>
          <p:nvPr/>
        </p:nvSpPr>
        <p:spPr>
          <a:xfrm>
            <a:off x="0" y="493776"/>
            <a:ext cx="7315017" cy="2743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21792"/>
            <a:ext cx="11091672" cy="1005840"/>
          </a:xfrm>
          <a:prstGeom prst="rect">
            <a:avLst/>
          </a:prstGeom>
          <a:noFill/>
        </p:spPr>
        <p:txBody>
          <a:bodyPr wrap="square" lIns="0" tIns="0" rIns="0" bIns="0">
            <a:spAutoFit/>
          </a:bodyPr>
          <a:lstStyle/>
          <a:p>
            <a:pPr>
              <a:defRPr sz="900" b="1">
                <a:solidFill>
                  <a:srgbClr val="38BDF8"/>
                </a:solidFill>
              </a:defRPr>
            </a:pPr>
            <a:r>
              <a:t>EMPIRICAL MODEL VALIDATION</a:t>
            </a:r>
          </a:p>
          <a:p>
            <a:pPr>
              <a:spcBef>
                <a:spcPts val="200"/>
              </a:spcBef>
              <a:defRPr sz="2100" b="1">
                <a:solidFill>
                  <a:srgbClr val="F3F4F6"/>
                </a:solidFill>
              </a:defRPr>
            </a:pPr>
            <a:r>
              <a:t>Ground-Truthed Silicon Valley Case Study</a:t>
            </a:r>
          </a:p>
          <a:p>
            <a:pPr>
              <a:spcBef>
                <a:spcPts val="300"/>
              </a:spcBef>
              <a:defRPr sz="1100">
                <a:solidFill>
                  <a:srgbClr val="9CA3AF"/>
                </a:solidFill>
              </a:defRPr>
            </a:pPr>
            <a:r>
              <a:t>Calibrating computational simulation against empirical utility data at Monta Vista High vs. quantified delay at Paly.</a:t>
            </a:r>
          </a:p>
        </p:txBody>
      </p:sp>
      <p:sp>
        <p:nvSpPr>
          <p:cNvPr id="9" name="Rounded Rectangle 8"/>
          <p:cNvSpPr/>
          <p:nvPr/>
        </p:nvSpPr>
        <p:spPr>
          <a:xfrm>
            <a:off x="548640" y="1737360"/>
            <a:ext cx="5394960" cy="4663440"/>
          </a:xfrm>
          <a:prstGeom prst="roundRect">
            <a:avLst/>
          </a:prstGeom>
          <a:solidFill>
            <a:srgbClr val="111827"/>
          </a:solidFill>
          <a:ln w="12700">
            <a:solidFill>
              <a:srgbClr val="1F29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1737360"/>
            <a:ext cx="5394960" cy="45720"/>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874519"/>
            <a:ext cx="4937760" cy="4389120"/>
          </a:xfrm>
          <a:prstGeom prst="rect">
            <a:avLst/>
          </a:prstGeom>
          <a:noFill/>
        </p:spPr>
        <p:txBody>
          <a:bodyPr wrap="square">
            <a:spAutoFit/>
          </a:bodyPr>
          <a:lstStyle/>
          <a:p>
            <a:pPr>
              <a:defRPr sz="1100" b="1">
                <a:solidFill>
                  <a:srgbClr val="10B981"/>
                </a:solidFill>
              </a:defRPr>
            </a:pPr>
            <a:r>
              <a:t>MONTA VISTA HIGH (IMPLEMENTED LEADER)</a:t>
            </a:r>
          </a:p>
          <a:p>
            <a:pPr>
              <a:spcBef>
                <a:spcPts val="100"/>
              </a:spcBef>
              <a:defRPr sz="850">
                <a:solidFill>
                  <a:srgbClr val="6B7280"/>
                </a:solidFill>
              </a:defRPr>
            </a:pPr>
            <a:r>
              <a:t>FUHSD &amp; ENGIE 550 kW Carports (OSM Way 416432160, Lat 37.3151, Lon -122.0581)</a:t>
            </a:r>
          </a:p>
          <a:p>
            <a:pPr>
              <a:spcBef>
                <a:spcPts val="700"/>
              </a:spcBef>
              <a:defRPr sz="950" b="0">
                <a:solidFill>
                  <a:srgbClr val="F3F4F6"/>
                </a:solidFill>
              </a:defRPr>
            </a:pPr>
            <a:r>
              <a:t>Modeled Nameplate Capacity: 718.2 kW DC (550 kW AC inverter limit)</a:t>
            </a:r>
          </a:p>
          <a:p>
            <a:pPr>
              <a:spcBef>
                <a:spcPts val="700"/>
              </a:spcBef>
              <a:defRPr sz="950" b="0">
                <a:solidFill>
                  <a:srgbClr val="F3F4F6"/>
                </a:solidFill>
              </a:defRPr>
            </a:pPr>
            <a:r>
              <a:t>Simulated Annual Generation: 1,484,069 kWh / year</a:t>
            </a:r>
          </a:p>
          <a:p>
            <a:pPr>
              <a:spcBef>
                <a:spcPts val="700"/>
              </a:spcBef>
              <a:defRPr sz="950" b="0">
                <a:solidFill>
                  <a:srgbClr val="F3F4F6"/>
                </a:solidFill>
              </a:defRPr>
            </a:pPr>
            <a:r>
              <a:t>Modeled Avoided Bill (PG&amp;E B-19): $145,000 / year</a:t>
            </a:r>
          </a:p>
          <a:p>
            <a:pPr>
              <a:spcBef>
                <a:spcPts val="700"/>
              </a:spcBef>
              <a:defRPr sz="950" b="0">
                <a:solidFill>
                  <a:srgbClr val="F3F4F6"/>
                </a:solidFill>
              </a:defRPr>
            </a:pPr>
            <a:r>
              <a:t>Empirical District Utility Offset: $139,200 / year (Published FUHSD Bills)</a:t>
            </a:r>
          </a:p>
          <a:p>
            <a:pPr>
              <a:spcBef>
                <a:spcPts val="700"/>
              </a:spcBef>
              <a:defRPr sz="950" b="1">
                <a:solidFill>
                  <a:srgbClr val="10B981"/>
                </a:solidFill>
              </a:defRPr>
            </a:pPr>
            <a:r>
              <a:t>Model Accuracy Tolerance: 4.17% Error (Empirically Validated)</a:t>
            </a:r>
          </a:p>
          <a:p>
            <a:pPr>
              <a:spcBef>
                <a:spcPts val="1400"/>
              </a:spcBef>
              <a:defRPr sz="850" b="1">
                <a:solidFill>
                  <a:srgbClr val="10B981"/>
                </a:solidFill>
              </a:defRPr>
            </a:pPr>
            <a:r>
              <a:t>VALIDATION PROOF: Real-world PG&amp;E billing confirms that our 65% packing factor and NREL PVWatts loss waterfall match commercial utility realities within 4.17%.</a:t>
            </a:r>
          </a:p>
        </p:txBody>
      </p:sp>
      <p:sp>
        <p:nvSpPr>
          <p:cNvPr id="12" name="Rounded Rectangle 11"/>
          <p:cNvSpPr/>
          <p:nvPr/>
        </p:nvSpPr>
        <p:spPr>
          <a:xfrm>
            <a:off x="6217920" y="1737360"/>
            <a:ext cx="5394960" cy="4663440"/>
          </a:xfrm>
          <a:prstGeom prst="roundRect">
            <a:avLst/>
          </a:prstGeom>
          <a:solidFill>
            <a:srgbClr val="111827"/>
          </a:solidFill>
          <a:ln w="12700">
            <a:solidFill>
              <a:srgbClr val="1F29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0" y="1737360"/>
            <a:ext cx="5394960" cy="45720"/>
          </a:xfrm>
          <a:prstGeom prst="round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874519"/>
            <a:ext cx="4937760" cy="4389120"/>
          </a:xfrm>
          <a:prstGeom prst="rect">
            <a:avLst/>
          </a:prstGeom>
          <a:noFill/>
        </p:spPr>
        <p:txBody>
          <a:bodyPr wrap="square">
            <a:spAutoFit/>
          </a:bodyPr>
          <a:lstStyle/>
          <a:p>
            <a:pPr>
              <a:defRPr sz="1100" b="1">
                <a:solidFill>
                  <a:srgbClr val="EF4444"/>
                </a:solidFill>
              </a:defRPr>
            </a:pPr>
            <a:r>
              <a:t>PALO ALTO HIGH (UNSHADED OPPORTUNITY)</a:t>
            </a:r>
          </a:p>
          <a:p>
            <a:pPr>
              <a:spcBef>
                <a:spcPts val="100"/>
              </a:spcBef>
              <a:defRPr sz="850">
                <a:solidFill>
                  <a:srgbClr val="6B7280"/>
                </a:solidFill>
              </a:defRPr>
            </a:pPr>
            <a:r>
              <a:t>PAUSD Unshaded Asphalt Lot along Embarcadero Rd (7,200 m² Surface Lot)</a:t>
            </a:r>
          </a:p>
          <a:p>
            <a:pPr>
              <a:spcBef>
                <a:spcPts val="700"/>
              </a:spcBef>
              <a:defRPr sz="950" b="0">
                <a:solidFill>
                  <a:srgbClr val="F3F4F6"/>
                </a:solidFill>
              </a:defRPr>
            </a:pPr>
            <a:r>
              <a:t>Unshaded Parking Footprint: 7,200 m² (~180 Surface Parking Stalls)</a:t>
            </a:r>
          </a:p>
          <a:p>
            <a:pPr>
              <a:spcBef>
                <a:spcPts val="700"/>
              </a:spcBef>
              <a:defRPr sz="950" b="0">
                <a:solidFill>
                  <a:srgbClr val="F3F4F6"/>
                </a:solidFill>
              </a:defRPr>
            </a:pPr>
            <a:r>
              <a:t>Potential Solar Canopy Size: 608.4 kW DC System Capacity</a:t>
            </a:r>
          </a:p>
          <a:p>
            <a:pPr>
              <a:spcBef>
                <a:spcPts val="700"/>
              </a:spcBef>
              <a:defRPr sz="950" b="0">
                <a:solidFill>
                  <a:srgbClr val="F3F4F6"/>
                </a:solidFill>
              </a:defRPr>
            </a:pPr>
            <a:r>
              <a:t>Avoidable Utility Bill Surrender: $140,000 / year (Surrendered to Utility)</a:t>
            </a:r>
          </a:p>
          <a:p>
            <a:pPr>
              <a:spcBef>
                <a:spcPts val="700"/>
              </a:spcBef>
              <a:defRPr sz="950" b="0">
                <a:solidFill>
                  <a:srgbClr val="F3F4F6"/>
                </a:solidFill>
              </a:defRPr>
            </a:pPr>
            <a:r>
              <a:t>Unclaimed IRS Direct Pay Check: $754,416 Cash Check Sitting at U.S. Treasury</a:t>
            </a:r>
          </a:p>
          <a:p>
            <a:pPr>
              <a:spcBef>
                <a:spcPts val="700"/>
              </a:spcBef>
              <a:defRPr sz="950" b="1">
                <a:solidFill>
                  <a:srgbClr val="EF4444"/>
                </a:solidFill>
              </a:defRPr>
            </a:pPr>
            <a:r>
              <a:t>5-Year Delay Penalty: $700,000 in Permanent Classroom Budget Losses</a:t>
            </a:r>
          </a:p>
          <a:p>
            <a:pPr>
              <a:spcBef>
                <a:spcPts val="1400"/>
              </a:spcBef>
              <a:defRPr sz="850" b="1">
                <a:solidFill>
                  <a:srgbClr val="EF4444"/>
                </a:solidFill>
              </a:defRPr>
            </a:pPr>
            <a:r>
              <a:t>THE COST OF INACTION: Every year PAUSD delays action is $140,000 paid to utility companies instead of funding instructional educators.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D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09728"/>
            <a:ext cx="2011680" cy="292608"/>
          </a:xfrm>
          <a:prstGeom prst="round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850" b="1">
                <a:solidFill>
                  <a:srgbClr val="FFFFFF"/>
                </a:solidFill>
              </a:defRPr>
            </a:pPr>
            <a:r>
              <a:t>STANFORD CLIMATE WEEK</a:t>
            </a:r>
          </a:p>
        </p:txBody>
      </p:sp>
      <p:sp>
        <p:nvSpPr>
          <p:cNvPr id="5" name="TextBox 4"/>
          <p:cNvSpPr txBox="1"/>
          <p:nvPr/>
        </p:nvSpPr>
        <p:spPr>
          <a:xfrm>
            <a:off x="2606040" y="73152"/>
            <a:ext cx="5943600" cy="365760"/>
          </a:xfrm>
          <a:prstGeom prst="rect">
            <a:avLst/>
          </a:prstGeom>
          <a:noFill/>
        </p:spPr>
        <p:txBody>
          <a:bodyPr wrap="none">
            <a:spAutoFit/>
          </a:bodyPr>
          <a:lstStyle/>
          <a:p>
            <a:pPr>
              <a:defRPr sz="950">
                <a:solidFill>
                  <a:srgbClr val="9CA3AF"/>
                </a:solidFill>
              </a:defRPr>
            </a:pPr>
            <a:r>
              <a:t>SVYCA Youth For Earth Hackathon | Systems Architecture &amp; Climate Finance</a:t>
            </a:r>
          </a:p>
        </p:txBody>
      </p:sp>
      <p:sp>
        <p:nvSpPr>
          <p:cNvPr id="6" name="TextBox 5"/>
          <p:cNvSpPr txBox="1"/>
          <p:nvPr/>
        </p:nvSpPr>
        <p:spPr>
          <a:xfrm>
            <a:off x="10241280" y="73152"/>
            <a:ext cx="1463040" cy="365760"/>
          </a:xfrm>
          <a:prstGeom prst="rect">
            <a:avLst/>
          </a:prstGeom>
          <a:noFill/>
        </p:spPr>
        <p:txBody>
          <a:bodyPr wrap="none">
            <a:spAutoFit/>
          </a:bodyPr>
          <a:lstStyle/>
          <a:p>
            <a:pPr algn="r">
              <a:defRPr sz="1000" b="1">
                <a:solidFill>
                  <a:srgbClr val="38BDF8"/>
                </a:solidFill>
              </a:defRPr>
            </a:pPr>
            <a:r>
              <a:t>07 / 10</a:t>
            </a:r>
          </a:p>
        </p:txBody>
      </p:sp>
      <p:sp>
        <p:nvSpPr>
          <p:cNvPr id="7" name="Rectangle 6"/>
          <p:cNvSpPr/>
          <p:nvPr/>
        </p:nvSpPr>
        <p:spPr>
          <a:xfrm>
            <a:off x="0" y="493776"/>
            <a:ext cx="8534186" cy="2743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21792"/>
            <a:ext cx="11091672" cy="1005840"/>
          </a:xfrm>
          <a:prstGeom prst="rect">
            <a:avLst/>
          </a:prstGeom>
          <a:noFill/>
        </p:spPr>
        <p:txBody>
          <a:bodyPr wrap="square" lIns="0" tIns="0" rIns="0" bIns="0">
            <a:spAutoFit/>
          </a:bodyPr>
          <a:lstStyle/>
          <a:p>
            <a:pPr>
              <a:defRPr sz="900" b="1">
                <a:solidFill>
                  <a:srgbClr val="38BDF8"/>
                </a:solidFill>
              </a:defRPr>
            </a:pPr>
            <a:r>
              <a:t>FINANCIAL ENGINEERING &amp; LIFECYCLE ECONOMICS</a:t>
            </a:r>
          </a:p>
          <a:p>
            <a:pPr>
              <a:spcBef>
                <a:spcPts val="200"/>
              </a:spcBef>
              <a:defRPr sz="2100" b="1">
                <a:solidFill>
                  <a:srgbClr val="F3F4F6"/>
                </a:solidFill>
              </a:defRPr>
            </a:pPr>
            <a:r>
              <a:t>Turnkey Economics &amp; 25-Year Lifecycle DCF</a:t>
            </a:r>
          </a:p>
          <a:p>
            <a:pPr>
              <a:spcBef>
                <a:spcPts val="300"/>
              </a:spcBef>
              <a:defRPr sz="1100">
                <a:solidFill>
                  <a:srgbClr val="9CA3AF"/>
                </a:solidFill>
              </a:defRPr>
            </a:pPr>
            <a:r>
              <a:t>Structural steel canopies require a $3.10/W capex benchmark, but Section 6417 cuts net capex to $1.86/W.</a:t>
            </a:r>
          </a:p>
        </p:txBody>
      </p:sp>
      <p:sp>
        <p:nvSpPr>
          <p:cNvPr id="9" name="Rounded Rectangle 8"/>
          <p:cNvSpPr/>
          <p:nvPr/>
        </p:nvSpPr>
        <p:spPr>
          <a:xfrm>
            <a:off x="548640" y="1737360"/>
            <a:ext cx="3474720" cy="2377440"/>
          </a:xfrm>
          <a:prstGeom prst="roundRect">
            <a:avLst/>
          </a:prstGeom>
          <a:solidFill>
            <a:srgbClr val="111827"/>
          </a:solidFill>
          <a:ln w="12700">
            <a:solidFill>
              <a:srgbClr val="1F29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1737360"/>
            <a:ext cx="3474720" cy="4572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1847088"/>
            <a:ext cx="3145536" cy="2157984"/>
          </a:xfrm>
          <a:prstGeom prst="rect">
            <a:avLst/>
          </a:prstGeom>
          <a:noFill/>
        </p:spPr>
        <p:txBody>
          <a:bodyPr wrap="square">
            <a:spAutoFit/>
          </a:bodyPr>
          <a:lstStyle/>
          <a:p>
            <a:pPr>
              <a:defRPr sz="2800" b="1">
                <a:solidFill>
                  <a:srgbClr val="38BDF8"/>
                </a:solidFill>
              </a:defRPr>
            </a:pPr>
            <a:r>
              <a:t>$3.10 / W</a:t>
            </a:r>
          </a:p>
          <a:p>
            <a:pPr>
              <a:spcBef>
                <a:spcPts val="200"/>
              </a:spcBef>
              <a:defRPr sz="750" b="1">
                <a:solidFill>
                  <a:srgbClr val="6B7280"/>
                </a:solidFill>
              </a:defRPr>
            </a:pPr>
            <a:r>
              <a:t>COMMERCIAL TURNKEY CAPEX</a:t>
            </a:r>
          </a:p>
          <a:p>
            <a:pPr>
              <a:spcBef>
                <a:spcPts val="600"/>
              </a:spcBef>
              <a:defRPr sz="850">
                <a:solidFill>
                  <a:srgbClr val="9CA3AF"/>
                </a:solidFill>
              </a:defRPr>
            </a:pPr>
            <a:r>
              <a:t>Reflects commercial structural steel cantilever columns, CIDH reinforced concrete pier foundations, switchgear, and trench conduit.</a:t>
            </a:r>
          </a:p>
        </p:txBody>
      </p:sp>
      <p:sp>
        <p:nvSpPr>
          <p:cNvPr id="12" name="Rounded Rectangle 11"/>
          <p:cNvSpPr/>
          <p:nvPr/>
        </p:nvSpPr>
        <p:spPr>
          <a:xfrm>
            <a:off x="4343400" y="1737360"/>
            <a:ext cx="3474720" cy="2377440"/>
          </a:xfrm>
          <a:prstGeom prst="roundRect">
            <a:avLst/>
          </a:prstGeom>
          <a:solidFill>
            <a:srgbClr val="111827"/>
          </a:solidFill>
          <a:ln w="12700">
            <a:solidFill>
              <a:srgbClr val="1F29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43400" y="1737360"/>
            <a:ext cx="3474720" cy="45720"/>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7992" y="1847088"/>
            <a:ext cx="3145536" cy="2157984"/>
          </a:xfrm>
          <a:prstGeom prst="rect">
            <a:avLst/>
          </a:prstGeom>
          <a:noFill/>
        </p:spPr>
        <p:txBody>
          <a:bodyPr wrap="square">
            <a:spAutoFit/>
          </a:bodyPr>
          <a:lstStyle/>
          <a:p>
            <a:pPr>
              <a:defRPr sz="2800" b="1">
                <a:solidFill>
                  <a:srgbClr val="10B981"/>
                </a:solidFill>
              </a:defRPr>
            </a:pPr>
            <a:r>
              <a:t>-$1.24 / W</a:t>
            </a:r>
          </a:p>
          <a:p>
            <a:pPr>
              <a:spcBef>
                <a:spcPts val="200"/>
              </a:spcBef>
              <a:defRPr sz="750" b="1">
                <a:solidFill>
                  <a:srgbClr val="6B7280"/>
                </a:solidFill>
              </a:defRPr>
            </a:pPr>
            <a:r>
              <a:t>40% IRS DIRECT PAY CHECK</a:t>
            </a:r>
          </a:p>
          <a:p>
            <a:pPr>
              <a:spcBef>
                <a:spcPts val="600"/>
              </a:spcBef>
              <a:defRPr sz="850">
                <a:solidFill>
                  <a:srgbClr val="9CA3AF"/>
                </a:solidFill>
              </a:defRPr>
            </a:pPr>
            <a:r>
              <a:t>30% base + 10% Title I or Domestic Content adder paid via direct cash check from U.S. Treasury, bypassing private tax investors.</a:t>
            </a:r>
          </a:p>
        </p:txBody>
      </p:sp>
      <p:sp>
        <p:nvSpPr>
          <p:cNvPr id="15" name="Rounded Rectangle 14"/>
          <p:cNvSpPr/>
          <p:nvPr/>
        </p:nvSpPr>
        <p:spPr>
          <a:xfrm>
            <a:off x="8138160" y="1737360"/>
            <a:ext cx="3474720" cy="2377440"/>
          </a:xfrm>
          <a:prstGeom prst="roundRect">
            <a:avLst/>
          </a:prstGeom>
          <a:solidFill>
            <a:srgbClr val="111827"/>
          </a:solidFill>
          <a:ln w="12700">
            <a:solidFill>
              <a:srgbClr val="1F29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138160" y="1737360"/>
            <a:ext cx="3474720" cy="45720"/>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02752" y="1847088"/>
            <a:ext cx="3145536" cy="2157984"/>
          </a:xfrm>
          <a:prstGeom prst="rect">
            <a:avLst/>
          </a:prstGeom>
          <a:noFill/>
        </p:spPr>
        <p:txBody>
          <a:bodyPr wrap="square">
            <a:spAutoFit/>
          </a:bodyPr>
          <a:lstStyle/>
          <a:p>
            <a:pPr>
              <a:defRPr sz="2800" b="1">
                <a:solidFill>
                  <a:srgbClr val="10B981"/>
                </a:solidFill>
              </a:defRPr>
            </a:pPr>
            <a:r>
              <a:t>$1.86 / W</a:t>
            </a:r>
          </a:p>
          <a:p>
            <a:pPr>
              <a:spcBef>
                <a:spcPts val="200"/>
              </a:spcBef>
              <a:defRPr sz="750" b="1">
                <a:solidFill>
                  <a:srgbClr val="6B7280"/>
                </a:solidFill>
              </a:defRPr>
            </a:pPr>
            <a:r>
              <a:t>NET DISTRICT CAPITAL OUTLAY</a:t>
            </a:r>
          </a:p>
          <a:p>
            <a:pPr>
              <a:spcBef>
                <a:spcPts val="600"/>
              </a:spcBef>
              <a:defRPr sz="850">
                <a:solidFill>
                  <a:srgbClr val="9CA3AF"/>
                </a:solidFill>
              </a:defRPr>
            </a:pPr>
            <a:r>
              <a:t>Net outlay drops to $1.86/W, delivering rapid simple payback within 2.6 to 4.5 years under standard commercial tariffs.</a:t>
            </a:r>
          </a:p>
        </p:txBody>
      </p:sp>
      <p:sp>
        <p:nvSpPr>
          <p:cNvPr id="18" name="Rounded Rectangle 17"/>
          <p:cNvSpPr/>
          <p:nvPr/>
        </p:nvSpPr>
        <p:spPr>
          <a:xfrm>
            <a:off x="548640" y="4297680"/>
            <a:ext cx="11094415" cy="2103120"/>
          </a:xfrm>
          <a:prstGeom prst="roundRect">
            <a:avLst/>
          </a:prstGeom>
          <a:solidFill>
            <a:srgbClr val="111827"/>
          </a:solidFill>
          <a:ln w="12700">
            <a:solidFill>
              <a:srgbClr val="1F29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8640" y="4297680"/>
            <a:ext cx="11094415" cy="45720"/>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389120"/>
            <a:ext cx="10607040" cy="1920240"/>
          </a:xfrm>
          <a:prstGeom prst="rect">
            <a:avLst/>
          </a:prstGeom>
          <a:noFill/>
        </p:spPr>
        <p:txBody>
          <a:bodyPr wrap="square">
            <a:spAutoFit/>
          </a:bodyPr>
          <a:lstStyle/>
          <a:p>
            <a:pPr>
              <a:defRPr sz="1050" b="1">
                <a:solidFill>
                  <a:srgbClr val="10B981"/>
                </a:solidFill>
              </a:defRPr>
            </a:pPr>
            <a:r>
              <a:t>DYNAMIC 25-YEAR DISCOUNTED CASHFLOW (DCF) FORMULATION</a:t>
            </a:r>
          </a:p>
        </p:txBody>
      </p:sp>
      <p:sp>
        <p:nvSpPr>
          <p:cNvPr id="21" name="Rounded Rectangle 20"/>
          <p:cNvSpPr/>
          <p:nvPr/>
        </p:nvSpPr>
        <p:spPr>
          <a:xfrm>
            <a:off x="777240" y="4709160"/>
            <a:ext cx="10607040" cy="822960"/>
          </a:xfrm>
          <a:prstGeom prst="roundRect">
            <a:avLst/>
          </a:prstGeom>
          <a:solidFill>
            <a:srgbClr val="0B1120"/>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77240" y="4709160"/>
            <a:ext cx="45720" cy="82296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6968" y="4764024"/>
            <a:ext cx="10387584" cy="713232"/>
          </a:xfrm>
          <a:prstGeom prst="rect">
            <a:avLst/>
          </a:prstGeom>
          <a:noFill/>
        </p:spPr>
        <p:txBody>
          <a:bodyPr wrap="square">
            <a:spAutoFit/>
          </a:bodyPr>
          <a:lstStyle/>
          <a:p>
            <a:pPr>
              <a:defRPr sz="950" b="1">
                <a:solidFill>
                  <a:srgbClr val="E0F2FE"/>
                </a:solidFill>
              </a:defRPr>
            </a:pPr>
            <a:r>
              <a:t>D_25 = sum_{y=1}^{25} [ (E_AC * (1 - 0.005)^{y-1} * T_comm * (1 + 0.025)^{y-1}) - (P_DC * $15 * (1 + 0.02)^{y-1}) ] - C_net</a:t>
            </a:r>
          </a:p>
          <a:p>
            <a:pPr>
              <a:spcBef>
                <a:spcPts val="200"/>
              </a:spcBef>
              <a:defRPr sz="800">
                <a:solidFill>
                  <a:srgbClr val="9CA3AF"/>
                </a:solidFill>
              </a:defRPr>
            </a:pPr>
            <a:r>
              <a:t>Where y is year, module degradation is 0.5%/yr, tariff escalation is 2.5%/yr, and O&amp;M inflation is 2.0%/yr (with Year 15 inverter replacement reserve).</a:t>
            </a:r>
          </a:p>
        </p:txBody>
      </p:sp>
      <p:sp>
        <p:nvSpPr>
          <p:cNvPr id="24" name="TextBox 23"/>
          <p:cNvSpPr txBox="1"/>
          <p:nvPr/>
        </p:nvSpPr>
        <p:spPr>
          <a:xfrm>
            <a:off x="777240" y="5623560"/>
            <a:ext cx="10607040" cy="640080"/>
          </a:xfrm>
          <a:prstGeom prst="rect">
            <a:avLst/>
          </a:prstGeom>
          <a:noFill/>
        </p:spPr>
        <p:txBody>
          <a:bodyPr wrap="square">
            <a:spAutoFit/>
          </a:bodyPr>
          <a:lstStyle/>
          <a:p>
            <a:pPr>
              <a:defRPr sz="1000" b="1">
                <a:solidFill>
                  <a:srgbClr val="F3F4F6"/>
                </a:solidFill>
              </a:defRPr>
            </a:pPr>
            <a:r>
              <a:t>Monta Vista High 25-Yr Net Operating Dividend: $14,692,450   |   Palo Alto High 25-Yr Net Operating Dividend: $11,139,946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D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09728"/>
            <a:ext cx="2011680" cy="292608"/>
          </a:xfrm>
          <a:prstGeom prst="round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850" b="1">
                <a:solidFill>
                  <a:srgbClr val="FFFFFF"/>
                </a:solidFill>
              </a:defRPr>
            </a:pPr>
            <a:r>
              <a:t>STANFORD CLIMATE WEEK</a:t>
            </a:r>
          </a:p>
        </p:txBody>
      </p:sp>
      <p:sp>
        <p:nvSpPr>
          <p:cNvPr id="5" name="TextBox 4"/>
          <p:cNvSpPr txBox="1"/>
          <p:nvPr/>
        </p:nvSpPr>
        <p:spPr>
          <a:xfrm>
            <a:off x="2606040" y="73152"/>
            <a:ext cx="5943600" cy="365760"/>
          </a:xfrm>
          <a:prstGeom prst="rect">
            <a:avLst/>
          </a:prstGeom>
          <a:noFill/>
        </p:spPr>
        <p:txBody>
          <a:bodyPr wrap="none">
            <a:spAutoFit/>
          </a:bodyPr>
          <a:lstStyle/>
          <a:p>
            <a:pPr>
              <a:defRPr sz="950">
                <a:solidFill>
                  <a:srgbClr val="9CA3AF"/>
                </a:solidFill>
              </a:defRPr>
            </a:pPr>
            <a:r>
              <a:t>SVYCA Youth For Earth Hackathon | Systems Architecture &amp; Climate Finance</a:t>
            </a:r>
          </a:p>
        </p:txBody>
      </p:sp>
      <p:sp>
        <p:nvSpPr>
          <p:cNvPr id="6" name="TextBox 5"/>
          <p:cNvSpPr txBox="1"/>
          <p:nvPr/>
        </p:nvSpPr>
        <p:spPr>
          <a:xfrm>
            <a:off x="10241280" y="73152"/>
            <a:ext cx="1463040" cy="365760"/>
          </a:xfrm>
          <a:prstGeom prst="rect">
            <a:avLst/>
          </a:prstGeom>
          <a:noFill/>
        </p:spPr>
        <p:txBody>
          <a:bodyPr wrap="none">
            <a:spAutoFit/>
          </a:bodyPr>
          <a:lstStyle/>
          <a:p>
            <a:pPr algn="r">
              <a:defRPr sz="1000" b="1">
                <a:solidFill>
                  <a:srgbClr val="38BDF8"/>
                </a:solidFill>
              </a:defRPr>
            </a:pPr>
            <a:r>
              <a:t>08 / 10</a:t>
            </a:r>
          </a:p>
        </p:txBody>
      </p:sp>
      <p:sp>
        <p:nvSpPr>
          <p:cNvPr id="7" name="Rectangle 6"/>
          <p:cNvSpPr/>
          <p:nvPr/>
        </p:nvSpPr>
        <p:spPr>
          <a:xfrm>
            <a:off x="0" y="493776"/>
            <a:ext cx="9753356" cy="2743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21792"/>
            <a:ext cx="11091672" cy="1005840"/>
          </a:xfrm>
          <a:prstGeom prst="rect">
            <a:avLst/>
          </a:prstGeom>
          <a:noFill/>
        </p:spPr>
        <p:txBody>
          <a:bodyPr wrap="square" lIns="0" tIns="0" rIns="0" bIns="0">
            <a:spAutoFit/>
          </a:bodyPr>
          <a:lstStyle/>
          <a:p>
            <a:pPr>
              <a:defRPr sz="900" b="1">
                <a:solidFill>
                  <a:srgbClr val="38BDF8"/>
                </a:solidFill>
              </a:defRPr>
            </a:pPr>
            <a:r>
              <a:t>ENGINEERING SPECIFICATIONS</a:t>
            </a:r>
          </a:p>
          <a:p>
            <a:pPr>
              <a:spcBef>
                <a:spcPts val="200"/>
              </a:spcBef>
              <a:defRPr sz="2100" b="1">
                <a:solidFill>
                  <a:srgbClr val="F3F4F6"/>
                </a:solidFill>
              </a:defRPr>
            </a:pPr>
            <a:r>
              <a:t>Structural Steel &amp; Electrical Interconnection</a:t>
            </a:r>
          </a:p>
          <a:p>
            <a:pPr>
              <a:spcBef>
                <a:spcPts val="300"/>
              </a:spcBef>
              <a:defRPr sz="1100">
                <a:solidFill>
                  <a:srgbClr val="9CA3AF"/>
                </a:solidFill>
              </a:defRPr>
            </a:pPr>
            <a:r>
              <a:t>Engineered to comply with ASCE 7-16 structural codes, California Title 24, and IEEE 1547-2018 standards.</a:t>
            </a:r>
          </a:p>
        </p:txBody>
      </p:sp>
      <p:sp>
        <p:nvSpPr>
          <p:cNvPr id="9" name="Rounded Rectangle 8"/>
          <p:cNvSpPr/>
          <p:nvPr/>
        </p:nvSpPr>
        <p:spPr>
          <a:xfrm>
            <a:off x="548640" y="1737360"/>
            <a:ext cx="5394960" cy="4663440"/>
          </a:xfrm>
          <a:prstGeom prst="roundRect">
            <a:avLst/>
          </a:prstGeom>
          <a:solidFill>
            <a:srgbClr val="111827"/>
          </a:solidFill>
          <a:ln w="12700">
            <a:solidFill>
              <a:srgbClr val="1F29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1737360"/>
            <a:ext cx="5394960" cy="4572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874519"/>
            <a:ext cx="4937760" cy="4389120"/>
          </a:xfrm>
          <a:prstGeom prst="rect">
            <a:avLst/>
          </a:prstGeom>
          <a:noFill/>
        </p:spPr>
        <p:txBody>
          <a:bodyPr wrap="square">
            <a:spAutoFit/>
          </a:bodyPr>
          <a:lstStyle/>
          <a:p>
            <a:pPr>
              <a:defRPr sz="1100" b="1">
                <a:solidFill>
                  <a:srgbClr val="38BDF8"/>
                </a:solidFill>
              </a:defRPr>
            </a:pPr>
            <a:r>
              <a:t>STRUCTURAL CIVIL ENGINEERING SPECIFICATIONS</a:t>
            </a:r>
          </a:p>
          <a:p>
            <a:pPr>
              <a:spcBef>
                <a:spcPts val="600"/>
              </a:spcBef>
              <a:defRPr sz="900" b="1">
                <a:solidFill>
                  <a:srgbClr val="F3F4F6"/>
                </a:solidFill>
              </a:defRPr>
            </a:pPr>
            <a:r>
              <a:t>Superstructure Steel:</a:t>
            </a:r>
          </a:p>
          <a:p>
            <a:pPr>
              <a:defRPr sz="850">
                <a:solidFill>
                  <a:srgbClr val="9CA3AF"/>
                </a:solidFill>
              </a:defRPr>
            </a:pPr>
            <a:r>
              <a:t>ASTM A992 structural wide-flange columns and cold-formed C-channel purlins with hot-dip galvanized coating (ASTM A123).</a:t>
            </a:r>
          </a:p>
          <a:p>
            <a:pPr>
              <a:spcBef>
                <a:spcPts val="600"/>
              </a:spcBef>
              <a:defRPr sz="900" b="1">
                <a:solidFill>
                  <a:srgbClr val="F3F4F6"/>
                </a:solidFill>
              </a:defRPr>
            </a:pPr>
            <a:r>
              <a:t>Foundation System:</a:t>
            </a:r>
          </a:p>
          <a:p>
            <a:pPr>
              <a:defRPr sz="850">
                <a:solidFill>
                  <a:srgbClr val="9CA3AF"/>
                </a:solidFill>
              </a:defRPr>
            </a:pPr>
            <a:r>
              <a:t>Cast-in-drilled-hole (CIDH) reinforced concrete cylindrical piers (30–36 in diameter, 8–12 ft depth) resisting lateral soil overturning.</a:t>
            </a:r>
          </a:p>
          <a:p>
            <a:pPr>
              <a:spcBef>
                <a:spcPts val="600"/>
              </a:spcBef>
              <a:defRPr sz="900" b="1">
                <a:solidFill>
                  <a:srgbClr val="F3F4F6"/>
                </a:solidFill>
              </a:defRPr>
            </a:pPr>
            <a:r>
              <a:t>Vertical Clearance:</a:t>
            </a:r>
          </a:p>
          <a:p>
            <a:pPr>
              <a:defRPr sz="850">
                <a:solidFill>
                  <a:srgbClr val="9CA3AF"/>
                </a:solidFill>
              </a:defRPr>
            </a:pPr>
            <a:r>
              <a:t>14.0 ft minimum vertical clearance under lowest purlin to permit school bus and emergency apparatus transit (CA Fire Code Title 24 § 503).</a:t>
            </a:r>
          </a:p>
          <a:p>
            <a:pPr>
              <a:spcBef>
                <a:spcPts val="600"/>
              </a:spcBef>
              <a:defRPr sz="900" b="1">
                <a:solidFill>
                  <a:srgbClr val="F3F4F6"/>
                </a:solidFill>
              </a:defRPr>
            </a:pPr>
            <a:r>
              <a:t>Wind &amp; Seismic Rating:</a:t>
            </a:r>
          </a:p>
          <a:p>
            <a:pPr>
              <a:defRPr sz="850">
                <a:solidFill>
                  <a:srgbClr val="9CA3AF"/>
                </a:solidFill>
              </a:defRPr>
            </a:pPr>
            <a:r>
              <a:t>ASCE 7-16 structural engineering compliance rated for 110 mph basic wind speed and CBC Seismic Design Category D.</a:t>
            </a:r>
          </a:p>
          <a:p>
            <a:pPr>
              <a:spcBef>
                <a:spcPts val="600"/>
              </a:spcBef>
              <a:defRPr sz="900" b="1">
                <a:solidFill>
                  <a:srgbClr val="F3F4F6"/>
                </a:solidFill>
              </a:defRPr>
            </a:pPr>
            <a:r>
              <a:t>Stormwater Drainage:</a:t>
            </a:r>
          </a:p>
          <a:p>
            <a:pPr>
              <a:defRPr sz="850">
                <a:solidFill>
                  <a:srgbClr val="9CA3AF"/>
                </a:solidFill>
              </a:defRPr>
            </a:pPr>
            <a:r>
              <a:t>Integrated gutter collectors and internal column downspouts preventing sheet flow across walking aisles.</a:t>
            </a:r>
          </a:p>
        </p:txBody>
      </p:sp>
      <p:sp>
        <p:nvSpPr>
          <p:cNvPr id="12" name="Rounded Rectangle 11"/>
          <p:cNvSpPr/>
          <p:nvPr/>
        </p:nvSpPr>
        <p:spPr>
          <a:xfrm>
            <a:off x="6217920" y="1737360"/>
            <a:ext cx="5394960" cy="4663440"/>
          </a:xfrm>
          <a:prstGeom prst="roundRect">
            <a:avLst/>
          </a:prstGeom>
          <a:solidFill>
            <a:srgbClr val="111827"/>
          </a:solidFill>
          <a:ln w="12700">
            <a:solidFill>
              <a:srgbClr val="1F29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0" y="1737360"/>
            <a:ext cx="5394960" cy="4572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874519"/>
            <a:ext cx="4937760" cy="4389120"/>
          </a:xfrm>
          <a:prstGeom prst="rect">
            <a:avLst/>
          </a:prstGeom>
          <a:noFill/>
        </p:spPr>
        <p:txBody>
          <a:bodyPr wrap="square">
            <a:spAutoFit/>
          </a:bodyPr>
          <a:lstStyle/>
          <a:p>
            <a:pPr>
              <a:defRPr sz="1100" b="1">
                <a:solidFill>
                  <a:srgbClr val="38BDF8"/>
                </a:solidFill>
              </a:defRPr>
            </a:pPr>
            <a:r>
              <a:t>ELECTRICAL &amp; GRID INTERCONNECTION SPECIFICATIONS</a:t>
            </a:r>
          </a:p>
          <a:p>
            <a:pPr>
              <a:spcBef>
                <a:spcPts val="600"/>
              </a:spcBef>
              <a:defRPr sz="900" b="1">
                <a:solidFill>
                  <a:srgbClr val="F3F4F6"/>
                </a:solidFill>
              </a:defRPr>
            </a:pPr>
            <a:r>
              <a:t>Interconnection Voltage:</a:t>
            </a:r>
          </a:p>
          <a:p>
            <a:pPr>
              <a:defRPr sz="850">
                <a:solidFill>
                  <a:srgbClr val="9CA3AF"/>
                </a:solidFill>
              </a:defRPr>
            </a:pPr>
            <a:r>
              <a:t>480V / 277V, 3-Phase, 4-Wire Wye utility distribution interconnection at campus main switchgear (MSB).</a:t>
            </a:r>
          </a:p>
          <a:p>
            <a:pPr>
              <a:spcBef>
                <a:spcPts val="600"/>
              </a:spcBef>
              <a:defRPr sz="900" b="1">
                <a:solidFill>
                  <a:srgbClr val="F3F4F6"/>
                </a:solidFill>
              </a:defRPr>
            </a:pPr>
            <a:r>
              <a:t>Smart Inverter Standards:</a:t>
            </a:r>
          </a:p>
          <a:p>
            <a:pPr>
              <a:defRPr sz="850">
                <a:solidFill>
                  <a:srgbClr val="9CA3AF"/>
                </a:solidFill>
              </a:defRPr>
            </a:pPr>
            <a:r>
              <a:t>IEEE 1547-2018 and California Rule 21 compliant with advanced Volt-VAR and Volt-Watt dynamic grid stabilization functions.</a:t>
            </a:r>
          </a:p>
          <a:p>
            <a:pPr>
              <a:spcBef>
                <a:spcPts val="600"/>
              </a:spcBef>
              <a:defRPr sz="900" b="1">
                <a:solidFill>
                  <a:srgbClr val="F3F4F6"/>
                </a:solidFill>
              </a:defRPr>
            </a:pPr>
            <a:r>
              <a:t>Underground Feeders:</a:t>
            </a:r>
          </a:p>
          <a:p>
            <a:pPr>
              <a:defRPr sz="850">
                <a:solidFill>
                  <a:srgbClr val="9CA3AF"/>
                </a:solidFill>
              </a:defRPr>
            </a:pPr>
            <a:r>
              <a:t>Schedule 40 PVC electrical conduit encased in concrete duct bank with 24-inch minimum burial depth under asphalt.</a:t>
            </a:r>
          </a:p>
          <a:p>
            <a:pPr>
              <a:spcBef>
                <a:spcPts val="600"/>
              </a:spcBef>
              <a:defRPr sz="900" b="1">
                <a:solidFill>
                  <a:srgbClr val="F3F4F6"/>
                </a:solidFill>
              </a:defRPr>
            </a:pPr>
            <a:r>
              <a:t>Fleet Electrification Ready:</a:t>
            </a:r>
          </a:p>
          <a:p>
            <a:pPr>
              <a:defRPr sz="850">
                <a:solidFill>
                  <a:srgbClr val="9CA3AF"/>
                </a:solidFill>
              </a:defRPr>
            </a:pPr>
            <a:r>
              <a:t>Dedicated 200A 480V distribution subpanel feeding integrated Level 2 EV charging pedestals for staff and overnight fleet charging.</a:t>
            </a:r>
          </a:p>
          <a:p>
            <a:pPr>
              <a:spcBef>
                <a:spcPts val="600"/>
              </a:spcBef>
              <a:defRPr sz="900" b="1">
                <a:solidFill>
                  <a:srgbClr val="F3F4F6"/>
                </a:solidFill>
              </a:defRPr>
            </a:pPr>
            <a:r>
              <a:t>Telemetry &amp; Monitoring:</a:t>
            </a:r>
          </a:p>
          <a:p>
            <a:pPr>
              <a:defRPr sz="850">
                <a:solidFill>
                  <a:srgbClr val="9CA3AF"/>
                </a:solidFill>
              </a:defRPr>
            </a:pPr>
            <a:r>
              <a:t>Revenue-grade bidirectional utility interval meter with cellular telemetry transmitting generation data to student science dashboards.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D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09728"/>
            <a:ext cx="2011680" cy="292608"/>
          </a:xfrm>
          <a:prstGeom prst="round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850" b="1">
                <a:solidFill>
                  <a:srgbClr val="FFFFFF"/>
                </a:solidFill>
              </a:defRPr>
            </a:pPr>
            <a:r>
              <a:t>STANFORD CLIMATE WEEK</a:t>
            </a:r>
          </a:p>
        </p:txBody>
      </p:sp>
      <p:sp>
        <p:nvSpPr>
          <p:cNvPr id="5" name="TextBox 4"/>
          <p:cNvSpPr txBox="1"/>
          <p:nvPr/>
        </p:nvSpPr>
        <p:spPr>
          <a:xfrm>
            <a:off x="2606040" y="73152"/>
            <a:ext cx="5943600" cy="365760"/>
          </a:xfrm>
          <a:prstGeom prst="rect">
            <a:avLst/>
          </a:prstGeom>
          <a:noFill/>
        </p:spPr>
        <p:txBody>
          <a:bodyPr wrap="none">
            <a:spAutoFit/>
          </a:bodyPr>
          <a:lstStyle/>
          <a:p>
            <a:pPr>
              <a:defRPr sz="950">
                <a:solidFill>
                  <a:srgbClr val="9CA3AF"/>
                </a:solidFill>
              </a:defRPr>
            </a:pPr>
            <a:r>
              <a:t>SVYCA Youth For Earth Hackathon | Systems Architecture &amp; Climate Finance</a:t>
            </a:r>
          </a:p>
        </p:txBody>
      </p:sp>
      <p:sp>
        <p:nvSpPr>
          <p:cNvPr id="6" name="TextBox 5"/>
          <p:cNvSpPr txBox="1"/>
          <p:nvPr/>
        </p:nvSpPr>
        <p:spPr>
          <a:xfrm>
            <a:off x="10241280" y="73152"/>
            <a:ext cx="1463040" cy="365760"/>
          </a:xfrm>
          <a:prstGeom prst="rect">
            <a:avLst/>
          </a:prstGeom>
          <a:noFill/>
        </p:spPr>
        <p:txBody>
          <a:bodyPr wrap="none">
            <a:spAutoFit/>
          </a:bodyPr>
          <a:lstStyle/>
          <a:p>
            <a:pPr algn="r">
              <a:defRPr sz="1000" b="1">
                <a:solidFill>
                  <a:srgbClr val="38BDF8"/>
                </a:solidFill>
              </a:defRPr>
            </a:pPr>
            <a:r>
              <a:t>09 / 10</a:t>
            </a:r>
          </a:p>
        </p:txBody>
      </p:sp>
      <p:sp>
        <p:nvSpPr>
          <p:cNvPr id="7" name="Rectangle 6"/>
          <p:cNvSpPr/>
          <p:nvPr/>
        </p:nvSpPr>
        <p:spPr>
          <a:xfrm>
            <a:off x="0" y="493776"/>
            <a:ext cx="10972525" cy="2743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21792"/>
            <a:ext cx="11091672" cy="1005840"/>
          </a:xfrm>
          <a:prstGeom prst="rect">
            <a:avLst/>
          </a:prstGeom>
          <a:noFill/>
        </p:spPr>
        <p:txBody>
          <a:bodyPr wrap="square" lIns="0" tIns="0" rIns="0" bIns="0">
            <a:spAutoFit/>
          </a:bodyPr>
          <a:lstStyle/>
          <a:p>
            <a:pPr>
              <a:defRPr sz="900" b="1">
                <a:solidFill>
                  <a:srgbClr val="38BDF8"/>
                </a:solidFill>
              </a:defRPr>
            </a:pPr>
            <a:r>
              <a:t>GEOSPATIAL EXPANSION &amp; ENVIRONMENTAL JUSTICE</a:t>
            </a:r>
          </a:p>
          <a:p>
            <a:pPr>
              <a:spcBef>
                <a:spcPts val="200"/>
              </a:spcBef>
              <a:defRPr sz="2100" b="1">
                <a:solidFill>
                  <a:srgbClr val="F3F4F6"/>
                </a:solidFill>
              </a:defRPr>
            </a:pPr>
            <a:r>
              <a:t>3-Phase Scalability &amp; Environmental Justice</a:t>
            </a:r>
          </a:p>
          <a:p>
            <a:pPr>
              <a:spcBef>
                <a:spcPts val="300"/>
              </a:spcBef>
              <a:defRPr sz="1100">
                <a:solidFill>
                  <a:srgbClr val="9CA3AF"/>
                </a:solidFill>
              </a:defRPr>
            </a:pPr>
            <a:r>
              <a:t>Structured data architecture scaling from local Silicon Valley calibration to all 100,000+ US public campuses.</a:t>
            </a:r>
          </a:p>
        </p:txBody>
      </p:sp>
      <p:sp>
        <p:nvSpPr>
          <p:cNvPr id="9" name="Rounded Rectangle 8"/>
          <p:cNvSpPr/>
          <p:nvPr/>
        </p:nvSpPr>
        <p:spPr>
          <a:xfrm>
            <a:off x="548640" y="1737360"/>
            <a:ext cx="3474720" cy="3291840"/>
          </a:xfrm>
          <a:prstGeom prst="roundRect">
            <a:avLst/>
          </a:prstGeom>
          <a:solidFill>
            <a:srgbClr val="111827"/>
          </a:solidFill>
          <a:ln w="12700">
            <a:solidFill>
              <a:srgbClr val="1F29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1737360"/>
            <a:ext cx="3474720" cy="4572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874519"/>
            <a:ext cx="3108960" cy="3017520"/>
          </a:xfrm>
          <a:prstGeom prst="rect">
            <a:avLst/>
          </a:prstGeom>
          <a:noFill/>
        </p:spPr>
        <p:txBody>
          <a:bodyPr wrap="square">
            <a:spAutoFit/>
          </a:bodyPr>
          <a:lstStyle/>
          <a:p>
            <a:pPr>
              <a:defRPr sz="2600" b="1">
                <a:solidFill>
                  <a:srgbClr val="38BDF8"/>
                </a:solidFill>
              </a:defRPr>
            </a:pPr>
            <a:r>
              <a:t>Phase 1</a:t>
            </a:r>
          </a:p>
          <a:p>
            <a:pPr>
              <a:spcBef>
                <a:spcPts val="300"/>
              </a:spcBef>
              <a:defRPr sz="1050" b="1">
                <a:solidFill>
                  <a:srgbClr val="F3F4F6"/>
                </a:solidFill>
              </a:defRPr>
            </a:pPr>
            <a:r>
              <a:t>SAN FRANCISCO BAY AREA</a:t>
            </a:r>
          </a:p>
          <a:p>
            <a:pPr>
              <a:spcBef>
                <a:spcPts val="300"/>
              </a:spcBef>
              <a:defRPr sz="900" b="1">
                <a:solidFill>
                  <a:srgbClr val="38BDF8"/>
                </a:solidFill>
              </a:defRPr>
            </a:pPr>
            <a:r>
              <a:t>9 Counties &amp; 18 Campuses</a:t>
            </a:r>
          </a:p>
          <a:p>
            <a:pPr>
              <a:spcBef>
                <a:spcPts val="800"/>
              </a:spcBef>
              <a:defRPr sz="900">
                <a:solidFill>
                  <a:srgbClr val="9CA3AF"/>
                </a:solidFill>
              </a:defRPr>
            </a:pPr>
            <a:r>
              <a:t>Calibrated against active arrays in Cupertino Union (5.2 MW) and Fremont Union High School District under PG&amp;E Schedule B-19.</a:t>
            </a:r>
            <a:br/>
            <a:br/>
            <a:r>
              <a:t>Status: Verified &amp; Ground-Truthed</a:t>
            </a:r>
          </a:p>
        </p:txBody>
      </p:sp>
      <p:sp>
        <p:nvSpPr>
          <p:cNvPr id="12" name="Rounded Rectangle 11"/>
          <p:cNvSpPr/>
          <p:nvPr/>
        </p:nvSpPr>
        <p:spPr>
          <a:xfrm>
            <a:off x="4343400" y="1737360"/>
            <a:ext cx="3474720" cy="3291840"/>
          </a:xfrm>
          <a:prstGeom prst="roundRect">
            <a:avLst/>
          </a:prstGeom>
          <a:solidFill>
            <a:srgbClr val="111827"/>
          </a:solidFill>
          <a:ln w="12700">
            <a:solidFill>
              <a:srgbClr val="1F29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43400" y="1737360"/>
            <a:ext cx="3474720" cy="4572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26280" y="1874519"/>
            <a:ext cx="3108960" cy="3017520"/>
          </a:xfrm>
          <a:prstGeom prst="rect">
            <a:avLst/>
          </a:prstGeom>
          <a:noFill/>
        </p:spPr>
        <p:txBody>
          <a:bodyPr wrap="square">
            <a:spAutoFit/>
          </a:bodyPr>
          <a:lstStyle/>
          <a:p>
            <a:pPr>
              <a:defRPr sz="2600" b="1">
                <a:solidFill>
                  <a:srgbClr val="38BDF8"/>
                </a:solidFill>
              </a:defRPr>
            </a:pPr>
            <a:r>
              <a:t>Phase 2</a:t>
            </a:r>
          </a:p>
          <a:p>
            <a:pPr>
              <a:spcBef>
                <a:spcPts val="300"/>
              </a:spcBef>
              <a:defRPr sz="1050" b="1">
                <a:solidFill>
                  <a:srgbClr val="F3F4F6"/>
                </a:solidFill>
              </a:defRPr>
            </a:pPr>
            <a:r>
              <a:t>CALIFORNIA STATEWIDE</a:t>
            </a:r>
          </a:p>
          <a:p>
            <a:pPr>
              <a:spcBef>
                <a:spcPts val="300"/>
              </a:spcBef>
              <a:defRPr sz="900" b="1">
                <a:solidFill>
                  <a:srgbClr val="38BDF8"/>
                </a:solidFill>
              </a:defRPr>
            </a:pPr>
            <a:r>
              <a:t>58 Counties &amp; 10,000 Schools</a:t>
            </a:r>
          </a:p>
          <a:p>
            <a:pPr>
              <a:spcBef>
                <a:spcPts val="800"/>
              </a:spcBef>
              <a:defRPr sz="900">
                <a:solidFill>
                  <a:srgbClr val="9CA3AF"/>
                </a:solidFill>
              </a:defRPr>
            </a:pPr>
            <a:r>
              <a:t>Ingests California Department of Education directory. Integrates CalEnviroScreen 4.0 equity scoring, Title 24 solar mandates, and SCE/SDG&amp;E/SMUD commercial utility rates.</a:t>
            </a:r>
            <a:br/>
            <a:br/>
            <a:r>
              <a:t>Status: Architecture Specified</a:t>
            </a:r>
          </a:p>
        </p:txBody>
      </p:sp>
      <p:sp>
        <p:nvSpPr>
          <p:cNvPr id="15" name="Rounded Rectangle 14"/>
          <p:cNvSpPr/>
          <p:nvPr/>
        </p:nvSpPr>
        <p:spPr>
          <a:xfrm>
            <a:off x="8138160" y="1737360"/>
            <a:ext cx="3474720" cy="3291840"/>
          </a:xfrm>
          <a:prstGeom prst="roundRect">
            <a:avLst/>
          </a:prstGeom>
          <a:solidFill>
            <a:srgbClr val="111827"/>
          </a:solidFill>
          <a:ln w="12700">
            <a:solidFill>
              <a:srgbClr val="1F29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138160" y="1737360"/>
            <a:ext cx="3474720" cy="45720"/>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0" y="1874519"/>
            <a:ext cx="3108960" cy="3017520"/>
          </a:xfrm>
          <a:prstGeom prst="rect">
            <a:avLst/>
          </a:prstGeom>
          <a:noFill/>
        </p:spPr>
        <p:txBody>
          <a:bodyPr wrap="square">
            <a:spAutoFit/>
          </a:bodyPr>
          <a:lstStyle/>
          <a:p>
            <a:pPr>
              <a:defRPr sz="2600" b="1">
                <a:solidFill>
                  <a:srgbClr val="10B981"/>
                </a:solidFill>
              </a:defRPr>
            </a:pPr>
            <a:r>
              <a:t>Phase 3</a:t>
            </a:r>
          </a:p>
          <a:p>
            <a:pPr>
              <a:spcBef>
                <a:spcPts val="300"/>
              </a:spcBef>
              <a:defRPr sz="1050" b="1">
                <a:solidFill>
                  <a:srgbClr val="F3F4F6"/>
                </a:solidFill>
              </a:defRPr>
            </a:pPr>
            <a:r>
              <a:t>NATIONWIDE USA</a:t>
            </a:r>
          </a:p>
          <a:p>
            <a:pPr>
              <a:spcBef>
                <a:spcPts val="300"/>
              </a:spcBef>
              <a:defRPr sz="900" b="1">
                <a:solidFill>
                  <a:srgbClr val="38BDF8"/>
                </a:solidFill>
              </a:defRPr>
            </a:pPr>
            <a:r>
              <a:t>50 States &amp; 100,000+ Schools</a:t>
            </a:r>
          </a:p>
          <a:p>
            <a:pPr>
              <a:spcBef>
                <a:spcPts val="800"/>
              </a:spcBef>
              <a:defRPr sz="900">
                <a:solidFill>
                  <a:srgbClr val="9CA3AF"/>
                </a:solidFill>
              </a:defRPr>
            </a:pPr>
            <a:r>
              <a:t>Scales via National Center for Education Statistics (NCES) directory, state EIA commercial electricity rates, and EPA eGRID subregion carbon intensity factors.</a:t>
            </a:r>
            <a:br/>
            <a:br/>
            <a:r>
              <a:t>Status: National Architecture</a:t>
            </a:r>
          </a:p>
        </p:txBody>
      </p:sp>
      <p:sp>
        <p:nvSpPr>
          <p:cNvPr id="18" name="Rounded Rectangle 17"/>
          <p:cNvSpPr/>
          <p:nvPr/>
        </p:nvSpPr>
        <p:spPr>
          <a:xfrm>
            <a:off x="548640" y="5212080"/>
            <a:ext cx="11094415" cy="1188720"/>
          </a:xfrm>
          <a:prstGeom prst="roundRect">
            <a:avLst/>
          </a:prstGeom>
          <a:solidFill>
            <a:srgbClr val="111827"/>
          </a:solidFill>
          <a:ln w="12700">
            <a:solidFill>
              <a:srgbClr val="1F29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8640" y="5212080"/>
            <a:ext cx="11094415" cy="45720"/>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285232"/>
            <a:ext cx="10607040" cy="1005840"/>
          </a:xfrm>
          <a:prstGeom prst="rect">
            <a:avLst/>
          </a:prstGeom>
          <a:noFill/>
        </p:spPr>
        <p:txBody>
          <a:bodyPr wrap="square">
            <a:spAutoFit/>
          </a:bodyPr>
          <a:lstStyle/>
          <a:p>
            <a:pPr>
              <a:defRPr sz="950" b="1">
                <a:solidFill>
                  <a:srgbClr val="10B981"/>
                </a:solidFill>
              </a:defRPr>
            </a:pPr>
            <a:r>
              <a:t>EPA eGRID REGIONAL GRID CARBON INTENSITY FACTORS (Scope 2 GHG Avoidance)</a:t>
            </a:r>
          </a:p>
          <a:p>
            <a:pPr>
              <a:spcBef>
                <a:spcPts val="300"/>
              </a:spcBef>
              <a:defRPr sz="900">
                <a:solidFill>
                  <a:srgbClr val="F3F4F6"/>
                </a:solidFill>
              </a:defRPr>
            </a:pPr>
            <a:r>
              <a:t>CAMX (California / WECC): 0.45 lbs CO2 / kWh  |  ERCOT (Texas): 0.88 lbs CO2 / kWh  |  RFCW (Midwest): 1.12 lbs CO2 / kWh</a:t>
            </a:r>
            <a:br/>
            <a:r>
              <a:t>Key Environmental Justice Finding: Installing a solar canopy in coal-heavy Midwest grids yields 2.5x higher carbon avoidance per watt than in California.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D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09728"/>
            <a:ext cx="2011680" cy="292608"/>
          </a:xfrm>
          <a:prstGeom prst="round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850" b="1">
                <a:solidFill>
                  <a:srgbClr val="FFFFFF"/>
                </a:solidFill>
              </a:defRPr>
            </a:pPr>
            <a:r>
              <a:t>STANFORD CLIMATE WEEK</a:t>
            </a:r>
          </a:p>
        </p:txBody>
      </p:sp>
      <p:sp>
        <p:nvSpPr>
          <p:cNvPr id="5" name="TextBox 4"/>
          <p:cNvSpPr txBox="1"/>
          <p:nvPr/>
        </p:nvSpPr>
        <p:spPr>
          <a:xfrm>
            <a:off x="2606040" y="73152"/>
            <a:ext cx="5943600" cy="365760"/>
          </a:xfrm>
          <a:prstGeom prst="rect">
            <a:avLst/>
          </a:prstGeom>
          <a:noFill/>
        </p:spPr>
        <p:txBody>
          <a:bodyPr wrap="none">
            <a:spAutoFit/>
          </a:bodyPr>
          <a:lstStyle/>
          <a:p>
            <a:pPr>
              <a:defRPr sz="950">
                <a:solidFill>
                  <a:srgbClr val="9CA3AF"/>
                </a:solidFill>
              </a:defRPr>
            </a:pPr>
            <a:r>
              <a:t>SVYCA Youth For Earth Hackathon | Systems Architecture &amp; Climate Finance</a:t>
            </a:r>
          </a:p>
        </p:txBody>
      </p:sp>
      <p:sp>
        <p:nvSpPr>
          <p:cNvPr id="6" name="TextBox 5"/>
          <p:cNvSpPr txBox="1"/>
          <p:nvPr/>
        </p:nvSpPr>
        <p:spPr>
          <a:xfrm>
            <a:off x="10241280" y="73152"/>
            <a:ext cx="1463040" cy="365760"/>
          </a:xfrm>
          <a:prstGeom prst="rect">
            <a:avLst/>
          </a:prstGeom>
          <a:noFill/>
        </p:spPr>
        <p:txBody>
          <a:bodyPr wrap="none">
            <a:spAutoFit/>
          </a:bodyPr>
          <a:lstStyle/>
          <a:p>
            <a:pPr algn="r">
              <a:defRPr sz="1000" b="1">
                <a:solidFill>
                  <a:srgbClr val="38BDF8"/>
                </a:solidFill>
              </a:defRPr>
            </a:pPr>
            <a:r>
              <a:t>10 / 10</a:t>
            </a:r>
          </a:p>
        </p:txBody>
      </p:sp>
      <p:sp>
        <p:nvSpPr>
          <p:cNvPr id="7" name="Rectangle 6"/>
          <p:cNvSpPr/>
          <p:nvPr/>
        </p:nvSpPr>
        <p:spPr>
          <a:xfrm>
            <a:off x="0" y="493776"/>
            <a:ext cx="12191695" cy="2743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21792"/>
            <a:ext cx="11091672" cy="1005840"/>
          </a:xfrm>
          <a:prstGeom prst="rect">
            <a:avLst/>
          </a:prstGeom>
          <a:noFill/>
        </p:spPr>
        <p:txBody>
          <a:bodyPr wrap="square" lIns="0" tIns="0" rIns="0" bIns="0">
            <a:spAutoFit/>
          </a:bodyPr>
          <a:lstStyle/>
          <a:p>
            <a:pPr>
              <a:defRPr sz="900" b="1">
                <a:solidFill>
                  <a:srgbClr val="38BDF8"/>
                </a:solidFill>
              </a:defRPr>
            </a:pPr>
            <a:r>
              <a:t>CIVIC IMPLEMENTATION &amp; GOVERNANCE</a:t>
            </a:r>
          </a:p>
          <a:p>
            <a:pPr>
              <a:spcBef>
                <a:spcPts val="200"/>
              </a:spcBef>
              <a:defRPr sz="2100" b="1">
                <a:solidFill>
                  <a:srgbClr val="F3F4F6"/>
                </a:solidFill>
              </a:defRPr>
            </a:pPr>
            <a:r>
              <a:t>Civic Climax: School Board Resolution Engine</a:t>
            </a:r>
          </a:p>
          <a:p>
            <a:pPr>
              <a:spcBef>
                <a:spcPts val="300"/>
              </a:spcBef>
              <a:defRPr sz="1100">
                <a:solidFill>
                  <a:srgbClr val="9CA3AF"/>
                </a:solidFill>
              </a:defRPr>
            </a:pPr>
            <a:r>
              <a:t>Translating complex engineering and statutory tax law into actionable school board governance.</a:t>
            </a:r>
          </a:p>
        </p:txBody>
      </p:sp>
      <p:sp>
        <p:nvSpPr>
          <p:cNvPr id="9" name="Rounded Rectangle 8"/>
          <p:cNvSpPr/>
          <p:nvPr/>
        </p:nvSpPr>
        <p:spPr>
          <a:xfrm>
            <a:off x="548640" y="1737360"/>
            <a:ext cx="5303520" cy="4663440"/>
          </a:xfrm>
          <a:prstGeom prst="roundRect">
            <a:avLst/>
          </a:prstGeom>
          <a:solidFill>
            <a:srgbClr val="111827"/>
          </a:solidFill>
          <a:ln w="12700">
            <a:solidFill>
              <a:srgbClr val="1F29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1737360"/>
            <a:ext cx="5303520" cy="4572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874519"/>
            <a:ext cx="4846320" cy="4389120"/>
          </a:xfrm>
          <a:prstGeom prst="rect">
            <a:avLst/>
          </a:prstGeom>
          <a:noFill/>
        </p:spPr>
        <p:txBody>
          <a:bodyPr wrap="square">
            <a:spAutoFit/>
          </a:bodyPr>
          <a:lstStyle/>
          <a:p>
            <a:pPr>
              <a:defRPr sz="1100" b="1">
                <a:solidFill>
                  <a:srgbClr val="F3F4F6"/>
                </a:solidFill>
              </a:defRPr>
            </a:pPr>
            <a:r>
              <a:t>AUTOMATED 1-CLICK ACTION BRIEF COMPONENTS</a:t>
            </a:r>
          </a:p>
          <a:p>
            <a:pPr>
              <a:spcBef>
                <a:spcPts val="600"/>
              </a:spcBef>
              <a:defRPr sz="900" b="1">
                <a:solidFill>
                  <a:srgbClr val="38BDF8"/>
                </a:solidFill>
              </a:defRPr>
            </a:pPr>
            <a:r>
              <a:t>1. Engineering Specifications:</a:t>
            </a:r>
          </a:p>
          <a:p>
            <a:pPr>
              <a:defRPr sz="850">
                <a:solidFill>
                  <a:srgbClr val="9CA3AF"/>
                </a:solidFill>
              </a:defRPr>
            </a:pPr>
            <a:r>
              <a:t>System kW DC nameplate, net canopy catchment area (m²), and shaded parking stalls.</a:t>
            </a:r>
          </a:p>
          <a:p>
            <a:pPr>
              <a:spcBef>
                <a:spcPts val="600"/>
              </a:spcBef>
              <a:defRPr sz="900" b="1">
                <a:solidFill>
                  <a:srgbClr val="38BDF8"/>
                </a:solidFill>
              </a:defRPr>
            </a:pPr>
            <a:r>
              <a:t>2. Financial Waterfall Schedule:</a:t>
            </a:r>
          </a:p>
          <a:p>
            <a:pPr>
              <a:defRPr sz="850">
                <a:solidFill>
                  <a:srgbClr val="9CA3AF"/>
                </a:solidFill>
              </a:defRPr>
            </a:pPr>
            <a:r>
              <a:t>Turnkey capex, Section 6417 direct cash reimbursement check, and simple payback years.</a:t>
            </a:r>
          </a:p>
          <a:p>
            <a:pPr>
              <a:spcBef>
                <a:spcPts val="600"/>
              </a:spcBef>
              <a:defRPr sz="900" b="1">
                <a:solidFill>
                  <a:srgbClr val="38BDF8"/>
                </a:solidFill>
              </a:defRPr>
            </a:pPr>
            <a:r>
              <a:t>3. Cost of Inaction Matrix:</a:t>
            </a:r>
          </a:p>
          <a:p>
            <a:pPr>
              <a:defRPr sz="850">
                <a:solidFill>
                  <a:srgbClr val="9CA3AF"/>
                </a:solidFill>
              </a:defRPr>
            </a:pPr>
            <a:r>
              <a:t>Quantified 5-year financial penalty if trustees delay procurement by even a single term.</a:t>
            </a:r>
          </a:p>
          <a:p>
            <a:pPr>
              <a:spcBef>
                <a:spcPts val="600"/>
              </a:spcBef>
              <a:defRPr sz="900" b="1">
                <a:solidFill>
                  <a:srgbClr val="38BDF8"/>
                </a:solidFill>
              </a:defRPr>
            </a:pPr>
            <a:r>
              <a:t>4. IRS Statutory Compliance Guide:</a:t>
            </a:r>
          </a:p>
          <a:p>
            <a:pPr>
              <a:defRPr sz="850">
                <a:solidFill>
                  <a:srgbClr val="9CA3AF"/>
                </a:solidFill>
              </a:defRPr>
            </a:pPr>
            <a:r>
              <a:t>Step-by-step instructions for electronic Pre-Filing Registration and Form 990-T submission.</a:t>
            </a:r>
          </a:p>
          <a:p>
            <a:pPr>
              <a:spcBef>
                <a:spcPts val="600"/>
              </a:spcBef>
              <a:defRPr sz="900" b="1">
                <a:solidFill>
                  <a:srgbClr val="38BDF8"/>
                </a:solidFill>
              </a:defRPr>
            </a:pPr>
            <a:r>
              <a:t>5. Template Board Resolution:</a:t>
            </a:r>
          </a:p>
          <a:p>
            <a:pPr>
              <a:defRPr sz="850">
                <a:solidFill>
                  <a:srgbClr val="9CA3AF"/>
                </a:solidFill>
              </a:defRPr>
            </a:pPr>
            <a:r>
              <a:t>Vote-ready legal language empowering trustees to authorize competitive RFP issuance.</a:t>
            </a:r>
          </a:p>
        </p:txBody>
      </p:sp>
      <p:sp>
        <p:nvSpPr>
          <p:cNvPr id="12" name="Rounded Rectangle 11"/>
          <p:cNvSpPr/>
          <p:nvPr/>
        </p:nvSpPr>
        <p:spPr>
          <a:xfrm>
            <a:off x="6217920" y="1737360"/>
            <a:ext cx="5425135" cy="4663440"/>
          </a:xfrm>
          <a:prstGeom prst="roundRect">
            <a:avLst/>
          </a:prstGeom>
          <a:solidFill>
            <a:srgbClr val="111827"/>
          </a:solidFill>
          <a:ln w="12700">
            <a:solidFill>
              <a:srgbClr val="1F29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0" y="1737360"/>
            <a:ext cx="5425135" cy="45720"/>
          </a:xfrm>
          <a:prstGeom prst="roundRect">
            <a:avLst/>
          </a:prstGeom>
          <a:solidFill>
            <a:srgbClr val="8C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874519"/>
            <a:ext cx="4937760" cy="4389120"/>
          </a:xfrm>
          <a:prstGeom prst="rect">
            <a:avLst/>
          </a:prstGeom>
          <a:noFill/>
        </p:spPr>
        <p:txBody>
          <a:bodyPr wrap="square">
            <a:spAutoFit/>
          </a:bodyPr>
          <a:lstStyle/>
          <a:p>
            <a:pPr>
              <a:defRPr sz="1100" b="1">
                <a:solidFill>
                  <a:srgbClr val="10B981"/>
                </a:solidFill>
              </a:defRPr>
            </a:pPr>
            <a:r>
              <a:t>GENERATED BOARD RESOLUTION LANGUAGE</a:t>
            </a:r>
          </a:p>
          <a:p>
            <a:pPr>
              <a:spcBef>
                <a:spcPts val="600"/>
              </a:spcBef>
              <a:defRPr sz="800">
                <a:solidFill>
                  <a:srgbClr val="CBD5E1"/>
                </a:solidFill>
              </a:defRPr>
            </a:pPr>
            <a:r>
              <a:t>RESOLUTION NO. 2026-SOLAR-01</a:t>
            </a:r>
            <a:br/>
            <a:r>
              <a:t>BOARD OF TRUSTEES, PUBLIC SCHOOL DISTRICT</a:t>
            </a:r>
            <a:br/>
            <a:br/>
            <a:r>
              <a:t>WHEREAS, the District expends substantial operating funds annually on retail electric utility tariffs; and</a:t>
            </a:r>
            <a:br/>
            <a:br/>
            <a:r>
              <a:t>WHEREAS, Section 6417 of the Internal Revenue Code (26 U.S.C. § 6417) provides direct elective cash reimbursement payments from the U.S. Treasury covering 30% to 50% of clean energy canopy installations; and</a:t>
            </a:r>
            <a:br/>
            <a:br/>
            <a:r>
              <a:t>NOW, THEREFORE, BE IT RESOLVED that the Board directs the Superintendent to initiate a competitive RFP for parking lot solar carports to capture available federal Direct Pay funds and protect operating budgets.</a:t>
            </a:r>
          </a:p>
          <a:p>
            <a:pPr>
              <a:spcBef>
                <a:spcPts val="1400"/>
              </a:spcBef>
              <a:defRPr sz="1000" b="1">
                <a:solidFill>
                  <a:srgbClr val="F3F4F6"/>
                </a:solidFill>
              </a:defRPr>
            </a:pPr>
            <a:r>
              <a:t>EVERY YEAR OF DELAY COSTS A SINGLE HIGH SCHOOL $140,000.</a:t>
            </a:r>
          </a:p>
          <a:p>
            <a:pPr>
              <a:defRPr sz="900">
                <a:solidFill>
                  <a:srgbClr val="38BDF8"/>
                </a:solidFill>
              </a:defRPr>
            </a:pPr>
            <a:r>
              <a:t>Let's shade our parking lots, capture federal funds, and power our classrooms.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