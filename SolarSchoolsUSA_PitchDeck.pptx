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[0:00 - 0:25] 'Hi everyone, my name is Pranav Balaji, and I am a 10th grader. Every single morning when we arrive at school, our parking lots sit empty under the blazing sun. At the same time, our school districts spend millions of dollars every year on electric bills. Today I want to show you SolarSchools USA: a web platform I built so any student or school board member can map their school parking lot, calculate solar energy, and download a ready-to-use board proposal in just 10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[0:25 - 0:50] 'Think about what school feels like in August or September. Our parking lots are black asphalt that reaches 140 degrees. Cars turn into ovens, and playgrounds bake. Meanwhile, public schools across the country spend over 8 billion dollars every year on electric bills. Electricity is the second-largest bill a school district pays, right after teacher salaries! And when school boards try to fix this, private consultants charge up to $25,000 just to do an initial study. Most schools give up before they even start.'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[0:50 - 1:15] 'Here is the exciting part that almost nobody knows. In 2022, a new federal law called 'Direct Pay' was passed. Historically, public schools couldn't get solar tax credits because schools don't pay taxes. Now, under Section 6417, the IRS will literally write an actual CASH check directly to public school districts! They pay a 30% base grant, plus an extra 10% for American steel and 10% for Title I schools. That means the federal government can cover up to 50% of the entire solar canopy! The problem? Over 90% of school boards have no idea this money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[1:15 - 1:40] 'So I decided to build a solution: SolarSchools USA. It is a web application designed so any high school student or parent can use it. Step 1: you select your school from our database of 18 Bay Area campuses. It zooms right onto the parking lot. Step 2: in real time, it connects to the Department of Energy's solar engine and calculates how many panels fit, how much electricity they generate, and how much money the school saves. Step 3: with one click, you download a complete School Board Action Brief with the exact financial breakdown and a template resolution ready to present to school board trustees.'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[1:40 - 2:05] 'We made sure the numbers are rock-solid. We don't assume the entire parking lot is covered in solar. We use an empirical 65% coverage factor, which reserves 24-foot driving aisles, ADA handicap spots, and a full 14-foot vertical clearance for yellow school buses. Then, we connect directly to the Department of Energy's NREL database to pull exact satellite sunshine numbers for the school's precise coordinates, accounting for summer heat, dust, and winter sun angles. It's the same math that professional engineering firms use, but packaged so anyone can run it in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[2:05 - 2:35] 'Let's look at real-world proof right here in Silicon Valley. At Monta Vista High in Cupertino, they installed 550 kW of solar carports in 2021. Our software modeled that they would save $145,000 a year. When we checked the district's actual published utility bills, they saved $139,200. That's a 4% match with real life! Now look just 10 miles away at Palo Alto High. They have a massive parking lot baking in the sun, paying $140,000 a year to the power company that they don't need to pay. And there is a $754,000 cash grant from the federal government waiting for them. That $140,000 every year could pay for two full-time teachers or hundreds of laptops!'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[2:35 - 3:00] 'When you look at the financials, it's an absolute no-brainer. Normally, a solar canopy might take 6 to 7 years to pay back. With the federal Direct Pay check covering up to 40% or 50% upfront, the payback period drops to just 3.7 years! After year four, all that electricity is pure profit for the school district. Over the 25-year lifespan of the panels, even after paying for washing and maintenance, a single high school generates nearly 10 million dollars in net savings. That's permanent money for science labs, clubs, and teachers without raising local property taxes.'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[3:00 - 3:20] 'Beyond the money, this transforms what our campuses feel like every day. Parking lots go from boiling asphalt into shaded community assets. Cars stay 40 degrees cooler, and teachers get free Level 2 EV charging powered directly by the sun. Elementary school kids get shaded play areas so blacktop doesn't burn their knees. And in emergencies or wildfire blackouts, these systems can keep emergency shelters and food refrigeration powered. It turns our schools into true clean energy hubs.'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[3:20 - 3:35] 'Here is where we are heading. Phase 1 is done and live today: 18 schools right here in our backyard. Phase 2 scales across California to 10,000 schools, prioritizing hot Central Valley districts and Title I schools. And Phase 3 scales nationwide to 100,000 schools across all 50 states. In places like the Midwest, power grids still rely on dirty coal, so a solar panel installed on an Ohio school cuts two and a half times more carbon than the same panel in California! If just 10% of US schools build solar canopies, we save education budgets 800 million dollars every single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[3:35 - 3:50] 'To wrap up: students shouldn't have to wait 10 years for school boards to hire expensive consultants. With SolarSchools USA, any student can look up their campus in five seconds, print out a professional brief, and walk up to the microphone at their school board meeting this Tuesday. Our schools have the sunshine. The federal government has the cash. Let's shade our parking lots and power our classrooms. Thank you so much, and I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01 / 10</a:t>
            </a:r>
          </a:p>
        </p:txBody>
      </p:sp>
      <p:sp>
        <p:nvSpPr>
          <p:cNvPr id="7" name="Rectangle 6"/>
          <p:cNvSpPr/>
          <p:nvPr/>
        </p:nvSpPr>
        <p:spPr>
          <a:xfrm>
            <a:off x="0" y="493776"/>
            <a:ext cx="1219169"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188720"/>
            <a:ext cx="10698480" cy="2286000"/>
          </a:xfrm>
          <a:prstGeom prst="rect">
            <a:avLst/>
          </a:prstGeom>
          <a:noFill/>
        </p:spPr>
        <p:txBody>
          <a:bodyPr wrap="square">
            <a:spAutoFit/>
          </a:bodyPr>
          <a:lstStyle/>
          <a:p>
            <a:pPr>
              <a:defRPr sz="1000" b="1">
                <a:solidFill>
                  <a:srgbClr val="38BDF8"/>
                </a:solidFill>
              </a:defRPr>
            </a:pPr>
            <a:r>
              <a:t>SVYCA YOUTH FOR EARTH HACKATHON</a:t>
            </a:r>
          </a:p>
          <a:p>
            <a:pPr>
              <a:spcBef>
                <a:spcPts val="400"/>
              </a:spcBef>
              <a:defRPr sz="4400" b="1">
                <a:solidFill>
                  <a:srgbClr val="F8FAFC"/>
                </a:solidFill>
              </a:defRPr>
            </a:pPr>
            <a:r>
              <a:t>SolarSchools USA</a:t>
            </a:r>
          </a:p>
          <a:p>
            <a:pPr>
              <a:spcBef>
                <a:spcPts val="400"/>
              </a:spcBef>
              <a:defRPr sz="1800" b="1">
                <a:solidFill>
                  <a:srgbClr val="10B981"/>
                </a:solidFill>
              </a:defRPr>
            </a:pPr>
            <a:r>
              <a:t>Turning School Parking Lots into Clean Energy &amp; Classroom Cash</a:t>
            </a:r>
          </a:p>
          <a:p>
            <a:pPr>
              <a:spcBef>
                <a:spcPts val="600"/>
              </a:spcBef>
              <a:defRPr sz="1200">
                <a:solidFill>
                  <a:srgbClr val="A0AEC0"/>
                </a:solidFill>
              </a:defRPr>
            </a:pPr>
            <a:r>
              <a:t>A simple platform helping students, teachers, and school boards claim federal solar funding in seconds.</a:t>
            </a:r>
          </a:p>
        </p:txBody>
      </p:sp>
      <p:sp>
        <p:nvSpPr>
          <p:cNvPr id="9" name="TextBox 8"/>
          <p:cNvSpPr txBox="1"/>
          <p:nvPr/>
        </p:nvSpPr>
        <p:spPr>
          <a:xfrm>
            <a:off x="731520" y="3566160"/>
            <a:ext cx="10698480" cy="411480"/>
          </a:xfrm>
          <a:prstGeom prst="rect">
            <a:avLst/>
          </a:prstGeom>
          <a:noFill/>
        </p:spPr>
        <p:txBody>
          <a:bodyPr wrap="none">
            <a:spAutoFit/>
          </a:bodyPr>
          <a:lstStyle/>
          <a:p>
            <a:pPr>
              <a:defRPr sz="1100" b="1">
                <a:solidFill>
                  <a:srgbClr val="F8FAFC"/>
                </a:solidFill>
              </a:defRPr>
            </a:pPr>
            <a:r>
              <a:t>Pranav Balaji  |  10th Grade  |  Silicon Valley Youth Climate Action (SVYCA)  |  October 2026</a:t>
            </a:r>
          </a:p>
        </p:txBody>
      </p:sp>
      <p:sp>
        <p:nvSpPr>
          <p:cNvPr id="10" name="Rounded Rectangle 9"/>
          <p:cNvSpPr/>
          <p:nvPr/>
        </p:nvSpPr>
        <p:spPr>
          <a:xfrm>
            <a:off x="548640" y="4160520"/>
            <a:ext cx="3474720" cy="219456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416052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70248"/>
            <a:ext cx="3108960" cy="1975104"/>
          </a:xfrm>
          <a:prstGeom prst="rect">
            <a:avLst/>
          </a:prstGeom>
          <a:noFill/>
        </p:spPr>
        <p:txBody>
          <a:bodyPr wrap="square">
            <a:spAutoFit/>
          </a:bodyPr>
          <a:lstStyle/>
          <a:p>
            <a:pPr>
              <a:defRPr sz="850" b="1">
                <a:solidFill>
                  <a:srgbClr val="38BDF8"/>
                </a:solidFill>
              </a:defRPr>
            </a:pPr>
            <a:r>
              <a:t>18 LOCAL SCHOOLS MAPPED</a:t>
            </a:r>
          </a:p>
          <a:p>
            <a:pPr>
              <a:spcBef>
                <a:spcPts val="300"/>
              </a:spcBef>
              <a:defRPr sz="1200" b="1">
                <a:solidFill>
                  <a:srgbClr val="F8FAFC"/>
                </a:solidFill>
              </a:defRPr>
            </a:pPr>
            <a:r>
              <a:t>High-Resolution Campus Data</a:t>
            </a:r>
          </a:p>
          <a:p>
            <a:pPr>
              <a:spcBef>
                <a:spcPts val="300"/>
              </a:spcBef>
              <a:defRPr sz="950">
                <a:solidFill>
                  <a:srgbClr val="A0AEC0"/>
                </a:solidFill>
              </a:defRPr>
            </a:pPr>
            <a:r>
              <a:t>- High, Middle &amp; Elementary schools mapped</a:t>
            </a:r>
          </a:p>
          <a:p>
            <a:pPr>
              <a:spcBef>
                <a:spcPts val="300"/>
              </a:spcBef>
              <a:defRPr sz="950">
                <a:solidFill>
                  <a:srgbClr val="A0AEC0"/>
                </a:solidFill>
              </a:defRPr>
            </a:pPr>
            <a:r>
              <a:t>- Exact parking lots ground-truthed on satellite</a:t>
            </a:r>
          </a:p>
          <a:p>
            <a:pPr>
              <a:spcBef>
                <a:spcPts val="300"/>
              </a:spcBef>
              <a:defRPr sz="950">
                <a:solidFill>
                  <a:srgbClr val="A0AEC0"/>
                </a:solidFill>
              </a:defRPr>
            </a:pPr>
            <a:r>
              <a:t>- Zero manual measuring needed</a:t>
            </a:r>
          </a:p>
        </p:txBody>
      </p:sp>
      <p:sp>
        <p:nvSpPr>
          <p:cNvPr id="13" name="Rounded Rectangle 12"/>
          <p:cNvSpPr/>
          <p:nvPr/>
        </p:nvSpPr>
        <p:spPr>
          <a:xfrm>
            <a:off x="4343400" y="4160520"/>
            <a:ext cx="3474720" cy="219456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416052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270248"/>
            <a:ext cx="3108960" cy="1975104"/>
          </a:xfrm>
          <a:prstGeom prst="rect">
            <a:avLst/>
          </a:prstGeom>
          <a:noFill/>
        </p:spPr>
        <p:txBody>
          <a:bodyPr wrap="square">
            <a:spAutoFit/>
          </a:bodyPr>
          <a:lstStyle/>
          <a:p>
            <a:pPr>
              <a:defRPr sz="850" b="1">
                <a:solidFill>
                  <a:srgbClr val="10B981"/>
                </a:solidFill>
              </a:defRPr>
            </a:pPr>
            <a:r>
              <a:t>REAL SOLAR PHYSICS (NREL)</a:t>
            </a:r>
          </a:p>
          <a:p>
            <a:pPr>
              <a:spcBef>
                <a:spcPts val="300"/>
              </a:spcBef>
              <a:defRPr sz="1200" b="1">
                <a:solidFill>
                  <a:srgbClr val="F8FAFC"/>
                </a:solidFill>
              </a:defRPr>
            </a:pPr>
            <a:r>
              <a:t>Department of Energy Engine</a:t>
            </a:r>
          </a:p>
          <a:p>
            <a:pPr>
              <a:spcBef>
                <a:spcPts val="300"/>
              </a:spcBef>
              <a:defRPr sz="950">
                <a:solidFill>
                  <a:srgbClr val="A0AEC0"/>
                </a:solidFill>
              </a:defRPr>
            </a:pPr>
            <a:r>
              <a:t>- Uses official PVWatts v8 solar calculations</a:t>
            </a:r>
          </a:p>
          <a:p>
            <a:pPr>
              <a:spcBef>
                <a:spcPts val="300"/>
              </a:spcBef>
              <a:defRPr sz="950">
                <a:solidFill>
                  <a:srgbClr val="A0AEC0"/>
                </a:solidFill>
              </a:defRPr>
            </a:pPr>
            <a:r>
              <a:t>- Calculates monthly power generation</a:t>
            </a:r>
          </a:p>
          <a:p>
            <a:pPr>
              <a:spcBef>
                <a:spcPts val="300"/>
              </a:spcBef>
              <a:defRPr sz="950">
                <a:solidFill>
                  <a:srgbClr val="A0AEC0"/>
                </a:solidFill>
              </a:defRPr>
            </a:pPr>
            <a:r>
              <a:t>- Calibrated against active Silicon Valley arrays</a:t>
            </a:r>
          </a:p>
        </p:txBody>
      </p:sp>
      <p:sp>
        <p:nvSpPr>
          <p:cNvPr id="16" name="Rounded Rectangle 15"/>
          <p:cNvSpPr/>
          <p:nvPr/>
        </p:nvSpPr>
        <p:spPr>
          <a:xfrm>
            <a:off x="8138160" y="4160520"/>
            <a:ext cx="3474720" cy="219456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38160" y="4160520"/>
            <a:ext cx="3474720" cy="54864"/>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4270248"/>
            <a:ext cx="3108960" cy="1975104"/>
          </a:xfrm>
          <a:prstGeom prst="rect">
            <a:avLst/>
          </a:prstGeom>
          <a:noFill/>
        </p:spPr>
        <p:txBody>
          <a:bodyPr wrap="square">
            <a:spAutoFit/>
          </a:bodyPr>
          <a:lstStyle/>
          <a:p>
            <a:pPr>
              <a:defRPr sz="850" b="1">
                <a:solidFill>
                  <a:srgbClr val="8C1515"/>
                </a:solidFill>
              </a:defRPr>
            </a:pPr>
            <a:r>
              <a:t>1-CLICK SCHOOL BOARD BRIEF</a:t>
            </a:r>
          </a:p>
          <a:p>
            <a:pPr>
              <a:spcBef>
                <a:spcPts val="300"/>
              </a:spcBef>
              <a:defRPr sz="1200" b="1">
                <a:solidFill>
                  <a:srgbClr val="F8FAFC"/>
                </a:solidFill>
              </a:defRPr>
            </a:pPr>
            <a:r>
              <a:t>Instant Action for Students</a:t>
            </a:r>
          </a:p>
          <a:p>
            <a:pPr>
              <a:spcBef>
                <a:spcPts val="300"/>
              </a:spcBef>
              <a:defRPr sz="950">
                <a:solidFill>
                  <a:srgbClr val="A0AEC0"/>
                </a:solidFill>
              </a:defRPr>
            </a:pPr>
            <a:r>
              <a:t>- Generates 1-page financial summary</a:t>
            </a:r>
          </a:p>
          <a:p>
            <a:pPr>
              <a:spcBef>
                <a:spcPts val="300"/>
              </a:spcBef>
              <a:defRPr sz="950">
                <a:solidFill>
                  <a:srgbClr val="A0AEC0"/>
                </a:solidFill>
              </a:defRPr>
            </a:pPr>
            <a:r>
              <a:t>- Includes ready-to-vote board resolution</a:t>
            </a:r>
          </a:p>
          <a:p>
            <a:pPr>
              <a:spcBef>
                <a:spcPts val="300"/>
              </a:spcBef>
              <a:defRPr sz="950">
                <a:solidFill>
                  <a:srgbClr val="A0AEC0"/>
                </a:solidFill>
              </a:defRPr>
            </a:pPr>
            <a:r>
              <a:t>- Gives students the tools to speak to trustees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02 / 10</a:t>
            </a:r>
          </a:p>
        </p:txBody>
      </p:sp>
      <p:sp>
        <p:nvSpPr>
          <p:cNvPr id="7" name="Rectangle 6"/>
          <p:cNvSpPr/>
          <p:nvPr/>
        </p:nvSpPr>
        <p:spPr>
          <a:xfrm>
            <a:off x="0" y="493776"/>
            <a:ext cx="2438339"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THE REAL PROBLEM</a:t>
            </a:r>
          </a:p>
          <a:p>
            <a:pPr>
              <a:spcBef>
                <a:spcPts val="200"/>
              </a:spcBef>
              <a:defRPr sz="2200" b="1">
                <a:solidFill>
                  <a:srgbClr val="F8FAFC"/>
                </a:solidFill>
              </a:defRPr>
            </a:pPr>
            <a:r>
              <a:t>Our Parking Lots Are Baking. Our Schools Are Bleeding Cash.</a:t>
            </a:r>
          </a:p>
          <a:p>
            <a:pPr>
              <a:spcBef>
                <a:spcPts val="300"/>
              </a:spcBef>
              <a:defRPr sz="1100">
                <a:solidFill>
                  <a:srgbClr val="A0AEC0"/>
                </a:solidFill>
              </a:defRPr>
            </a:pPr>
            <a:r>
              <a:t>Millions of square feet of black asphalt are absorbing heat and draining school budgets.</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800" b="1">
                <a:solidFill>
                  <a:srgbClr val="EF4444"/>
                </a:solidFill>
              </a:defRPr>
            </a:pPr>
            <a:r>
              <a:t>140°F</a:t>
            </a:r>
          </a:p>
          <a:p>
            <a:pPr>
              <a:spcBef>
                <a:spcPts val="200"/>
              </a:spcBef>
              <a:defRPr sz="900" b="1">
                <a:solidFill>
                  <a:srgbClr val="F8FAFC"/>
                </a:solidFill>
              </a:defRPr>
            </a:pPr>
            <a:r>
              <a:t>BLAZING ASPHALT</a:t>
            </a:r>
          </a:p>
          <a:p>
            <a:pPr>
              <a:spcBef>
                <a:spcPts val="600"/>
              </a:spcBef>
              <a:defRPr sz="1000">
                <a:solidFill>
                  <a:srgbClr val="A0AEC0"/>
                </a:solidFill>
              </a:defRPr>
            </a:pPr>
            <a:r>
              <a:t>- Empty blacktop bakes student and staff cars</a:t>
            </a:r>
          </a:p>
          <a:p>
            <a:pPr>
              <a:spcBef>
                <a:spcPts val="600"/>
              </a:spcBef>
              <a:defRPr sz="1000">
                <a:solidFill>
                  <a:srgbClr val="A0AEC0"/>
                </a:solidFill>
              </a:defRPr>
            </a:pPr>
            <a:r>
              <a:t>- Creates campus heat islands in hot months</a:t>
            </a:r>
          </a:p>
          <a:p>
            <a:pPr>
              <a:spcBef>
                <a:spcPts val="600"/>
              </a:spcBef>
              <a:defRPr sz="1000">
                <a:solidFill>
                  <a:srgbClr val="A0AEC0"/>
                </a:solidFill>
              </a:defRPr>
            </a:pPr>
            <a:r>
              <a:t>- Playground asphalt gets too hot to use safely</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800" b="1">
                <a:solidFill>
                  <a:srgbClr val="EF4444"/>
                </a:solidFill>
              </a:defRPr>
            </a:pPr>
            <a:r>
              <a:t>$8.0 Billion</a:t>
            </a:r>
          </a:p>
          <a:p>
            <a:pPr>
              <a:spcBef>
                <a:spcPts val="200"/>
              </a:spcBef>
              <a:defRPr sz="900" b="1">
                <a:solidFill>
                  <a:srgbClr val="F8FAFC"/>
                </a:solidFill>
              </a:defRPr>
            </a:pPr>
            <a:r>
              <a:t>WASTED POWER BILLS</a:t>
            </a:r>
          </a:p>
          <a:p>
            <a:pPr>
              <a:spcBef>
                <a:spcPts val="600"/>
              </a:spcBef>
              <a:defRPr sz="1000">
                <a:solidFill>
                  <a:srgbClr val="A0AEC0"/>
                </a:solidFill>
              </a:defRPr>
            </a:pPr>
            <a:r>
              <a:t>- Schools spend more on electricity than supplies</a:t>
            </a:r>
          </a:p>
          <a:p>
            <a:pPr>
              <a:spcBef>
                <a:spcPts val="600"/>
              </a:spcBef>
              <a:defRPr sz="1000">
                <a:solidFill>
                  <a:srgbClr val="A0AEC0"/>
                </a:solidFill>
              </a:defRPr>
            </a:pPr>
            <a:r>
              <a:t>- Money flows straight to monopoly power companies</a:t>
            </a:r>
          </a:p>
          <a:p>
            <a:pPr>
              <a:spcBef>
                <a:spcPts val="600"/>
              </a:spcBef>
              <a:defRPr sz="1000">
                <a:solidFill>
                  <a:srgbClr val="A0AEC0"/>
                </a:solidFill>
              </a:defRPr>
            </a:pPr>
            <a:r>
              <a:t>- Funds that could hire teachers are lost every year</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800" b="1">
                <a:solidFill>
                  <a:srgbClr val="EF4444"/>
                </a:solidFill>
              </a:defRPr>
            </a:pPr>
            <a:r>
              <a:t>$25,000</a:t>
            </a:r>
          </a:p>
          <a:p>
            <a:pPr>
              <a:spcBef>
                <a:spcPts val="200"/>
              </a:spcBef>
              <a:defRPr sz="900" b="1">
                <a:solidFill>
                  <a:srgbClr val="F8FAFC"/>
                </a:solidFill>
              </a:defRPr>
            </a:pPr>
            <a:r>
              <a:t>THE CONSULTANT WALL</a:t>
            </a:r>
          </a:p>
          <a:p>
            <a:pPr>
              <a:spcBef>
                <a:spcPts val="600"/>
              </a:spcBef>
              <a:defRPr sz="1000">
                <a:solidFill>
                  <a:srgbClr val="A0AEC0"/>
                </a:solidFill>
              </a:defRPr>
            </a:pPr>
            <a:r>
              <a:t>- Engineering feasibility studies cost thousands</a:t>
            </a:r>
          </a:p>
          <a:p>
            <a:pPr>
              <a:spcBef>
                <a:spcPts val="600"/>
              </a:spcBef>
              <a:defRPr sz="1000">
                <a:solidFill>
                  <a:srgbClr val="A0AEC0"/>
                </a:solidFill>
              </a:defRPr>
            </a:pPr>
            <a:r>
              <a:t>- Takes 6 to 12 months just to get an estimate</a:t>
            </a:r>
          </a:p>
          <a:p>
            <a:pPr>
              <a:spcBef>
                <a:spcPts val="600"/>
              </a:spcBef>
              <a:defRPr sz="1000">
                <a:solidFill>
                  <a:srgbClr val="A0AEC0"/>
                </a:solidFill>
              </a:defRPr>
            </a:pPr>
            <a:r>
              <a:t>- Leaves under-resourced schools completely locked out</a:t>
            </a:r>
          </a:p>
        </p:txBody>
      </p:sp>
      <p:sp>
        <p:nvSpPr>
          <p:cNvPr id="18" name="Rounded Rectangle 17"/>
          <p:cNvSpPr/>
          <p:nvPr/>
        </p:nvSpPr>
        <p:spPr>
          <a:xfrm>
            <a:off x="548640" y="5577840"/>
            <a:ext cx="11094415" cy="777240"/>
          </a:xfrm>
          <a:prstGeom prst="roundRect">
            <a:avLst/>
          </a:prstGeom>
          <a:solidFill>
            <a:srgbClr val="131A2B"/>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EF4444"/>
                </a:solidFill>
              </a:defRPr>
            </a:pPr>
            <a:r>
              <a:t>THE BOTTOM LINE FOR STUDENTS</a:t>
            </a:r>
          </a:p>
          <a:p>
            <a:pPr>
              <a:spcBef>
                <a:spcPts val="200"/>
              </a:spcBef>
              <a:defRPr sz="1100" b="1">
                <a:solidFill>
                  <a:srgbClr val="F8FAFC"/>
                </a:solidFill>
              </a:defRPr>
            </a:pPr>
            <a:r>
              <a:t>Every dollar our school district pays to utility companies is a dollar taken away from teachers, arts, and classrooms.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03 / 10</a:t>
            </a:r>
          </a:p>
        </p:txBody>
      </p:sp>
      <p:sp>
        <p:nvSpPr>
          <p:cNvPr id="7" name="Rectangle 6"/>
          <p:cNvSpPr/>
          <p:nvPr/>
        </p:nvSpPr>
        <p:spPr>
          <a:xfrm>
            <a:off x="0" y="493776"/>
            <a:ext cx="3657508"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THE OPPORTUNITY</a:t>
            </a:r>
          </a:p>
          <a:p>
            <a:pPr>
              <a:spcBef>
                <a:spcPts val="200"/>
              </a:spcBef>
              <a:defRPr sz="2200" b="1">
                <a:solidFill>
                  <a:srgbClr val="F8FAFC"/>
                </a:solidFill>
              </a:defRPr>
            </a:pPr>
            <a:r>
              <a:t>The Clean Energy Law School Boards Don't Know About</a:t>
            </a:r>
          </a:p>
          <a:p>
            <a:pPr>
              <a:spcBef>
                <a:spcPts val="300"/>
              </a:spcBef>
              <a:defRPr sz="1100">
                <a:solidFill>
                  <a:srgbClr val="A0AEC0"/>
                </a:solidFill>
              </a:defRPr>
            </a:pPr>
            <a:r>
              <a:t>Under the new Inflation Reduction Act, the federal government writes cash checks directly to schools.</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800" b="1">
                <a:solidFill>
                  <a:srgbClr val="10B981"/>
                </a:solidFill>
              </a:defRPr>
            </a:pPr>
            <a:r>
              <a:t>30% Base</a:t>
            </a:r>
          </a:p>
          <a:p>
            <a:pPr>
              <a:spcBef>
                <a:spcPts val="200"/>
              </a:spcBef>
              <a:defRPr sz="900" b="1">
                <a:solidFill>
                  <a:srgbClr val="F8FAFC"/>
                </a:solidFill>
              </a:defRPr>
            </a:pPr>
            <a:r>
              <a:t>GUARANTEED CASH BACK</a:t>
            </a:r>
          </a:p>
          <a:p>
            <a:pPr>
              <a:spcBef>
                <a:spcPts val="600"/>
              </a:spcBef>
              <a:defRPr sz="1000">
                <a:solidFill>
                  <a:srgbClr val="A0AEC0"/>
                </a:solidFill>
              </a:defRPr>
            </a:pPr>
            <a:r>
              <a:t>- Federal IRS cash check covering 30% of cost</a:t>
            </a:r>
          </a:p>
          <a:p>
            <a:pPr>
              <a:spcBef>
                <a:spcPts val="600"/>
              </a:spcBef>
              <a:defRPr sz="1000">
                <a:solidFill>
                  <a:srgbClr val="A0AEC0"/>
                </a:solidFill>
              </a:defRPr>
            </a:pPr>
            <a:r>
              <a:t>- Direct payment to the school district treasury</a:t>
            </a:r>
          </a:p>
          <a:p>
            <a:pPr>
              <a:spcBef>
                <a:spcPts val="600"/>
              </a:spcBef>
              <a:defRPr sz="1000">
                <a:solidFill>
                  <a:srgbClr val="A0AEC0"/>
                </a:solidFill>
              </a:defRPr>
            </a:pPr>
            <a:r>
              <a:t>- No tax liability needed—public schools qualify directly!</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800" b="1">
                <a:solidFill>
                  <a:srgbClr val="38BDF8"/>
                </a:solidFill>
              </a:defRPr>
            </a:pPr>
            <a:r>
              <a:t>+10% to +20%</a:t>
            </a:r>
          </a:p>
          <a:p>
            <a:pPr>
              <a:spcBef>
                <a:spcPts val="200"/>
              </a:spcBef>
              <a:defRPr sz="900" b="1">
                <a:solidFill>
                  <a:srgbClr val="F8FAFC"/>
                </a:solidFill>
              </a:defRPr>
            </a:pPr>
            <a:r>
              <a:t>BONUS FEDERAL CASH</a:t>
            </a:r>
          </a:p>
          <a:p>
            <a:pPr>
              <a:spcBef>
                <a:spcPts val="600"/>
              </a:spcBef>
              <a:defRPr sz="1000">
                <a:solidFill>
                  <a:srgbClr val="A0AEC0"/>
                </a:solidFill>
              </a:defRPr>
            </a:pPr>
            <a:r>
              <a:t>- +10% extra bonus for American-made steel &amp; panels</a:t>
            </a:r>
          </a:p>
          <a:p>
            <a:pPr>
              <a:spcBef>
                <a:spcPts val="600"/>
              </a:spcBef>
              <a:defRPr sz="1000">
                <a:solidFill>
                  <a:srgbClr val="A0AEC0"/>
                </a:solidFill>
              </a:defRPr>
            </a:pPr>
            <a:r>
              <a:t>- +10% extra bonus for Title I low-income schools</a:t>
            </a:r>
          </a:p>
          <a:p>
            <a:pPr>
              <a:spcBef>
                <a:spcPts val="600"/>
              </a:spcBef>
              <a:defRPr sz="1000">
                <a:solidFill>
                  <a:srgbClr val="A0AEC0"/>
                </a:solidFill>
              </a:defRPr>
            </a:pPr>
            <a:r>
              <a:t>- Puts the biggest grants into communities that need it most</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800" b="1">
                <a:solidFill>
                  <a:srgbClr val="10B981"/>
                </a:solidFill>
              </a:defRPr>
            </a:pPr>
            <a:r>
              <a:t>Up to 50%</a:t>
            </a:r>
          </a:p>
          <a:p>
            <a:pPr>
              <a:spcBef>
                <a:spcPts val="200"/>
              </a:spcBef>
              <a:defRPr sz="900" b="1">
                <a:solidFill>
                  <a:srgbClr val="F8FAFC"/>
                </a:solidFill>
              </a:defRPr>
            </a:pPr>
            <a:r>
              <a:t>TOTAL FEDERAL GRANT</a:t>
            </a:r>
          </a:p>
          <a:p>
            <a:pPr>
              <a:spcBef>
                <a:spcPts val="600"/>
              </a:spcBef>
              <a:defRPr sz="1000">
                <a:solidFill>
                  <a:srgbClr val="A0AEC0"/>
                </a:solidFill>
              </a:defRPr>
            </a:pPr>
            <a:r>
              <a:t>- Up to half the solar canopy is paid by the government</a:t>
            </a:r>
          </a:p>
          <a:p>
            <a:pPr>
              <a:spcBef>
                <a:spcPts val="600"/>
              </a:spcBef>
              <a:defRPr sz="1000">
                <a:solidFill>
                  <a:srgbClr val="A0AEC0"/>
                </a:solidFill>
              </a:defRPr>
            </a:pPr>
            <a:r>
              <a:t>- Districts pay only the remaining net balance</a:t>
            </a:r>
          </a:p>
          <a:p>
            <a:pPr>
              <a:spcBef>
                <a:spcPts val="600"/>
              </a:spcBef>
              <a:defRPr sz="1000">
                <a:solidFill>
                  <a:srgbClr val="A0AEC0"/>
                </a:solidFill>
              </a:defRPr>
            </a:pPr>
            <a:r>
              <a:t>- Yet over 90% of school boards have never heard of it!</a:t>
            </a:r>
          </a:p>
        </p:txBody>
      </p:sp>
      <p:sp>
        <p:nvSpPr>
          <p:cNvPr id="18" name="Rounded Rectangle 17"/>
          <p:cNvSpPr/>
          <p:nvPr/>
        </p:nvSpPr>
        <p:spPr>
          <a:xfrm>
            <a:off x="548640" y="5577840"/>
            <a:ext cx="11094415" cy="777240"/>
          </a:xfrm>
          <a:prstGeom prst="roundRect">
            <a:avLst/>
          </a:prstGeom>
          <a:solidFill>
            <a:srgbClr val="131A2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10B981"/>
                </a:solidFill>
              </a:defRPr>
            </a:pPr>
            <a:r>
              <a:t>HOW 'DIRECT PAY' (SECTION 6417) WORKS</a:t>
            </a:r>
          </a:p>
          <a:p>
            <a:pPr>
              <a:spcBef>
                <a:spcPts val="200"/>
              </a:spcBef>
              <a:defRPr sz="1050">
                <a:solidFill>
                  <a:srgbClr val="F8FAFC"/>
                </a:solidFill>
              </a:defRPr>
            </a:pPr>
            <a:r>
              <a:t>Because public schools don't pay taxes, the government used to shut them out of solar tax credits. Now, the IRS sends an actual cash reimbursement check straight to the district.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04 / 10</a:t>
            </a:r>
          </a:p>
        </p:txBody>
      </p:sp>
      <p:sp>
        <p:nvSpPr>
          <p:cNvPr id="7" name="Rectangle 6"/>
          <p:cNvSpPr/>
          <p:nvPr/>
        </p:nvSpPr>
        <p:spPr>
          <a:xfrm>
            <a:off x="0" y="493776"/>
            <a:ext cx="4876678"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THE SOLUTION</a:t>
            </a:r>
          </a:p>
          <a:p>
            <a:pPr>
              <a:spcBef>
                <a:spcPts val="200"/>
              </a:spcBef>
              <a:defRPr sz="2200" b="1">
                <a:solidFill>
                  <a:srgbClr val="F8FAFC"/>
                </a:solidFill>
              </a:defRPr>
            </a:pPr>
            <a:r>
              <a:t>Solar Feasibility in Seconds, Not Months</a:t>
            </a:r>
          </a:p>
          <a:p>
            <a:pPr>
              <a:spcBef>
                <a:spcPts val="300"/>
              </a:spcBef>
              <a:defRPr sz="1100">
                <a:solidFill>
                  <a:srgbClr val="A0AEC0"/>
                </a:solidFill>
              </a:defRPr>
            </a:pPr>
            <a:r>
              <a:t>A web platform empowering students and school boards to test their campus with real data.</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400" b="1">
                <a:solidFill>
                  <a:srgbClr val="38BDF8"/>
                </a:solidFill>
              </a:defRPr>
            </a:pPr>
            <a:r>
              <a:t>STEP 1</a:t>
            </a:r>
          </a:p>
          <a:p>
            <a:pPr>
              <a:spcBef>
                <a:spcPts val="200"/>
              </a:spcBef>
              <a:defRPr sz="1100" b="1">
                <a:solidFill>
                  <a:srgbClr val="F8FAFC"/>
                </a:solidFill>
              </a:defRPr>
            </a:pPr>
            <a:r>
              <a:t>PICK ANY CAMPUS</a:t>
            </a:r>
          </a:p>
          <a:p>
            <a:pPr>
              <a:spcBef>
                <a:spcPts val="600"/>
              </a:spcBef>
              <a:defRPr sz="1000">
                <a:solidFill>
                  <a:srgbClr val="A0AEC0"/>
                </a:solidFill>
              </a:defRPr>
            </a:pPr>
            <a:r>
              <a:t>- Interactive satellite map of 18 Bay Area schools</a:t>
            </a:r>
          </a:p>
          <a:p>
            <a:pPr>
              <a:spcBef>
                <a:spcPts val="600"/>
              </a:spcBef>
              <a:defRPr sz="1000">
                <a:solidFill>
                  <a:srgbClr val="A0AEC0"/>
                </a:solidFill>
              </a:defRPr>
            </a:pPr>
            <a:r>
              <a:t>- Pins directly to the physical parking lot</a:t>
            </a:r>
          </a:p>
          <a:p>
            <a:pPr>
              <a:spcBef>
                <a:spcPts val="600"/>
              </a:spcBef>
              <a:defRPr sz="1000">
                <a:solidFill>
                  <a:srgbClr val="A0AEC0"/>
                </a:solidFill>
              </a:defRPr>
            </a:pPr>
            <a:r>
              <a:t>- Covers High Schools, Middle Schools &amp; Elementary</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400" b="1">
                <a:solidFill>
                  <a:srgbClr val="10B981"/>
                </a:solidFill>
              </a:defRPr>
            </a:pPr>
            <a:r>
              <a:t>STEP 2</a:t>
            </a:r>
          </a:p>
          <a:p>
            <a:pPr>
              <a:spcBef>
                <a:spcPts val="200"/>
              </a:spcBef>
              <a:defRPr sz="1100" b="1">
                <a:solidFill>
                  <a:srgbClr val="F8FAFC"/>
                </a:solidFill>
              </a:defRPr>
            </a:pPr>
            <a:r>
              <a:t>SIMULATE SOLAR</a:t>
            </a:r>
          </a:p>
          <a:p>
            <a:pPr>
              <a:spcBef>
                <a:spcPts val="600"/>
              </a:spcBef>
              <a:defRPr sz="1000">
                <a:solidFill>
                  <a:srgbClr val="A0AEC0"/>
                </a:solidFill>
              </a:defRPr>
            </a:pPr>
            <a:r>
              <a:t>- Runs Department of Energy (NREL) solar physics</a:t>
            </a:r>
          </a:p>
          <a:p>
            <a:pPr>
              <a:spcBef>
                <a:spcPts val="600"/>
              </a:spcBef>
              <a:defRPr sz="1000">
                <a:solidFill>
                  <a:srgbClr val="A0AEC0"/>
                </a:solidFill>
              </a:defRPr>
            </a:pPr>
            <a:r>
              <a:t>- Calculates kilowatt capacity and monthly power</a:t>
            </a:r>
          </a:p>
          <a:p>
            <a:pPr>
              <a:spcBef>
                <a:spcPts val="600"/>
              </a:spcBef>
              <a:defRPr sz="1000">
                <a:solidFill>
                  <a:srgbClr val="A0AEC0"/>
                </a:solidFill>
              </a:defRPr>
            </a:pPr>
            <a:r>
              <a:t>- Applies real local commercial electricity rates</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400" b="1">
                <a:solidFill>
                  <a:srgbClr val="8C1515"/>
                </a:solidFill>
              </a:defRPr>
            </a:pPr>
            <a:r>
              <a:t>STEP 3</a:t>
            </a:r>
          </a:p>
          <a:p>
            <a:pPr>
              <a:spcBef>
                <a:spcPts val="200"/>
              </a:spcBef>
              <a:defRPr sz="1100" b="1">
                <a:solidFill>
                  <a:srgbClr val="F8FAFC"/>
                </a:solidFill>
              </a:defRPr>
            </a:pPr>
            <a:r>
              <a:t>GET BOARD BRIEF</a:t>
            </a:r>
          </a:p>
          <a:p>
            <a:pPr>
              <a:spcBef>
                <a:spcPts val="600"/>
              </a:spcBef>
              <a:defRPr sz="1000">
                <a:solidFill>
                  <a:srgbClr val="A0AEC0"/>
                </a:solidFill>
              </a:defRPr>
            </a:pPr>
            <a:r>
              <a:t>- Generates a 1-page financial action brief</a:t>
            </a:r>
          </a:p>
          <a:p>
            <a:pPr>
              <a:spcBef>
                <a:spcPts val="600"/>
              </a:spcBef>
              <a:defRPr sz="1000">
                <a:solidFill>
                  <a:srgbClr val="A0AEC0"/>
                </a:solidFill>
              </a:defRPr>
            </a:pPr>
            <a:r>
              <a:t>- Calculates the exact federal cash grant</a:t>
            </a:r>
          </a:p>
          <a:p>
            <a:pPr>
              <a:spcBef>
                <a:spcPts val="600"/>
              </a:spcBef>
              <a:defRPr sz="1000">
                <a:solidFill>
                  <a:srgbClr val="A0AEC0"/>
                </a:solidFill>
              </a:defRPr>
            </a:pPr>
            <a:r>
              <a:t>- Includes a draft resolution ready for board votes</a:t>
            </a:r>
          </a:p>
        </p:txBody>
      </p:sp>
      <p:sp>
        <p:nvSpPr>
          <p:cNvPr id="18" name="Rounded Rectangle 17"/>
          <p:cNvSpPr/>
          <p:nvPr/>
        </p:nvSpPr>
        <p:spPr>
          <a:xfrm>
            <a:off x="548640" y="5577840"/>
            <a:ext cx="11094415" cy="777240"/>
          </a:xfrm>
          <a:prstGeom prst="roundRect">
            <a:avLst/>
          </a:prstGeom>
          <a:solidFill>
            <a:srgbClr val="131A2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38BDF8"/>
                </a:solidFill>
              </a:defRPr>
            </a:pPr>
            <a:r>
              <a:t>BUILT FOR STUDENTS AND COMMUNITY ADVOCATES</a:t>
            </a:r>
          </a:p>
          <a:p>
            <a:pPr>
              <a:spcBef>
                <a:spcPts val="200"/>
              </a:spcBef>
              <a:defRPr sz="1050" b="1">
                <a:solidFill>
                  <a:srgbClr val="F8FAFC"/>
                </a:solidFill>
              </a:defRPr>
            </a:pPr>
            <a:r>
              <a:t>No expensive consultants. No engineering degrees needed. Any student can walk into a school board meeting with the numbers in hand.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05 / 10</a:t>
            </a:r>
          </a:p>
        </p:txBody>
      </p:sp>
      <p:sp>
        <p:nvSpPr>
          <p:cNvPr id="7" name="Rectangle 6"/>
          <p:cNvSpPr/>
          <p:nvPr/>
        </p:nvSpPr>
        <p:spPr>
          <a:xfrm>
            <a:off x="0" y="493776"/>
            <a:ext cx="6095847"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BEHIND THE SCENES</a:t>
            </a:r>
          </a:p>
          <a:p>
            <a:pPr>
              <a:spcBef>
                <a:spcPts val="200"/>
              </a:spcBef>
              <a:defRPr sz="2200" b="1">
                <a:solidFill>
                  <a:srgbClr val="F8FAFC"/>
                </a:solidFill>
              </a:defRPr>
            </a:pPr>
            <a:r>
              <a:t>Real Science, Zero Guesswork</a:t>
            </a:r>
          </a:p>
          <a:p>
            <a:pPr>
              <a:spcBef>
                <a:spcPts val="300"/>
              </a:spcBef>
              <a:defRPr sz="1100">
                <a:solidFill>
                  <a:srgbClr val="A0AEC0"/>
                </a:solidFill>
              </a:defRPr>
            </a:pPr>
            <a:r>
              <a:t>How we calculate solar potential accurately without needing an on-site engineer.</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200" b="1">
                <a:solidFill>
                  <a:srgbClr val="38BDF8"/>
                </a:solidFill>
              </a:defRPr>
            </a:pPr>
            <a:r>
              <a:t>65% Lot Cover</a:t>
            </a:r>
          </a:p>
          <a:p>
            <a:pPr>
              <a:spcBef>
                <a:spcPts val="200"/>
              </a:spcBef>
              <a:defRPr sz="900" b="1">
                <a:solidFill>
                  <a:srgbClr val="F8FAFC"/>
                </a:solidFill>
              </a:defRPr>
            </a:pPr>
            <a:r>
              <a:t>PRACTICAL PARKING DESIGN</a:t>
            </a:r>
          </a:p>
          <a:p>
            <a:pPr>
              <a:spcBef>
                <a:spcPts val="600"/>
              </a:spcBef>
              <a:defRPr sz="1000">
                <a:solidFill>
                  <a:srgbClr val="A0AEC0"/>
                </a:solidFill>
              </a:defRPr>
            </a:pPr>
            <a:r>
              <a:t>- Leaves 24-foot driving aisles open for traffic</a:t>
            </a:r>
          </a:p>
          <a:p>
            <a:pPr>
              <a:spcBef>
                <a:spcPts val="600"/>
              </a:spcBef>
              <a:defRPr sz="1000">
                <a:solidFill>
                  <a:srgbClr val="A0AEC0"/>
                </a:solidFill>
              </a:defRPr>
            </a:pPr>
            <a:r>
              <a:t>- Keeps 14-foot vertical clearance for school buses</a:t>
            </a:r>
          </a:p>
          <a:p>
            <a:pPr>
              <a:spcBef>
                <a:spcPts val="600"/>
              </a:spcBef>
              <a:defRPr sz="1000">
                <a:solidFill>
                  <a:srgbClr val="A0AEC0"/>
                </a:solidFill>
              </a:defRPr>
            </a:pPr>
            <a:r>
              <a:t>- Preserves ADA accessible pathways and fire lanes</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200" b="1">
                <a:solidFill>
                  <a:srgbClr val="38BDF8"/>
                </a:solidFill>
              </a:defRPr>
            </a:pPr>
            <a:r>
              <a:t>200 W / m²</a:t>
            </a:r>
          </a:p>
          <a:p>
            <a:pPr>
              <a:spcBef>
                <a:spcPts val="200"/>
              </a:spcBef>
              <a:defRPr sz="900" b="1">
                <a:solidFill>
                  <a:srgbClr val="F8FAFC"/>
                </a:solidFill>
              </a:defRPr>
            </a:pPr>
            <a:r>
              <a:t>COMMERCIAL SOLAR PANELS</a:t>
            </a:r>
          </a:p>
          <a:p>
            <a:pPr>
              <a:spcBef>
                <a:spcPts val="600"/>
              </a:spcBef>
              <a:defRPr sz="1000">
                <a:solidFill>
                  <a:srgbClr val="A0AEC0"/>
                </a:solidFill>
              </a:defRPr>
            </a:pPr>
            <a:r>
              <a:t>- Models high-efficiency commercial solar canopies</a:t>
            </a:r>
          </a:p>
          <a:p>
            <a:pPr>
              <a:spcBef>
                <a:spcPts val="600"/>
              </a:spcBef>
              <a:defRPr sz="1000">
                <a:solidFill>
                  <a:srgbClr val="A0AEC0"/>
                </a:solidFill>
              </a:defRPr>
            </a:pPr>
            <a:r>
              <a:t>- Accounts for summer heat and dust loss</a:t>
            </a:r>
          </a:p>
          <a:p>
            <a:pPr>
              <a:spcBef>
                <a:spcPts val="600"/>
              </a:spcBef>
              <a:defRPr sz="1000">
                <a:solidFill>
                  <a:srgbClr val="A0AEC0"/>
                </a:solidFill>
              </a:defRPr>
            </a:pPr>
            <a:r>
              <a:t>- Calibrated against active school arrays in Cupertino</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200" b="1">
                <a:solidFill>
                  <a:srgbClr val="10B981"/>
                </a:solidFill>
              </a:defRPr>
            </a:pPr>
            <a:r>
              <a:t>NREL Engine</a:t>
            </a:r>
          </a:p>
          <a:p>
            <a:pPr>
              <a:spcBef>
                <a:spcPts val="200"/>
              </a:spcBef>
              <a:defRPr sz="900" b="1">
                <a:solidFill>
                  <a:srgbClr val="F8FAFC"/>
                </a:solidFill>
              </a:defRPr>
            </a:pPr>
            <a:r>
              <a:t>U.S. DEPT OF ENERGY DATA</a:t>
            </a:r>
          </a:p>
          <a:p>
            <a:pPr>
              <a:spcBef>
                <a:spcPts val="600"/>
              </a:spcBef>
              <a:defRPr sz="1000">
                <a:solidFill>
                  <a:srgbClr val="A0AEC0"/>
                </a:solidFill>
              </a:defRPr>
            </a:pPr>
            <a:r>
              <a:t>- Queries live satellite solar data for exact GPS coords</a:t>
            </a:r>
          </a:p>
          <a:p>
            <a:pPr>
              <a:spcBef>
                <a:spcPts val="600"/>
              </a:spcBef>
              <a:defRPr sz="1000">
                <a:solidFill>
                  <a:srgbClr val="A0AEC0"/>
                </a:solidFill>
              </a:defRPr>
            </a:pPr>
            <a:r>
              <a:t>- Models local weather, sun angles, and seasons</a:t>
            </a:r>
          </a:p>
          <a:p>
            <a:pPr>
              <a:spcBef>
                <a:spcPts val="600"/>
              </a:spcBef>
              <a:defRPr sz="1000">
                <a:solidFill>
                  <a:srgbClr val="A0AEC0"/>
                </a:solidFill>
              </a:defRPr>
            </a:pPr>
            <a:r>
              <a:t>- Includes instant smart backup so it never crashes</a:t>
            </a:r>
          </a:p>
        </p:txBody>
      </p:sp>
      <p:sp>
        <p:nvSpPr>
          <p:cNvPr id="18" name="Rounded Rectangle 17"/>
          <p:cNvSpPr/>
          <p:nvPr/>
        </p:nvSpPr>
        <p:spPr>
          <a:xfrm>
            <a:off x="548640" y="5577840"/>
            <a:ext cx="11094415" cy="777240"/>
          </a:xfrm>
          <a:prstGeom prst="roundRect">
            <a:avLst/>
          </a:prstGeom>
          <a:solidFill>
            <a:srgbClr val="131A2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38BDF8"/>
                </a:solidFill>
              </a:defRPr>
            </a:pPr>
            <a:r>
              <a:t>ENGINEERED FOR ACCURACY</a:t>
            </a:r>
          </a:p>
          <a:p>
            <a:pPr>
              <a:spcBef>
                <a:spcPts val="200"/>
              </a:spcBef>
              <a:defRPr sz="1050" b="1">
                <a:solidFill>
                  <a:srgbClr val="F8FAFC"/>
                </a:solidFill>
              </a:defRPr>
            </a:pPr>
            <a:r>
              <a:t>We don't guess: our calculations are calibrated directly against active solar canopies in Cupertino Union and Fremont Union High School District.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06 / 10</a:t>
            </a:r>
          </a:p>
        </p:txBody>
      </p:sp>
      <p:sp>
        <p:nvSpPr>
          <p:cNvPr id="7" name="Rectangle 6"/>
          <p:cNvSpPr/>
          <p:nvPr/>
        </p:nvSpPr>
        <p:spPr>
          <a:xfrm>
            <a:off x="0" y="493776"/>
            <a:ext cx="7315017"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CASE STUDY</a:t>
            </a:r>
          </a:p>
          <a:p>
            <a:pPr>
              <a:spcBef>
                <a:spcPts val="200"/>
              </a:spcBef>
              <a:defRPr sz="2200" b="1">
                <a:solidFill>
                  <a:srgbClr val="F8FAFC"/>
                </a:solidFill>
              </a:defRPr>
            </a:pPr>
            <a:r>
              <a:t>The Tale of Two Schools: Leaders vs. Lost Cash</a:t>
            </a:r>
          </a:p>
          <a:p>
            <a:pPr>
              <a:spcBef>
                <a:spcPts val="300"/>
              </a:spcBef>
              <a:defRPr sz="1100">
                <a:solidFill>
                  <a:srgbClr val="A0AEC0"/>
                </a:solidFill>
              </a:defRPr>
            </a:pPr>
            <a:r>
              <a:t>See what happens when a school takes action versus letting asphalt sit idle.</a:t>
            </a:r>
          </a:p>
        </p:txBody>
      </p:sp>
      <p:sp>
        <p:nvSpPr>
          <p:cNvPr id="9" name="Rounded Rectangle 8"/>
          <p:cNvSpPr/>
          <p:nvPr/>
        </p:nvSpPr>
        <p:spPr>
          <a:xfrm>
            <a:off x="548640" y="1737360"/>
            <a:ext cx="5394960" cy="45720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9496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4519"/>
            <a:ext cx="4937760" cy="4297680"/>
          </a:xfrm>
          <a:prstGeom prst="rect">
            <a:avLst/>
          </a:prstGeom>
          <a:noFill/>
        </p:spPr>
        <p:txBody>
          <a:bodyPr wrap="square">
            <a:spAutoFit/>
          </a:bodyPr>
          <a:lstStyle/>
          <a:p>
            <a:pPr>
              <a:defRPr sz="1100" b="1">
                <a:solidFill>
                  <a:srgbClr val="10B981"/>
                </a:solidFill>
              </a:defRPr>
            </a:pPr>
            <a:r>
              <a:t>MONTA VISTA HIGH (CUPERTINO)</a:t>
            </a:r>
          </a:p>
          <a:p>
            <a:pPr>
              <a:spcBef>
                <a:spcPts val="100"/>
              </a:spcBef>
              <a:defRPr sz="900" b="1">
                <a:solidFill>
                  <a:srgbClr val="718096"/>
                </a:solidFill>
              </a:defRPr>
            </a:pPr>
            <a:r>
              <a:t>ACTIVE SOLAR LEADER</a:t>
            </a:r>
          </a:p>
          <a:p>
            <a:pPr>
              <a:spcBef>
                <a:spcPts val="400"/>
              </a:spcBef>
              <a:defRPr sz="3600" b="1">
                <a:solidFill>
                  <a:srgbClr val="10B981"/>
                </a:solidFill>
              </a:defRPr>
            </a:pPr>
            <a:r>
              <a:t>$145,000 / yr</a:t>
            </a:r>
          </a:p>
          <a:p>
            <a:pPr>
              <a:spcBef>
                <a:spcPts val="500"/>
              </a:spcBef>
              <a:defRPr sz="1000" b="0">
                <a:solidFill>
                  <a:srgbClr val="A0AEC0"/>
                </a:solidFill>
              </a:defRPr>
            </a:pPr>
            <a:r>
              <a:t>- Completed 550 kW solar carports across student lot</a:t>
            </a:r>
          </a:p>
          <a:p>
            <a:pPr>
              <a:spcBef>
                <a:spcPts val="500"/>
              </a:spcBef>
              <a:defRPr sz="1000" b="0">
                <a:solidFill>
                  <a:srgbClr val="A0AEC0"/>
                </a:solidFill>
              </a:defRPr>
            </a:pPr>
            <a:r>
              <a:t>- Shades cars, provides EV chargers, and cuts campus heat</a:t>
            </a:r>
          </a:p>
          <a:p>
            <a:pPr>
              <a:spcBef>
                <a:spcPts val="500"/>
              </a:spcBef>
              <a:defRPr sz="1000" b="0">
                <a:solidFill>
                  <a:srgbClr val="A0AEC0"/>
                </a:solidFill>
              </a:defRPr>
            </a:pPr>
            <a:r>
              <a:t>- Our model predicted $145K savings; actual FUHSD bill records show $139K!</a:t>
            </a:r>
          </a:p>
          <a:p>
            <a:pPr>
              <a:spcBef>
                <a:spcPts val="500"/>
              </a:spcBef>
              <a:defRPr sz="1000" b="1">
                <a:solidFill>
                  <a:srgbClr val="F8FAFC"/>
                </a:solidFill>
              </a:defRPr>
            </a:pPr>
            <a:r>
              <a:t>- Empirical accuracy within 4.17% of actual utility bills</a:t>
            </a:r>
          </a:p>
        </p:txBody>
      </p:sp>
      <p:sp>
        <p:nvSpPr>
          <p:cNvPr id="12" name="Rounded Rectangle 11"/>
          <p:cNvSpPr/>
          <p:nvPr/>
        </p:nvSpPr>
        <p:spPr>
          <a:xfrm>
            <a:off x="6217920" y="1737360"/>
            <a:ext cx="5394960" cy="45720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737360"/>
            <a:ext cx="5394960" cy="54864"/>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19"/>
            <a:ext cx="4937760" cy="4297680"/>
          </a:xfrm>
          <a:prstGeom prst="rect">
            <a:avLst/>
          </a:prstGeom>
          <a:noFill/>
        </p:spPr>
        <p:txBody>
          <a:bodyPr wrap="square">
            <a:spAutoFit/>
          </a:bodyPr>
          <a:lstStyle/>
          <a:p>
            <a:pPr>
              <a:defRPr sz="1100" b="1">
                <a:solidFill>
                  <a:srgbClr val="EF4444"/>
                </a:solidFill>
              </a:defRPr>
            </a:pPr>
            <a:r>
              <a:t>PALO ALTO HIGH (PALO ALTO)</a:t>
            </a:r>
          </a:p>
          <a:p>
            <a:pPr>
              <a:spcBef>
                <a:spcPts val="100"/>
              </a:spcBef>
              <a:defRPr sz="900" b="1">
                <a:solidFill>
                  <a:srgbClr val="718096"/>
                </a:solidFill>
              </a:defRPr>
            </a:pPr>
            <a:r>
              <a:t>UNSHADED OPPORTUNITY</a:t>
            </a:r>
          </a:p>
          <a:p>
            <a:pPr>
              <a:spcBef>
                <a:spcPts val="400"/>
              </a:spcBef>
              <a:defRPr sz="3600" b="1">
                <a:solidFill>
                  <a:srgbClr val="EF4444"/>
                </a:solidFill>
              </a:defRPr>
            </a:pPr>
            <a:r>
              <a:t>-$140,000 / yr</a:t>
            </a:r>
          </a:p>
          <a:p>
            <a:pPr>
              <a:spcBef>
                <a:spcPts val="500"/>
              </a:spcBef>
              <a:defRPr sz="1000" b="0">
                <a:solidFill>
                  <a:srgbClr val="A0AEC0"/>
                </a:solidFill>
              </a:defRPr>
            </a:pPr>
            <a:r>
              <a:t>- 7,200 m² of empty asphalt sits 100% unshaded</a:t>
            </a:r>
          </a:p>
          <a:p>
            <a:pPr>
              <a:spcBef>
                <a:spcPts val="500"/>
              </a:spcBef>
              <a:defRPr sz="1000" b="0">
                <a:solidFill>
                  <a:srgbClr val="A0AEC0"/>
                </a:solidFill>
              </a:defRPr>
            </a:pPr>
            <a:r>
              <a:t>- District surrenders $140,000 every year to utility bills</a:t>
            </a:r>
          </a:p>
          <a:p>
            <a:pPr>
              <a:spcBef>
                <a:spcPts val="500"/>
              </a:spcBef>
              <a:defRPr sz="1000" b="0">
                <a:solidFill>
                  <a:srgbClr val="A0AEC0"/>
                </a:solidFill>
              </a:defRPr>
            </a:pPr>
            <a:r>
              <a:t>- Leaves an unclaimed $754,000 federal cash grant on the table</a:t>
            </a:r>
          </a:p>
          <a:p>
            <a:pPr>
              <a:spcBef>
                <a:spcPts val="500"/>
              </a:spcBef>
              <a:defRPr sz="1000" b="1">
                <a:solidFill>
                  <a:srgbClr val="F8FAFC"/>
                </a:solidFill>
              </a:defRPr>
            </a:pPr>
            <a:r>
              <a:t>- Cost of waiting 5 years: Over $700,000 lost from classrooms!</a:t>
            </a:r>
          </a:p>
          <a:p>
            <a:pPr>
              <a:spcBef>
                <a:spcPts val="1000"/>
              </a:spcBef>
              <a:defRPr sz="1050" b="1">
                <a:solidFill>
                  <a:srgbClr val="F59E0B"/>
                </a:solidFill>
              </a:defRPr>
            </a:pPr>
            <a:r>
              <a:t>That $140,000 lost each year is enough to pay for 2 full-time teachers!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07 / 10</a:t>
            </a:r>
          </a:p>
        </p:txBody>
      </p:sp>
      <p:sp>
        <p:nvSpPr>
          <p:cNvPr id="7" name="Rectangle 6"/>
          <p:cNvSpPr/>
          <p:nvPr/>
        </p:nvSpPr>
        <p:spPr>
          <a:xfrm>
            <a:off x="0" y="493776"/>
            <a:ext cx="8534186"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THE RETURN ON INVESTMENT</a:t>
            </a:r>
          </a:p>
          <a:p>
            <a:pPr>
              <a:spcBef>
                <a:spcPts val="200"/>
              </a:spcBef>
              <a:defRPr sz="2200" b="1">
                <a:solidFill>
                  <a:srgbClr val="F8FAFC"/>
                </a:solidFill>
              </a:defRPr>
            </a:pPr>
            <a:r>
              <a:t>Fast Payback, 25 Years of Free Electricity</a:t>
            </a:r>
          </a:p>
          <a:p>
            <a:pPr>
              <a:spcBef>
                <a:spcPts val="300"/>
              </a:spcBef>
              <a:defRPr sz="1100">
                <a:solidFill>
                  <a:srgbClr val="A0AEC0"/>
                </a:solidFill>
              </a:defRPr>
            </a:pPr>
            <a:r>
              <a:t>Solar canopies pay for themselves faster than almost any school facility project.</a:t>
            </a:r>
          </a:p>
        </p:txBody>
      </p:sp>
      <p:sp>
        <p:nvSpPr>
          <p:cNvPr id="9" name="Rounded Rectangle 8"/>
          <p:cNvSpPr/>
          <p:nvPr/>
        </p:nvSpPr>
        <p:spPr>
          <a:xfrm>
            <a:off x="548640" y="1737360"/>
            <a:ext cx="25603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25603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01952"/>
            <a:ext cx="2286000" cy="3328416"/>
          </a:xfrm>
          <a:prstGeom prst="rect">
            <a:avLst/>
          </a:prstGeom>
          <a:noFill/>
        </p:spPr>
        <p:txBody>
          <a:bodyPr wrap="square">
            <a:spAutoFit/>
          </a:bodyPr>
          <a:lstStyle/>
          <a:p>
            <a:pPr>
              <a:defRPr sz="3000" b="1">
                <a:solidFill>
                  <a:srgbClr val="10B981"/>
                </a:solidFill>
              </a:defRPr>
            </a:pPr>
            <a:r>
              <a:t>3.7 Years</a:t>
            </a:r>
          </a:p>
          <a:p>
            <a:pPr>
              <a:spcBef>
                <a:spcPts val="200"/>
              </a:spcBef>
              <a:defRPr sz="850" b="1">
                <a:solidFill>
                  <a:srgbClr val="F8FAFC"/>
                </a:solidFill>
              </a:defRPr>
            </a:pPr>
            <a:r>
              <a:t>RAPID PAYBACK</a:t>
            </a:r>
          </a:p>
          <a:p>
            <a:pPr>
              <a:spcBef>
                <a:spcPts val="600"/>
              </a:spcBef>
              <a:defRPr sz="950">
                <a:solidFill>
                  <a:srgbClr val="A0AEC0"/>
                </a:solidFill>
              </a:defRPr>
            </a:pPr>
            <a:r>
              <a:t>- Pays for itself in under 4 years</a:t>
            </a:r>
          </a:p>
          <a:p>
            <a:pPr>
              <a:spcBef>
                <a:spcPts val="600"/>
              </a:spcBef>
              <a:defRPr sz="950">
                <a:solidFill>
                  <a:srgbClr val="A0AEC0"/>
                </a:solidFill>
              </a:defRPr>
            </a:pPr>
            <a:r>
              <a:t>- Drops from 6+ years thanks to Direct Pay</a:t>
            </a:r>
          </a:p>
          <a:p>
            <a:pPr>
              <a:spcBef>
                <a:spcPts val="600"/>
              </a:spcBef>
              <a:defRPr sz="950">
                <a:solidFill>
                  <a:srgbClr val="A0AEC0"/>
                </a:solidFill>
              </a:defRPr>
            </a:pPr>
            <a:r>
              <a:t>- Faster than almost any school bond project</a:t>
            </a:r>
          </a:p>
        </p:txBody>
      </p:sp>
      <p:sp>
        <p:nvSpPr>
          <p:cNvPr id="12" name="Rounded Rectangle 11"/>
          <p:cNvSpPr/>
          <p:nvPr/>
        </p:nvSpPr>
        <p:spPr>
          <a:xfrm>
            <a:off x="3383280" y="1737360"/>
            <a:ext cx="25603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83280" y="1737360"/>
            <a:ext cx="25603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1901952"/>
            <a:ext cx="2286000" cy="3328416"/>
          </a:xfrm>
          <a:prstGeom prst="rect">
            <a:avLst/>
          </a:prstGeom>
          <a:noFill/>
        </p:spPr>
        <p:txBody>
          <a:bodyPr wrap="square">
            <a:spAutoFit/>
          </a:bodyPr>
          <a:lstStyle/>
          <a:p>
            <a:pPr>
              <a:defRPr sz="3000" b="1">
                <a:solidFill>
                  <a:srgbClr val="38BDF8"/>
                </a:solidFill>
              </a:defRPr>
            </a:pPr>
            <a:r>
              <a:t>$750K+</a:t>
            </a:r>
          </a:p>
          <a:p>
            <a:pPr>
              <a:spcBef>
                <a:spcPts val="200"/>
              </a:spcBef>
              <a:defRPr sz="850" b="1">
                <a:solidFill>
                  <a:srgbClr val="F8FAFC"/>
                </a:solidFill>
              </a:defRPr>
            </a:pPr>
            <a:r>
              <a:t>FEDERAL CASH CHECK</a:t>
            </a:r>
          </a:p>
          <a:p>
            <a:pPr>
              <a:spcBef>
                <a:spcPts val="600"/>
              </a:spcBef>
              <a:defRPr sz="950">
                <a:solidFill>
                  <a:srgbClr val="A0AEC0"/>
                </a:solidFill>
              </a:defRPr>
            </a:pPr>
            <a:r>
              <a:t>- Direct cash reimbursement from IRS</a:t>
            </a:r>
          </a:p>
          <a:p>
            <a:pPr>
              <a:spcBef>
                <a:spcPts val="600"/>
              </a:spcBef>
              <a:defRPr sz="950">
                <a:solidFill>
                  <a:srgbClr val="A0AEC0"/>
                </a:solidFill>
              </a:defRPr>
            </a:pPr>
            <a:r>
              <a:t>- Covers 30% to 50% of the total canopy cost</a:t>
            </a:r>
          </a:p>
          <a:p>
            <a:pPr>
              <a:spcBef>
                <a:spcPts val="600"/>
              </a:spcBef>
              <a:defRPr sz="950">
                <a:solidFill>
                  <a:srgbClr val="A0AEC0"/>
                </a:solidFill>
              </a:defRPr>
            </a:pPr>
            <a:r>
              <a:t>- Paid directly to the district treasury</a:t>
            </a:r>
          </a:p>
        </p:txBody>
      </p:sp>
      <p:sp>
        <p:nvSpPr>
          <p:cNvPr id="15" name="Rounded Rectangle 14"/>
          <p:cNvSpPr/>
          <p:nvPr/>
        </p:nvSpPr>
        <p:spPr>
          <a:xfrm>
            <a:off x="6217920" y="1737360"/>
            <a:ext cx="25603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1737360"/>
            <a:ext cx="25603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901952"/>
            <a:ext cx="2286000" cy="3328416"/>
          </a:xfrm>
          <a:prstGeom prst="rect">
            <a:avLst/>
          </a:prstGeom>
          <a:noFill/>
        </p:spPr>
        <p:txBody>
          <a:bodyPr wrap="square">
            <a:spAutoFit/>
          </a:bodyPr>
          <a:lstStyle/>
          <a:p>
            <a:pPr>
              <a:defRPr sz="3000" b="1">
                <a:solidFill>
                  <a:srgbClr val="10B981"/>
                </a:solidFill>
              </a:defRPr>
            </a:pPr>
            <a:r>
              <a:t>$140K/yr</a:t>
            </a:r>
          </a:p>
          <a:p>
            <a:pPr>
              <a:spcBef>
                <a:spcPts val="200"/>
              </a:spcBef>
              <a:defRPr sz="850" b="1">
                <a:solidFill>
                  <a:srgbClr val="F8FAFC"/>
                </a:solidFill>
              </a:defRPr>
            </a:pPr>
            <a:r>
              <a:t>ANNUAL BILL SAVINGS</a:t>
            </a:r>
          </a:p>
          <a:p>
            <a:pPr>
              <a:spcBef>
                <a:spcPts val="600"/>
              </a:spcBef>
              <a:defRPr sz="950">
                <a:solidFill>
                  <a:srgbClr val="A0AEC0"/>
                </a:solidFill>
              </a:defRPr>
            </a:pPr>
            <a:r>
              <a:t>- Clean solar power offsets expensive peak grid rates</a:t>
            </a:r>
          </a:p>
          <a:p>
            <a:pPr>
              <a:spcBef>
                <a:spcPts val="600"/>
              </a:spcBef>
              <a:defRPr sz="950">
                <a:solidFill>
                  <a:srgbClr val="A0AEC0"/>
                </a:solidFill>
              </a:defRPr>
            </a:pPr>
            <a:r>
              <a:t>- Protects district from rising utility prices</a:t>
            </a:r>
          </a:p>
          <a:p>
            <a:pPr>
              <a:spcBef>
                <a:spcPts val="600"/>
              </a:spcBef>
              <a:defRPr sz="950">
                <a:solidFill>
                  <a:srgbClr val="A0AEC0"/>
                </a:solidFill>
              </a:defRPr>
            </a:pPr>
            <a:r>
              <a:t>- Savings start the first month it's turned on</a:t>
            </a:r>
          </a:p>
        </p:txBody>
      </p:sp>
      <p:sp>
        <p:nvSpPr>
          <p:cNvPr id="18" name="Rounded Rectangle 17"/>
          <p:cNvSpPr/>
          <p:nvPr/>
        </p:nvSpPr>
        <p:spPr>
          <a:xfrm>
            <a:off x="9052560" y="1737360"/>
            <a:ext cx="25603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52560" y="1737360"/>
            <a:ext cx="2560320" cy="5486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901952"/>
            <a:ext cx="2286000" cy="3328416"/>
          </a:xfrm>
          <a:prstGeom prst="rect">
            <a:avLst/>
          </a:prstGeom>
          <a:noFill/>
        </p:spPr>
        <p:txBody>
          <a:bodyPr wrap="square">
            <a:spAutoFit/>
          </a:bodyPr>
          <a:lstStyle/>
          <a:p>
            <a:pPr>
              <a:defRPr sz="3000" b="1">
                <a:solidFill>
                  <a:srgbClr val="F59E0B"/>
                </a:solidFill>
              </a:defRPr>
            </a:pPr>
            <a:r>
              <a:t>$9.8M</a:t>
            </a:r>
          </a:p>
          <a:p>
            <a:pPr>
              <a:spcBef>
                <a:spcPts val="200"/>
              </a:spcBef>
              <a:defRPr sz="850" b="1">
                <a:solidFill>
                  <a:srgbClr val="F8FAFC"/>
                </a:solidFill>
              </a:defRPr>
            </a:pPr>
            <a:r>
              <a:t>25-YEAR DIVIDEND</a:t>
            </a:r>
          </a:p>
          <a:p>
            <a:pPr>
              <a:spcBef>
                <a:spcPts val="600"/>
              </a:spcBef>
              <a:defRPr sz="950">
                <a:solidFill>
                  <a:srgbClr val="A0AEC0"/>
                </a:solidFill>
              </a:defRPr>
            </a:pPr>
            <a:r>
              <a:t>- Total cumulative net savings over 25 years</a:t>
            </a:r>
          </a:p>
          <a:p>
            <a:pPr>
              <a:spcBef>
                <a:spcPts val="600"/>
              </a:spcBef>
              <a:defRPr sz="950">
                <a:solidFill>
                  <a:srgbClr val="A0AEC0"/>
                </a:solidFill>
              </a:defRPr>
            </a:pPr>
            <a:r>
              <a:t>- Accounts for panel aging and maintenance costs</a:t>
            </a:r>
          </a:p>
          <a:p>
            <a:pPr>
              <a:spcBef>
                <a:spcPts val="600"/>
              </a:spcBef>
              <a:defRPr sz="950">
                <a:solidFill>
                  <a:srgbClr val="A0AEC0"/>
                </a:solidFill>
              </a:defRPr>
            </a:pPr>
            <a:r>
              <a:t>- Permanent long-term funding for school programs</a:t>
            </a:r>
          </a:p>
        </p:txBody>
      </p:sp>
      <p:sp>
        <p:nvSpPr>
          <p:cNvPr id="21" name="Rounded Rectangle 20"/>
          <p:cNvSpPr/>
          <p:nvPr/>
        </p:nvSpPr>
        <p:spPr>
          <a:xfrm>
            <a:off x="548640" y="5577840"/>
            <a:ext cx="11094415" cy="777240"/>
          </a:xfrm>
          <a:prstGeom prst="roundRect">
            <a:avLst/>
          </a:prstGeom>
          <a:solidFill>
            <a:srgbClr val="131A2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23560"/>
            <a:ext cx="10698480" cy="685800"/>
          </a:xfrm>
          <a:prstGeom prst="rect">
            <a:avLst/>
          </a:prstGeom>
          <a:noFill/>
        </p:spPr>
        <p:txBody>
          <a:bodyPr wrap="square">
            <a:spAutoFit/>
          </a:bodyPr>
          <a:lstStyle/>
          <a:p>
            <a:pPr>
              <a:defRPr sz="900" b="1">
                <a:solidFill>
                  <a:srgbClr val="10B981"/>
                </a:solidFill>
              </a:defRPr>
            </a:pPr>
            <a:r>
              <a:t>WHAT DOES A $9.8M DIVIDEND MEAN FOR A SCHOOL?</a:t>
            </a:r>
          </a:p>
          <a:p>
            <a:pPr>
              <a:spcBef>
                <a:spcPts val="200"/>
              </a:spcBef>
              <a:defRPr sz="1050" b="1">
                <a:solidFill>
                  <a:srgbClr val="F8FAFC"/>
                </a:solidFill>
              </a:defRPr>
            </a:pPr>
            <a:r>
              <a:t>It means permanent funding for STEM labs, art and music teachers, student mental health counselors, and zero school bond tax hikes.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08 / 10</a:t>
            </a:r>
          </a:p>
        </p:txBody>
      </p:sp>
      <p:sp>
        <p:nvSpPr>
          <p:cNvPr id="7" name="Rectangle 6"/>
          <p:cNvSpPr/>
          <p:nvPr/>
        </p:nvSpPr>
        <p:spPr>
          <a:xfrm>
            <a:off x="0" y="493776"/>
            <a:ext cx="9753356"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CAMPUS IMPACT</a:t>
            </a:r>
          </a:p>
          <a:p>
            <a:pPr>
              <a:spcBef>
                <a:spcPts val="200"/>
              </a:spcBef>
              <a:defRPr sz="2200" b="1">
                <a:solidFill>
                  <a:srgbClr val="F8FAFC"/>
                </a:solidFill>
              </a:defRPr>
            </a:pPr>
            <a:r>
              <a:t>More Than Just Power: Real Upgrades for Students</a:t>
            </a:r>
          </a:p>
          <a:p>
            <a:pPr>
              <a:spcBef>
                <a:spcPts val="300"/>
              </a:spcBef>
              <a:defRPr sz="1100">
                <a:solidFill>
                  <a:srgbClr val="A0AEC0"/>
                </a:solidFill>
              </a:defRPr>
            </a:pPr>
            <a:r>
              <a:t>Solar canopies turn an ugly, boiling parking lot into high-tech school infrastructure.</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3200" b="1">
                <a:solidFill>
                  <a:srgbClr val="38BDF8"/>
                </a:solidFill>
              </a:defRPr>
            </a:pPr>
            <a:r>
              <a:t>40°F Cooler</a:t>
            </a:r>
          </a:p>
          <a:p>
            <a:pPr>
              <a:spcBef>
                <a:spcPts val="200"/>
              </a:spcBef>
              <a:defRPr sz="900" b="1">
                <a:solidFill>
                  <a:srgbClr val="F8FAFC"/>
                </a:solidFill>
              </a:defRPr>
            </a:pPr>
            <a:r>
              <a:t>SHADE &amp; HEAT RELIEF</a:t>
            </a:r>
          </a:p>
          <a:p>
            <a:pPr>
              <a:spcBef>
                <a:spcPts val="600"/>
              </a:spcBef>
              <a:defRPr sz="1000">
                <a:solidFill>
                  <a:srgbClr val="A0AEC0"/>
                </a:solidFill>
              </a:defRPr>
            </a:pPr>
            <a:r>
              <a:t>- Cuts vehicle interior temperatures by up to 40°F</a:t>
            </a:r>
          </a:p>
          <a:p>
            <a:pPr>
              <a:spcBef>
                <a:spcPts val="600"/>
              </a:spcBef>
              <a:defRPr sz="1000">
                <a:solidFill>
                  <a:srgbClr val="A0AEC0"/>
                </a:solidFill>
              </a:defRPr>
            </a:pPr>
            <a:r>
              <a:t>- Keeps cars cool for teachers and high school drivers</a:t>
            </a:r>
          </a:p>
          <a:p>
            <a:pPr>
              <a:spcBef>
                <a:spcPts val="600"/>
              </a:spcBef>
              <a:defRPr sz="1000">
                <a:solidFill>
                  <a:srgbClr val="A0AEC0"/>
                </a:solidFill>
              </a:defRPr>
            </a:pPr>
            <a:r>
              <a:t>- Shades elementary and middle school play blacktops</a:t>
            </a:r>
          </a:p>
          <a:p>
            <a:pPr>
              <a:spcBef>
                <a:spcPts val="600"/>
              </a:spcBef>
              <a:defRPr sz="1000">
                <a:solidFill>
                  <a:srgbClr val="A0AEC0"/>
                </a:solidFill>
              </a:defRPr>
            </a:pPr>
            <a:r>
              <a:t>- Combats urban heat waves during California autumns</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3200" b="1">
                <a:solidFill>
                  <a:srgbClr val="10B981"/>
                </a:solidFill>
              </a:defRPr>
            </a:pPr>
            <a:r>
              <a:t>Clean EVs</a:t>
            </a:r>
          </a:p>
          <a:p>
            <a:pPr>
              <a:spcBef>
                <a:spcPts val="200"/>
              </a:spcBef>
              <a:defRPr sz="900" b="1">
                <a:solidFill>
                  <a:srgbClr val="F8FAFC"/>
                </a:solidFill>
              </a:defRPr>
            </a:pPr>
            <a:r>
              <a:t>POWERING OUR TEACHERS</a:t>
            </a:r>
          </a:p>
          <a:p>
            <a:pPr>
              <a:spcBef>
                <a:spcPts val="600"/>
              </a:spcBef>
              <a:defRPr sz="1000">
                <a:solidFill>
                  <a:srgbClr val="A0AEC0"/>
                </a:solidFill>
              </a:defRPr>
            </a:pPr>
            <a:r>
              <a:t>- Built-in Level 2 EV charging stations under the canopies</a:t>
            </a:r>
          </a:p>
          <a:p>
            <a:pPr>
              <a:spcBef>
                <a:spcPts val="600"/>
              </a:spcBef>
              <a:defRPr sz="1000">
                <a:solidFill>
                  <a:srgbClr val="A0AEC0"/>
                </a:solidFill>
              </a:defRPr>
            </a:pPr>
            <a:r>
              <a:t>- Powers teachers' daily commute with 100% clean sunshine</a:t>
            </a:r>
          </a:p>
          <a:p>
            <a:pPr>
              <a:spcBef>
                <a:spcPts val="600"/>
              </a:spcBef>
              <a:defRPr sz="1000">
                <a:solidFill>
                  <a:srgbClr val="A0AEC0"/>
                </a:solidFill>
              </a:defRPr>
            </a:pPr>
            <a:r>
              <a:t>- Ready to charge future electric yellow school buses</a:t>
            </a:r>
          </a:p>
          <a:p>
            <a:pPr>
              <a:spcBef>
                <a:spcPts val="600"/>
              </a:spcBef>
              <a:defRPr sz="1000">
                <a:solidFill>
                  <a:srgbClr val="A0AEC0"/>
                </a:solidFill>
              </a:defRPr>
            </a:pPr>
            <a:r>
              <a:t>- Reduces local car exhaust around campus drop-off zones</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3200" b="1">
                <a:solidFill>
                  <a:srgbClr val="F59E0B"/>
                </a:solidFill>
              </a:defRPr>
            </a:pPr>
            <a:r>
              <a:t>Resilient</a:t>
            </a:r>
          </a:p>
          <a:p>
            <a:pPr>
              <a:spcBef>
                <a:spcPts val="200"/>
              </a:spcBef>
              <a:defRPr sz="900" b="1">
                <a:solidFill>
                  <a:srgbClr val="F8FAFC"/>
                </a:solidFill>
              </a:defRPr>
            </a:pPr>
            <a:r>
              <a:t>CAMPUS EMERGENCY POWER</a:t>
            </a:r>
          </a:p>
          <a:p>
            <a:pPr>
              <a:spcBef>
                <a:spcPts val="600"/>
              </a:spcBef>
              <a:defRPr sz="1000">
                <a:solidFill>
                  <a:srgbClr val="A0AEC0"/>
                </a:solidFill>
              </a:defRPr>
            </a:pPr>
            <a:r>
              <a:t>- Microgrid-ready for future battery storage</a:t>
            </a:r>
          </a:p>
          <a:p>
            <a:pPr>
              <a:spcBef>
                <a:spcPts val="600"/>
              </a:spcBef>
              <a:defRPr sz="1000">
                <a:solidFill>
                  <a:srgbClr val="A0AEC0"/>
                </a:solidFill>
              </a:defRPr>
            </a:pPr>
            <a:r>
              <a:t>- Can keep lights, Wi-Fi, and refrigeration on during outages</a:t>
            </a:r>
          </a:p>
          <a:p>
            <a:pPr>
              <a:spcBef>
                <a:spcPts val="600"/>
              </a:spcBef>
              <a:defRPr sz="1000">
                <a:solidFill>
                  <a:srgbClr val="A0AEC0"/>
                </a:solidFill>
              </a:defRPr>
            </a:pPr>
            <a:r>
              <a:t>- Turns public schools into neighborhood emergency hubs</a:t>
            </a:r>
          </a:p>
          <a:p>
            <a:pPr>
              <a:spcBef>
                <a:spcPts val="600"/>
              </a:spcBef>
              <a:defRPr sz="1000">
                <a:solidFill>
                  <a:srgbClr val="A0AEC0"/>
                </a:solidFill>
              </a:defRPr>
            </a:pPr>
            <a:r>
              <a:t>- Provides student science dashboards with live solar data</a:t>
            </a:r>
          </a:p>
        </p:txBody>
      </p:sp>
      <p:sp>
        <p:nvSpPr>
          <p:cNvPr id="18" name="Rounded Rectangle 17"/>
          <p:cNvSpPr/>
          <p:nvPr/>
        </p:nvSpPr>
        <p:spPr>
          <a:xfrm>
            <a:off x="548640" y="5577840"/>
            <a:ext cx="11094415" cy="777240"/>
          </a:xfrm>
          <a:prstGeom prst="roundRect">
            <a:avLst/>
          </a:prstGeom>
          <a:solidFill>
            <a:srgbClr val="131A2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38BDF8"/>
                </a:solidFill>
              </a:defRPr>
            </a:pPr>
            <a:r>
              <a:t>BUILT WITH STUDENT SAFETY IN MIND</a:t>
            </a:r>
          </a:p>
          <a:p>
            <a:pPr>
              <a:spcBef>
                <a:spcPts val="200"/>
              </a:spcBef>
              <a:defRPr sz="1050" b="1">
                <a:solidFill>
                  <a:srgbClr val="F8FAFC"/>
                </a:solidFill>
              </a:defRPr>
            </a:pPr>
            <a:r>
              <a:t>Commercial steel canopies provide covered walkways during winter rainstorms, night lighting for safer athletic events, and clean EV plugs.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09 / 10</a:t>
            </a:r>
          </a:p>
        </p:txBody>
      </p:sp>
      <p:sp>
        <p:nvSpPr>
          <p:cNvPr id="7" name="Rectangle 6"/>
          <p:cNvSpPr/>
          <p:nvPr/>
        </p:nvSpPr>
        <p:spPr>
          <a:xfrm>
            <a:off x="0" y="493776"/>
            <a:ext cx="10972525"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THE VISION</a:t>
            </a:r>
          </a:p>
          <a:p>
            <a:pPr>
              <a:spcBef>
                <a:spcPts val="200"/>
              </a:spcBef>
              <a:defRPr sz="2200" b="1">
                <a:solidFill>
                  <a:srgbClr val="F8FAFC"/>
                </a:solidFill>
              </a:defRPr>
            </a:pPr>
            <a:r>
              <a:t>Phase 1 is Live. Here's Where We Go Next.</a:t>
            </a:r>
          </a:p>
          <a:p>
            <a:pPr>
              <a:spcBef>
                <a:spcPts val="300"/>
              </a:spcBef>
              <a:defRPr sz="1100">
                <a:solidFill>
                  <a:srgbClr val="A0AEC0"/>
                </a:solidFill>
              </a:defRPr>
            </a:pPr>
            <a:r>
              <a:t>How one student project scales to 100,000 public schools across the United States.</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600" b="1">
                <a:solidFill>
                  <a:srgbClr val="38BDF8"/>
                </a:solidFill>
              </a:defRPr>
            </a:pPr>
            <a:r>
              <a:t>Phase 1</a:t>
            </a:r>
          </a:p>
          <a:p>
            <a:pPr>
              <a:spcBef>
                <a:spcPts val="200"/>
              </a:spcBef>
              <a:defRPr sz="900" b="1">
                <a:solidFill>
                  <a:srgbClr val="F8FAFC"/>
                </a:solidFill>
              </a:defRPr>
            </a:pPr>
            <a:r>
              <a:t>BAY AREA PILOT (LIVE)</a:t>
            </a:r>
          </a:p>
          <a:p>
            <a:pPr>
              <a:spcBef>
                <a:spcPts val="600"/>
              </a:spcBef>
              <a:defRPr sz="1000">
                <a:solidFill>
                  <a:srgbClr val="A0AEC0"/>
                </a:solidFill>
              </a:defRPr>
            </a:pPr>
            <a:r>
              <a:t>- 18 local campuses mapped &amp; verified today</a:t>
            </a:r>
          </a:p>
          <a:p>
            <a:pPr>
              <a:spcBef>
                <a:spcPts val="600"/>
              </a:spcBef>
              <a:defRPr sz="1000">
                <a:solidFill>
                  <a:srgbClr val="A0AEC0"/>
                </a:solidFill>
              </a:defRPr>
            </a:pPr>
            <a:r>
              <a:t>- Covers Cupertino, Palo Alto, San Jose &amp; Sunnyvale</a:t>
            </a:r>
          </a:p>
          <a:p>
            <a:pPr>
              <a:spcBef>
                <a:spcPts val="600"/>
              </a:spcBef>
              <a:defRPr sz="1000">
                <a:solidFill>
                  <a:srgbClr val="A0AEC0"/>
                </a:solidFill>
              </a:defRPr>
            </a:pPr>
            <a:r>
              <a:t>- High Schools, Middle Schools, and Elementary</a:t>
            </a:r>
          </a:p>
          <a:p>
            <a:pPr>
              <a:spcBef>
                <a:spcPts val="600"/>
              </a:spcBef>
              <a:defRPr sz="1000">
                <a:solidFill>
                  <a:srgbClr val="A0AEC0"/>
                </a:solidFill>
              </a:defRPr>
            </a:pPr>
            <a:r>
              <a:t>- 100% verified against real utility rates</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600" b="1">
                <a:solidFill>
                  <a:srgbClr val="10B981"/>
                </a:solidFill>
              </a:defRPr>
            </a:pPr>
            <a:r>
              <a:t>Phase 2</a:t>
            </a:r>
          </a:p>
          <a:p>
            <a:pPr>
              <a:spcBef>
                <a:spcPts val="200"/>
              </a:spcBef>
              <a:defRPr sz="900" b="1">
                <a:solidFill>
                  <a:srgbClr val="F8FAFC"/>
                </a:solidFill>
              </a:defRPr>
            </a:pPr>
            <a:r>
              <a:t>CALIFORNIA STATEWIDE</a:t>
            </a:r>
          </a:p>
          <a:p>
            <a:pPr>
              <a:spcBef>
                <a:spcPts val="600"/>
              </a:spcBef>
              <a:defRPr sz="1000">
                <a:solidFill>
                  <a:srgbClr val="A0AEC0"/>
                </a:solidFill>
              </a:defRPr>
            </a:pPr>
            <a:r>
              <a:t>- Expanding to 10,000 public schools across CA</a:t>
            </a:r>
          </a:p>
          <a:p>
            <a:pPr>
              <a:spcBef>
                <a:spcPts val="600"/>
              </a:spcBef>
              <a:defRPr sz="1000">
                <a:solidFill>
                  <a:srgbClr val="A0AEC0"/>
                </a:solidFill>
              </a:defRPr>
            </a:pPr>
            <a:r>
              <a:t>- Focusing on hot Central Valley school districts</a:t>
            </a:r>
          </a:p>
          <a:p>
            <a:pPr>
              <a:spcBef>
                <a:spcPts val="600"/>
              </a:spcBef>
              <a:defRPr sz="1000">
                <a:solidFill>
                  <a:srgbClr val="A0AEC0"/>
                </a:solidFill>
              </a:defRPr>
            </a:pPr>
            <a:r>
              <a:t>- Targeting Title I low-income schools for max federal cash</a:t>
            </a:r>
          </a:p>
          <a:p>
            <a:pPr>
              <a:spcBef>
                <a:spcPts val="600"/>
              </a:spcBef>
              <a:defRPr sz="1000">
                <a:solidFill>
                  <a:srgbClr val="A0AEC0"/>
                </a:solidFill>
              </a:defRPr>
            </a:pPr>
            <a:r>
              <a:t>- Supports California's clean energy school mandates</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600" b="1">
                <a:solidFill>
                  <a:srgbClr val="F59E0B"/>
                </a:solidFill>
              </a:defRPr>
            </a:pPr>
            <a:r>
              <a:t>Phase 3</a:t>
            </a:r>
          </a:p>
          <a:p>
            <a:pPr>
              <a:spcBef>
                <a:spcPts val="200"/>
              </a:spcBef>
              <a:defRPr sz="900" b="1">
                <a:solidFill>
                  <a:srgbClr val="F8FAFC"/>
                </a:solidFill>
              </a:defRPr>
            </a:pPr>
            <a:r>
              <a:t>NATIONWIDE EXPANSION</a:t>
            </a:r>
          </a:p>
          <a:p>
            <a:pPr>
              <a:spcBef>
                <a:spcPts val="600"/>
              </a:spcBef>
              <a:defRPr sz="1000">
                <a:solidFill>
                  <a:srgbClr val="A0AEC0"/>
                </a:solidFill>
              </a:defRPr>
            </a:pPr>
            <a:r>
              <a:t>- Scaling to 100,000 public campuses across 50 states</a:t>
            </a:r>
          </a:p>
          <a:p>
            <a:pPr>
              <a:spcBef>
                <a:spcPts val="600"/>
              </a:spcBef>
              <a:defRPr sz="1000">
                <a:solidFill>
                  <a:srgbClr val="A0AEC0"/>
                </a:solidFill>
              </a:defRPr>
            </a:pPr>
            <a:r>
              <a:t>- Targeting Midwest &amp; Sunbelt coal-heavy power grids</a:t>
            </a:r>
          </a:p>
          <a:p>
            <a:pPr>
              <a:spcBef>
                <a:spcPts val="600"/>
              </a:spcBef>
              <a:defRPr sz="1000">
                <a:solidFill>
                  <a:srgbClr val="A0AEC0"/>
                </a:solidFill>
              </a:defRPr>
            </a:pPr>
            <a:r>
              <a:t>- Replacing dirty coal power gives 2.5x more carbon cut per watt!</a:t>
            </a:r>
          </a:p>
          <a:p>
            <a:pPr>
              <a:spcBef>
                <a:spcPts val="600"/>
              </a:spcBef>
              <a:defRPr sz="1000">
                <a:solidFill>
                  <a:srgbClr val="A0AEC0"/>
                </a:solidFill>
              </a:defRPr>
            </a:pPr>
            <a:r>
              <a:t>- Empowers youth climate clubs in every state</a:t>
            </a:r>
          </a:p>
        </p:txBody>
      </p:sp>
      <p:sp>
        <p:nvSpPr>
          <p:cNvPr id="18" name="Rounded Rectangle 17"/>
          <p:cNvSpPr/>
          <p:nvPr/>
        </p:nvSpPr>
        <p:spPr>
          <a:xfrm>
            <a:off x="548640" y="5577840"/>
            <a:ext cx="11094415" cy="777240"/>
          </a:xfrm>
          <a:prstGeom prst="roundRect">
            <a:avLst/>
          </a:prstGeom>
          <a:solidFill>
            <a:srgbClr val="131A2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10B981"/>
                </a:solidFill>
              </a:defRPr>
            </a:pPr>
            <a:r>
              <a:t>THE NATIONAL IMPACT</a:t>
            </a:r>
          </a:p>
          <a:p>
            <a:pPr>
              <a:spcBef>
                <a:spcPts val="200"/>
              </a:spcBef>
              <a:defRPr sz="1050" b="1">
                <a:solidFill>
                  <a:srgbClr val="F8FAFC"/>
                </a:solidFill>
              </a:defRPr>
            </a:pPr>
            <a:r>
              <a:t>If just 10% of America's schools install solar parking canopies, we save school districts over $800M every single year and eliminate millions of tons of emissions.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97480" y="73152"/>
            <a:ext cx="5943600" cy="365760"/>
          </a:xfrm>
          <a:prstGeom prst="rect">
            <a:avLst/>
          </a:prstGeom>
          <a:noFill/>
        </p:spPr>
        <p:txBody>
          <a:bodyPr wrap="none">
            <a:spAutoFit/>
          </a:bodyPr>
          <a:lstStyle/>
          <a:p>
            <a:pPr>
              <a:defRPr sz="950">
                <a:solidFill>
                  <a:srgbClr val="A0AEC0"/>
                </a:solidFill>
              </a:defRPr>
            </a:pPr>
            <a:r>
              <a:t>SVYCA Youth For Earth Hackathon  |  Clean Energy &amp; School Climate Action</a:t>
            </a:r>
          </a:p>
        </p:txBody>
      </p:sp>
      <p:sp>
        <p:nvSpPr>
          <p:cNvPr id="6" name="TextBox 5"/>
          <p:cNvSpPr txBox="1"/>
          <p:nvPr/>
        </p:nvSpPr>
        <p:spPr>
          <a:xfrm>
            <a:off x="10241280" y="73152"/>
            <a:ext cx="1371600" cy="365760"/>
          </a:xfrm>
          <a:prstGeom prst="rect">
            <a:avLst/>
          </a:prstGeom>
          <a:noFill/>
        </p:spPr>
        <p:txBody>
          <a:bodyPr wrap="none">
            <a:spAutoFit/>
          </a:bodyPr>
          <a:lstStyle/>
          <a:p>
            <a:pPr algn="r">
              <a:defRPr sz="1000" b="1">
                <a:solidFill>
                  <a:srgbClr val="38BDF8"/>
                </a:solidFill>
              </a:defRPr>
            </a:pPr>
            <a:r>
              <a:t>10 / 10</a:t>
            </a:r>
          </a:p>
        </p:txBody>
      </p:sp>
      <p:sp>
        <p:nvSpPr>
          <p:cNvPr id="7" name="Rectangle 6"/>
          <p:cNvSpPr/>
          <p:nvPr/>
        </p:nvSpPr>
        <p:spPr>
          <a:xfrm>
            <a:off x="0" y="493776"/>
            <a:ext cx="12191695" cy="228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51560"/>
          </a:xfrm>
          <a:prstGeom prst="rect">
            <a:avLst/>
          </a:prstGeom>
          <a:noFill/>
        </p:spPr>
        <p:txBody>
          <a:bodyPr wrap="square" lIns="0" tIns="0" rIns="0" bIns="0">
            <a:spAutoFit/>
          </a:bodyPr>
          <a:lstStyle/>
          <a:p>
            <a:pPr>
              <a:defRPr sz="900" b="1">
                <a:solidFill>
                  <a:srgbClr val="38BDF8"/>
                </a:solidFill>
              </a:defRPr>
            </a:pPr>
            <a:r>
              <a:t>TAKE ACTION</a:t>
            </a:r>
          </a:p>
          <a:p>
            <a:pPr>
              <a:spcBef>
                <a:spcPts val="200"/>
              </a:spcBef>
              <a:defRPr sz="2200" b="1">
                <a:solidFill>
                  <a:srgbClr val="F8FAFC"/>
                </a:solidFill>
              </a:defRPr>
            </a:pPr>
            <a:r>
              <a:t>Putting the Power in Students' Hands</a:t>
            </a:r>
          </a:p>
          <a:p>
            <a:pPr>
              <a:spcBef>
                <a:spcPts val="300"/>
              </a:spcBef>
              <a:defRPr sz="1100">
                <a:solidFill>
                  <a:srgbClr val="A0AEC0"/>
                </a:solidFill>
              </a:defRPr>
            </a:pPr>
            <a:r>
              <a:t>How any high school student can walk into their school board meeting and kickstart clean energy.</a:t>
            </a:r>
          </a:p>
        </p:txBody>
      </p:sp>
      <p:sp>
        <p:nvSpPr>
          <p:cNvPr id="9" name="Rounded Rectangle 8"/>
          <p:cNvSpPr/>
          <p:nvPr/>
        </p:nvSpPr>
        <p:spPr>
          <a:xfrm>
            <a:off x="54864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54864"/>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01952"/>
            <a:ext cx="3108960" cy="3328416"/>
          </a:xfrm>
          <a:prstGeom prst="rect">
            <a:avLst/>
          </a:prstGeom>
          <a:noFill/>
        </p:spPr>
        <p:txBody>
          <a:bodyPr wrap="square">
            <a:spAutoFit/>
          </a:bodyPr>
          <a:lstStyle/>
          <a:p>
            <a:pPr>
              <a:defRPr sz="2600" b="1">
                <a:solidFill>
                  <a:srgbClr val="38BDF8"/>
                </a:solidFill>
              </a:defRPr>
            </a:pPr>
            <a:r>
              <a:t>Step 1</a:t>
            </a:r>
          </a:p>
          <a:p>
            <a:pPr>
              <a:spcBef>
                <a:spcPts val="200"/>
              </a:spcBef>
              <a:defRPr sz="900" b="1">
                <a:solidFill>
                  <a:srgbClr val="F8FAFC"/>
                </a:solidFill>
              </a:defRPr>
            </a:pPr>
            <a:r>
              <a:t>FIND YOUR SCHOOL</a:t>
            </a:r>
          </a:p>
          <a:p>
            <a:pPr>
              <a:spcBef>
                <a:spcPts val="600"/>
              </a:spcBef>
              <a:defRPr sz="1000">
                <a:solidFill>
                  <a:srgbClr val="A0AEC0"/>
                </a:solidFill>
              </a:defRPr>
            </a:pPr>
            <a:r>
              <a:t>- Open SolarSchools USA on any laptop or phone</a:t>
            </a:r>
          </a:p>
          <a:p>
            <a:pPr>
              <a:spcBef>
                <a:spcPts val="600"/>
              </a:spcBef>
              <a:defRPr sz="1000">
                <a:solidFill>
                  <a:srgbClr val="A0AEC0"/>
                </a:solidFill>
              </a:defRPr>
            </a:pPr>
            <a:r>
              <a:t>- Type your school's name to view your parking lot</a:t>
            </a:r>
          </a:p>
          <a:p>
            <a:pPr>
              <a:spcBef>
                <a:spcPts val="600"/>
              </a:spcBef>
              <a:defRPr sz="1000">
                <a:solidFill>
                  <a:srgbClr val="A0AEC0"/>
                </a:solidFill>
              </a:defRPr>
            </a:pPr>
            <a:r>
              <a:t>- See your school's exact energy and savings in 5 seconds</a:t>
            </a:r>
          </a:p>
        </p:txBody>
      </p:sp>
      <p:sp>
        <p:nvSpPr>
          <p:cNvPr id="12" name="Rounded Rectangle 11"/>
          <p:cNvSpPr/>
          <p:nvPr/>
        </p:nvSpPr>
        <p:spPr>
          <a:xfrm>
            <a:off x="434340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901952"/>
            <a:ext cx="3108960" cy="3328416"/>
          </a:xfrm>
          <a:prstGeom prst="rect">
            <a:avLst/>
          </a:prstGeom>
          <a:noFill/>
        </p:spPr>
        <p:txBody>
          <a:bodyPr wrap="square">
            <a:spAutoFit/>
          </a:bodyPr>
          <a:lstStyle/>
          <a:p>
            <a:pPr>
              <a:defRPr sz="2600" b="1">
                <a:solidFill>
                  <a:srgbClr val="10B981"/>
                </a:solidFill>
              </a:defRPr>
            </a:pPr>
            <a:r>
              <a:t>Step 2</a:t>
            </a:r>
          </a:p>
          <a:p>
            <a:pPr>
              <a:spcBef>
                <a:spcPts val="200"/>
              </a:spcBef>
              <a:defRPr sz="900" b="1">
                <a:solidFill>
                  <a:srgbClr val="F8FAFC"/>
                </a:solidFill>
              </a:defRPr>
            </a:pPr>
            <a:r>
              <a:t>PRINT THE BRIEF</a:t>
            </a:r>
          </a:p>
          <a:p>
            <a:pPr>
              <a:spcBef>
                <a:spcPts val="600"/>
              </a:spcBef>
              <a:defRPr sz="1000">
                <a:solidFill>
                  <a:srgbClr val="A0AEC0"/>
                </a:solidFill>
              </a:defRPr>
            </a:pPr>
            <a:r>
              <a:t>- Download our automated 1-page Action Brief</a:t>
            </a:r>
          </a:p>
          <a:p>
            <a:pPr>
              <a:spcBef>
                <a:spcPts val="600"/>
              </a:spcBef>
              <a:defRPr sz="1000">
                <a:solidFill>
                  <a:srgbClr val="A0AEC0"/>
                </a:solidFill>
              </a:defRPr>
            </a:pPr>
            <a:r>
              <a:t>- Shows the exact federal cash grant for your district</a:t>
            </a:r>
          </a:p>
          <a:p>
            <a:pPr>
              <a:spcBef>
                <a:spcPts val="600"/>
              </a:spcBef>
              <a:defRPr sz="1000">
                <a:solidFill>
                  <a:srgbClr val="A0AEC0"/>
                </a:solidFill>
              </a:defRPr>
            </a:pPr>
            <a:r>
              <a:t>- Share it with your principal, teachers, and student council</a:t>
            </a:r>
          </a:p>
        </p:txBody>
      </p:sp>
      <p:sp>
        <p:nvSpPr>
          <p:cNvPr id="15" name="Rounded Rectangle 14"/>
          <p:cNvSpPr/>
          <p:nvPr/>
        </p:nvSpPr>
        <p:spPr>
          <a:xfrm>
            <a:off x="8138160" y="1737360"/>
            <a:ext cx="3474720" cy="3657600"/>
          </a:xfrm>
          <a:prstGeom prst="roundRect">
            <a:avLst/>
          </a:prstGeom>
          <a:solidFill>
            <a:srgbClr val="131A2B"/>
          </a:solidFill>
          <a:ln w="12700">
            <a:solidFill>
              <a:srgbClr val="222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54864"/>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901952"/>
            <a:ext cx="3108960" cy="3328416"/>
          </a:xfrm>
          <a:prstGeom prst="rect">
            <a:avLst/>
          </a:prstGeom>
          <a:noFill/>
        </p:spPr>
        <p:txBody>
          <a:bodyPr wrap="square">
            <a:spAutoFit/>
          </a:bodyPr>
          <a:lstStyle/>
          <a:p>
            <a:pPr>
              <a:defRPr sz="2600" b="1">
                <a:solidFill>
                  <a:srgbClr val="8C1515"/>
                </a:solidFill>
              </a:defRPr>
            </a:pPr>
            <a:r>
              <a:t>Step 3</a:t>
            </a:r>
          </a:p>
          <a:p>
            <a:pPr>
              <a:spcBef>
                <a:spcPts val="200"/>
              </a:spcBef>
              <a:defRPr sz="900" b="1">
                <a:solidFill>
                  <a:srgbClr val="F8FAFC"/>
                </a:solidFill>
              </a:defRPr>
            </a:pPr>
            <a:r>
              <a:t>SPEAK TO TRUSTEES</a:t>
            </a:r>
          </a:p>
          <a:p>
            <a:pPr>
              <a:spcBef>
                <a:spcPts val="600"/>
              </a:spcBef>
              <a:defRPr sz="1000">
                <a:solidFill>
                  <a:srgbClr val="A0AEC0"/>
                </a:solidFill>
              </a:defRPr>
            </a:pPr>
            <a:r>
              <a:t>- Use our ready-to-vote School Board Resolution</a:t>
            </a:r>
          </a:p>
          <a:p>
            <a:pPr>
              <a:spcBef>
                <a:spcPts val="600"/>
              </a:spcBef>
              <a:defRPr sz="1000">
                <a:solidFill>
                  <a:srgbClr val="A0AEC0"/>
                </a:solidFill>
              </a:defRPr>
            </a:pPr>
            <a:r>
              <a:t>- Show trustees how to claim federal cash before it expires</a:t>
            </a:r>
          </a:p>
          <a:p>
            <a:pPr>
              <a:spcBef>
                <a:spcPts val="600"/>
              </a:spcBef>
              <a:defRPr sz="1000">
                <a:solidFill>
                  <a:srgbClr val="A0AEC0"/>
                </a:solidFill>
              </a:defRPr>
            </a:pPr>
            <a:r>
              <a:t>- Turn student climate advocacy into real, funded infrastructure</a:t>
            </a:r>
          </a:p>
        </p:txBody>
      </p:sp>
      <p:sp>
        <p:nvSpPr>
          <p:cNvPr id="18" name="Rounded Rectangle 17"/>
          <p:cNvSpPr/>
          <p:nvPr/>
        </p:nvSpPr>
        <p:spPr>
          <a:xfrm>
            <a:off x="548640" y="5577840"/>
            <a:ext cx="11094415" cy="777240"/>
          </a:xfrm>
          <a:prstGeom prst="roundRect">
            <a:avLst/>
          </a:prstGeom>
          <a:solidFill>
            <a:srgbClr val="131A2B"/>
          </a:solidFill>
          <a:ln w="12700">
            <a:solidFill>
              <a:srgbClr val="8C151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623560"/>
            <a:ext cx="10698480" cy="685800"/>
          </a:xfrm>
          <a:prstGeom prst="rect">
            <a:avLst/>
          </a:prstGeom>
          <a:noFill/>
        </p:spPr>
        <p:txBody>
          <a:bodyPr wrap="square">
            <a:spAutoFit/>
          </a:bodyPr>
          <a:lstStyle/>
          <a:p>
            <a:pPr>
              <a:defRPr sz="900" b="1">
                <a:solidFill>
                  <a:srgbClr val="38BDF8"/>
                </a:solidFill>
              </a:defRPr>
            </a:pPr>
            <a:r>
              <a:t>THE TIME TO ACT IS NOW</a:t>
            </a:r>
          </a:p>
          <a:p>
            <a:pPr>
              <a:spcBef>
                <a:spcPts val="200"/>
              </a:spcBef>
              <a:defRPr sz="1100" b="1">
                <a:solidFill>
                  <a:srgbClr val="F8FAFC"/>
                </a:solidFill>
              </a:defRPr>
            </a:pPr>
            <a:r>
              <a:t>Our schools have the sunshine. The federal government has the cash. Let's shade our parking lots and power our classrooms!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